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1"/>
  </p:sldMasterIdLst>
  <p:notesMasterIdLst>
    <p:notesMasterId r:id="rId48"/>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ning Fang" initials="LF" lastIdx="1" clrIdx="0">
    <p:extLst>
      <p:ext uri="{19B8F6BF-5375-455C-9EA6-DF929625EA0E}">
        <p15:presenceInfo xmlns:p15="http://schemas.microsoft.com/office/powerpoint/2012/main" userId="S::lfang9@wisc.edu::ad8730f6-191a-4e02-aade-5a65010d37a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90" autoAdjust="0"/>
    <p:restoredTop sz="95033" autoAdjust="0"/>
  </p:normalViewPr>
  <p:slideViewPr>
    <p:cSldViewPr snapToGrid="0" snapToObjects="1">
      <p:cViewPr varScale="1">
        <p:scale>
          <a:sx n="61" d="100"/>
          <a:sy n="61" d="100"/>
        </p:scale>
        <p:origin x="952" y="48"/>
      </p:cViewPr>
      <p:guideLst/>
    </p:cSldViewPr>
  </p:slideViewPr>
  <p:notesTextViewPr>
    <p:cViewPr>
      <p:scale>
        <a:sx n="1" d="1"/>
        <a:sy n="1" d="1"/>
      </p:scale>
      <p:origin x="0" y="0"/>
    </p:cViewPr>
  </p:notesTextViewPr>
  <p:notesViewPr>
    <p:cSldViewPr snapToGrid="0" snapToObjects="1">
      <p:cViewPr varScale="1">
        <p:scale>
          <a:sx n="80" d="100"/>
          <a:sy n="80" d="100"/>
        </p:scale>
        <p:origin x="4048" y="18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8" Type="http://schemas.openxmlformats.org/officeDocument/2006/relationships/notesMaster" Target="notesMasters/notesMaster1.xml"/><Relationship Id="rId49" Type="http://schemas.openxmlformats.org/officeDocument/2006/relationships/commentAuthors" Target="commentAuthors.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A783B2-C5E5-FB41-ACA0-2F4811562073}" type="datetimeFigureOut">
              <a:rPr lang="en-US" smtClean="0"/>
              <a:t>9/9/2025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AD381F-568E-9849-8D19-16CED507FC6B}" type="slidenum">
              <a:rPr lang="en-US" smtClean="0"/>
              <a:t>‹#›</a:t>
            </a:fld>
            <a:endParaRPr lang="en-US"/>
          </a:p>
        </p:txBody>
      </p:sp>
    </p:spTree>
    <p:extLst>
      <p:ext uri="{BB962C8B-B14F-4D97-AF65-F5344CB8AC3E}">
        <p14:creationId xmlns:p14="http://schemas.microsoft.com/office/powerpoint/2010/main" val="2554063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849365"/>
          </a:xfrm>
        </p:spPr>
        <p:txBody>
          <a:bodyPr anchor="b">
            <a:normAutofit/>
          </a:bodyPr>
          <a:lstStyle>
            <a:lvl1pPr algn="ctr">
              <a:lnSpc>
                <a:spcPct val="85000"/>
              </a:lnSpc>
              <a:defRPr sz="3200" b="1" cap="all" baseline="0">
                <a:solidFill>
                  <a:schemeClr val="tx1"/>
                </a:solidFill>
              </a:defRPr>
            </a:lvl1pPr>
          </a:lstStyle>
          <a:p>
            <a:r>
              <a:rPr lang="en-US" dirty="0"/>
              <a:t>Click to edit Master title style</a:t>
            </a:r>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lnSpc>
                <a:spcPts val="1920"/>
              </a:lnSpc>
              <a:spcBef>
                <a:spcPts val="0"/>
              </a:spcBef>
              <a:buNone/>
              <a:defRPr sz="16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lvl1pPr>
              <a:defRPr>
                <a:solidFill>
                  <a:schemeClr val="tx1"/>
                </a:solidFill>
              </a:defRPr>
            </a:lvl1pPr>
          </a:lstStyle>
          <a:p>
            <a:r>
              <a:rPr lang="en-US"/>
              <a:t>5/27/2021</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University of Wisconsin - Madison</a:t>
            </a:r>
            <a:endParaRPr lang="en-US"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4FAB73BC-B049-4115-A692-8D63A059BFB8}" type="slidenum">
              <a:rPr lang="en-US" dirty="0"/>
              <a:pPr/>
              <a:t>‹#›</a:t>
            </a:fld>
            <a:endParaRPr lang="en-US" dirty="0"/>
          </a:p>
        </p:txBody>
      </p:sp>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r="51601" b="23509"/>
          <a:stretch/>
        </p:blipFill>
        <p:spPr>
          <a:xfrm>
            <a:off x="10402572" y="373009"/>
            <a:ext cx="1425933" cy="314746"/>
          </a:xfrm>
          <a:prstGeom prst="rect">
            <a:avLst/>
          </a:prstGeom>
        </p:spPr>
      </p:pic>
      <p:pic>
        <p:nvPicPr>
          <p:cNvPr id="9" name="Picture 2">
            <a:extLst>
              <a:ext uri="{FF2B5EF4-FFF2-40B4-BE49-F238E27FC236}">
                <a16:creationId xmlns:a16="http://schemas.microsoft.com/office/drawing/2014/main" id="{EAB6B121-EA4A-6511-1136-8B5B796F5E2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73909" y="816924"/>
            <a:ext cx="887787" cy="461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101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2552" y="293245"/>
            <a:ext cx="9875520" cy="906162"/>
          </a:xfrm>
        </p:spPr>
        <p:txBody>
          <a:bodyPr/>
          <a:lstStyle/>
          <a:p>
            <a:r>
              <a:rPr lang="en-US"/>
              <a:t>Click to edit Master title style</a:t>
            </a:r>
            <a:endParaRPr lang="en-US" dirty="0"/>
          </a:p>
        </p:txBody>
      </p:sp>
      <p:sp>
        <p:nvSpPr>
          <p:cNvPr id="3" name="Content Placeholder 2"/>
          <p:cNvSpPr>
            <a:spLocks noGrp="1"/>
          </p:cNvSpPr>
          <p:nvPr>
            <p:ph idx="1"/>
          </p:nvPr>
        </p:nvSpPr>
        <p:spPr>
          <a:xfrm>
            <a:off x="642552" y="1313782"/>
            <a:ext cx="10939848" cy="52039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5/27/2021</a:t>
            </a:r>
            <a:endParaRPr lang="en-US" dirty="0"/>
          </a:p>
        </p:txBody>
      </p:sp>
      <p:sp>
        <p:nvSpPr>
          <p:cNvPr id="5" name="Footer Placeholder 4"/>
          <p:cNvSpPr>
            <a:spLocks noGrp="1"/>
          </p:cNvSpPr>
          <p:nvPr>
            <p:ph type="ftr" sz="quarter" idx="11"/>
          </p:nvPr>
        </p:nvSpPr>
        <p:spPr>
          <a:xfrm>
            <a:off x="310974" y="6645811"/>
            <a:ext cx="11644805" cy="188527"/>
          </a:xfrm>
        </p:spPr>
        <p:txBody>
          <a:bodyPr/>
          <a:lstStyle>
            <a:lvl1pPr>
              <a:defRPr/>
            </a:lvl1pPr>
          </a:lstStyle>
          <a:p>
            <a:r>
              <a:rPr lang="en-US" dirty="0"/>
              <a:t>University of Wisconsin - Madison</a:t>
            </a:r>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61599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5/27/2021</a:t>
            </a:r>
            <a:endParaRPr lang="en-US" dirty="0"/>
          </a:p>
        </p:txBody>
      </p:sp>
      <p:sp>
        <p:nvSpPr>
          <p:cNvPr id="4" name="Footer Placeholder 3"/>
          <p:cNvSpPr>
            <a:spLocks noGrp="1"/>
          </p:cNvSpPr>
          <p:nvPr>
            <p:ph type="ftr" sz="quarter" idx="11"/>
          </p:nvPr>
        </p:nvSpPr>
        <p:spPr/>
        <p:txBody>
          <a:bodyPr/>
          <a:lstStyle>
            <a:lvl1pPr>
              <a:defRPr/>
            </a:lvl1pPr>
          </a:lstStyle>
          <a:p>
            <a:r>
              <a:rPr lang="en-US"/>
              <a:t>University of Wisconsin - Madison</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
        <p:nvSpPr>
          <p:cNvPr id="6" name="Content Placeholder 2"/>
          <p:cNvSpPr>
            <a:spLocks noGrp="1"/>
          </p:cNvSpPr>
          <p:nvPr>
            <p:ph idx="1"/>
          </p:nvPr>
        </p:nvSpPr>
        <p:spPr>
          <a:xfrm>
            <a:off x="642552" y="1749718"/>
            <a:ext cx="10939848" cy="170575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642552" y="3689425"/>
            <a:ext cx="5498366" cy="23263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32325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5/27/2021</a:t>
            </a:r>
            <a:endParaRPr lang="en-US" dirty="0"/>
          </a:p>
        </p:txBody>
      </p:sp>
      <p:sp>
        <p:nvSpPr>
          <p:cNvPr id="4" name="Footer Placeholder 3"/>
          <p:cNvSpPr>
            <a:spLocks noGrp="1"/>
          </p:cNvSpPr>
          <p:nvPr>
            <p:ph type="ftr" sz="quarter" idx="11"/>
          </p:nvPr>
        </p:nvSpPr>
        <p:spPr/>
        <p:txBody>
          <a:bodyPr/>
          <a:lstStyle/>
          <a:p>
            <a:r>
              <a:rPr lang="en-US"/>
              <a:t>University of Wisconsin - Madison</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
        <p:nvSpPr>
          <p:cNvPr id="6" name="Content Placeholder 2"/>
          <p:cNvSpPr>
            <a:spLocks noGrp="1"/>
          </p:cNvSpPr>
          <p:nvPr>
            <p:ph idx="1"/>
          </p:nvPr>
        </p:nvSpPr>
        <p:spPr>
          <a:xfrm>
            <a:off x="670994" y="1759343"/>
            <a:ext cx="5469924" cy="170575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642552" y="3689425"/>
            <a:ext cx="5498366" cy="232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7196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r>
              <a:rPr lang="en-US"/>
              <a:t>5/27/2021</a:t>
            </a:r>
            <a:endParaRPr lang="en-US" dirty="0"/>
          </a:p>
        </p:txBody>
      </p:sp>
      <p:sp>
        <p:nvSpPr>
          <p:cNvPr id="4" name="Footer Placeholder 3"/>
          <p:cNvSpPr>
            <a:spLocks noGrp="1"/>
          </p:cNvSpPr>
          <p:nvPr>
            <p:ph type="ftr" sz="quarter" idx="11"/>
          </p:nvPr>
        </p:nvSpPr>
        <p:spPr/>
        <p:txBody>
          <a:bodyPr/>
          <a:lstStyle/>
          <a:p>
            <a:r>
              <a:rPr lang="en-US"/>
              <a:t>University of Wisconsin - Madison</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
        <p:nvSpPr>
          <p:cNvPr id="6" name="Content Placeholder 2"/>
          <p:cNvSpPr>
            <a:spLocks noGrp="1"/>
          </p:cNvSpPr>
          <p:nvPr>
            <p:ph idx="1"/>
          </p:nvPr>
        </p:nvSpPr>
        <p:spPr>
          <a:xfrm>
            <a:off x="642552" y="1749718"/>
            <a:ext cx="10939848" cy="1705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p:cNvSpPr>
            <a:spLocks noGrp="1"/>
          </p:cNvSpPr>
          <p:nvPr>
            <p:ph idx="13"/>
          </p:nvPr>
        </p:nvSpPr>
        <p:spPr>
          <a:xfrm>
            <a:off x="642552" y="4284120"/>
            <a:ext cx="10939848" cy="1705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6029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614615"/>
            <a:ext cx="9966960" cy="2147287"/>
          </a:xfrm>
        </p:spPr>
        <p:txBody>
          <a:bodyPr anchor="b">
            <a:noAutofit/>
          </a:bodyPr>
          <a:lstStyle>
            <a:lvl1pPr algn="l">
              <a:lnSpc>
                <a:spcPct val="85000"/>
              </a:lnSpc>
              <a:defRPr sz="4400" b="0" cap="none" baseline="0"/>
            </a:lvl1pPr>
          </a:lstStyle>
          <a:p>
            <a:r>
              <a:rPr lang="en-US" dirty="0"/>
              <a:t>Click to edit Master title style</a:t>
            </a:r>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l">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r>
              <a:rPr lang="en-US"/>
              <a:t>5/27/2021</a:t>
            </a:r>
            <a:endParaRPr lang="en-US" dirty="0"/>
          </a:p>
        </p:txBody>
      </p:sp>
      <p:sp>
        <p:nvSpPr>
          <p:cNvPr id="5" name="Footer Placeholder 4"/>
          <p:cNvSpPr>
            <a:spLocks noGrp="1"/>
          </p:cNvSpPr>
          <p:nvPr>
            <p:ph type="ftr" sz="quarter" idx="11"/>
          </p:nvPr>
        </p:nvSpPr>
        <p:spPr/>
        <p:txBody>
          <a:bodyPr/>
          <a:lstStyle/>
          <a:p>
            <a:r>
              <a:rPr lang="en-US"/>
              <a:t>University of Wisconsin - Madison</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cxnSp>
        <p:nvCxnSpPr>
          <p:cNvPr id="7" name="Straight Connector 6"/>
          <p:cNvCxnSpPr/>
          <p:nvPr/>
        </p:nvCxnSpPr>
        <p:spPr>
          <a:xfrm>
            <a:off x="1272744" y="3682656"/>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4567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42552" y="2057399"/>
            <a:ext cx="5255328"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34254" y="2057400"/>
            <a:ext cx="5107258"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5/27/2021</a:t>
            </a:r>
            <a:endParaRPr lang="en-US" dirty="0"/>
          </a:p>
        </p:txBody>
      </p:sp>
      <p:sp>
        <p:nvSpPr>
          <p:cNvPr id="6" name="Footer Placeholder 5"/>
          <p:cNvSpPr>
            <a:spLocks noGrp="1"/>
          </p:cNvSpPr>
          <p:nvPr>
            <p:ph type="ftr" sz="quarter" idx="11"/>
          </p:nvPr>
        </p:nvSpPr>
        <p:spPr/>
        <p:txBody>
          <a:bodyPr/>
          <a:lstStyle/>
          <a:p>
            <a:r>
              <a:rPr lang="en-US"/>
              <a:t>University of Wisconsin - Madison</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300679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32856" y="1847511"/>
            <a:ext cx="5029200" cy="777240"/>
          </a:xfrm>
        </p:spPr>
        <p:txBody>
          <a:bodyPr anchor="ctr"/>
          <a:lstStyle>
            <a:lvl1pPr marL="0" indent="0">
              <a:spcBef>
                <a:spcPts val="0"/>
              </a:spcBef>
              <a:buNone/>
              <a:defRPr sz="2400" b="1">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32856" y="2721483"/>
            <a:ext cx="502920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516303" y="1845032"/>
            <a:ext cx="5029200" cy="777240"/>
          </a:xfrm>
        </p:spPr>
        <p:txBody>
          <a:bodyPr anchor="ctr">
            <a:normAutofit/>
          </a:bodyPr>
          <a:lstStyle>
            <a:lvl1pPr marL="0" indent="0">
              <a:spcBef>
                <a:spcPts val="0"/>
              </a:spcBef>
              <a:buNone/>
              <a:defRPr lang="en-US" sz="2400" b="1" kern="1200" dirty="0" smtClean="0">
                <a:solidFill>
                  <a:srgbClr val="0070C0"/>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0"/>
              </a:spcBef>
              <a:buClr>
                <a:schemeClr val="tx1"/>
              </a:buClr>
              <a:buSzPct val="80000"/>
              <a:buFont typeface="Corbel" pitchFamily="34" charset="0"/>
              <a:buNone/>
            </a:pPr>
            <a:r>
              <a:rPr lang="en-US" dirty="0"/>
              <a:t>Click to edit Master text styles</a:t>
            </a:r>
          </a:p>
        </p:txBody>
      </p:sp>
      <p:sp>
        <p:nvSpPr>
          <p:cNvPr id="6" name="Content Placeholder 5"/>
          <p:cNvSpPr>
            <a:spLocks noGrp="1"/>
          </p:cNvSpPr>
          <p:nvPr>
            <p:ph sz="quarter" idx="4"/>
          </p:nvPr>
        </p:nvSpPr>
        <p:spPr>
          <a:xfrm>
            <a:off x="6516303" y="2719322"/>
            <a:ext cx="502920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5/27/2021</a:t>
            </a:r>
            <a:endParaRPr lang="en-US" dirty="0"/>
          </a:p>
        </p:txBody>
      </p:sp>
      <p:sp>
        <p:nvSpPr>
          <p:cNvPr id="8" name="Footer Placeholder 7"/>
          <p:cNvSpPr>
            <a:spLocks noGrp="1"/>
          </p:cNvSpPr>
          <p:nvPr>
            <p:ph type="ftr" sz="quarter" idx="11"/>
          </p:nvPr>
        </p:nvSpPr>
        <p:spPr/>
        <p:txBody>
          <a:bodyPr/>
          <a:lstStyle/>
          <a:p>
            <a:r>
              <a:rPr lang="en-US"/>
              <a:t>University of Wisconsin - Madison</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1610395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5/27/2021</a:t>
            </a:r>
            <a:endParaRPr lang="en-US" dirty="0"/>
          </a:p>
        </p:txBody>
      </p:sp>
      <p:sp>
        <p:nvSpPr>
          <p:cNvPr id="4" name="Footer Placeholder 3"/>
          <p:cNvSpPr>
            <a:spLocks noGrp="1"/>
          </p:cNvSpPr>
          <p:nvPr>
            <p:ph type="ftr" sz="quarter" idx="11"/>
          </p:nvPr>
        </p:nvSpPr>
        <p:spPr/>
        <p:txBody>
          <a:bodyPr/>
          <a:lstStyle/>
          <a:p>
            <a:r>
              <a:rPr lang="en-US"/>
              <a:t>University of Wisconsin - Madison</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01221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5/27/2021</a:t>
            </a:r>
            <a:endParaRPr lang="en-US" dirty="0"/>
          </a:p>
        </p:txBody>
      </p:sp>
      <p:sp>
        <p:nvSpPr>
          <p:cNvPr id="3" name="Footer Placeholder 2"/>
          <p:cNvSpPr>
            <a:spLocks noGrp="1"/>
          </p:cNvSpPr>
          <p:nvPr>
            <p:ph type="ftr" sz="quarter" idx="11"/>
          </p:nvPr>
        </p:nvSpPr>
        <p:spPr/>
        <p:txBody>
          <a:bodyPr/>
          <a:lstStyle/>
          <a:p>
            <a:r>
              <a:rPr lang="en-US"/>
              <a:t>University of Wisconsin - Madison</a:t>
            </a: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822659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5/27/2021</a:t>
            </a:r>
            <a:endParaRPr lang="en-US" dirty="0"/>
          </a:p>
        </p:txBody>
      </p:sp>
      <p:sp>
        <p:nvSpPr>
          <p:cNvPr id="6" name="Footer Placeholder 5"/>
          <p:cNvSpPr>
            <a:spLocks noGrp="1"/>
          </p:cNvSpPr>
          <p:nvPr>
            <p:ph type="ftr" sz="quarter" idx="11"/>
          </p:nvPr>
        </p:nvSpPr>
        <p:spPr/>
        <p:txBody>
          <a:bodyPr/>
          <a:lstStyle/>
          <a:p>
            <a:r>
              <a:rPr lang="en-US"/>
              <a:t>University of Wisconsin - Madison</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429875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5/27/2021</a:t>
            </a:r>
            <a:endParaRPr lang="en-US" dirty="0"/>
          </a:p>
        </p:txBody>
      </p:sp>
      <p:sp>
        <p:nvSpPr>
          <p:cNvPr id="6" name="Footer Placeholder 5"/>
          <p:cNvSpPr>
            <a:spLocks noGrp="1"/>
          </p:cNvSpPr>
          <p:nvPr>
            <p:ph type="ftr" sz="quarter" idx="11"/>
          </p:nvPr>
        </p:nvSpPr>
        <p:spPr/>
        <p:txBody>
          <a:bodyPr/>
          <a:lstStyle/>
          <a:p>
            <a:r>
              <a:rPr lang="en-US"/>
              <a:t>University of Wisconsin - Madison</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9393065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5/27/2021</a:t>
            </a:r>
            <a:endParaRPr lang="en-US" dirty="0"/>
          </a:p>
        </p:txBody>
      </p:sp>
      <p:sp>
        <p:nvSpPr>
          <p:cNvPr id="5" name="Footer Placeholder 4"/>
          <p:cNvSpPr>
            <a:spLocks noGrp="1"/>
          </p:cNvSpPr>
          <p:nvPr>
            <p:ph type="ftr" sz="quarter" idx="11"/>
          </p:nvPr>
        </p:nvSpPr>
        <p:spPr/>
        <p:txBody>
          <a:bodyPr/>
          <a:lstStyle/>
          <a:p>
            <a:r>
              <a:rPr lang="en-US"/>
              <a:t>University of Wisconsin - Madison</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0609464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5/27/2021</a:t>
            </a:r>
            <a:endParaRPr lang="en-US" dirty="0"/>
          </a:p>
        </p:txBody>
      </p:sp>
      <p:sp>
        <p:nvSpPr>
          <p:cNvPr id="5" name="Footer Placeholder 4"/>
          <p:cNvSpPr>
            <a:spLocks noGrp="1"/>
          </p:cNvSpPr>
          <p:nvPr>
            <p:ph type="ftr" sz="quarter" idx="11"/>
          </p:nvPr>
        </p:nvSpPr>
        <p:spPr/>
        <p:txBody>
          <a:bodyPr/>
          <a:lstStyle/>
          <a:p>
            <a:r>
              <a:rPr lang="en-US"/>
              <a:t>University of Wisconsin - Madison</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137357060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png"/><Relationship Id="rId1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31140" y="243840"/>
            <a:ext cx="9875520" cy="90616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42552" y="1749717"/>
            <a:ext cx="10939848" cy="43462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10975" y="6645811"/>
            <a:ext cx="2329074" cy="209923"/>
          </a:xfrm>
          <a:prstGeom prst="rect">
            <a:avLst/>
          </a:prstGeom>
        </p:spPr>
        <p:txBody>
          <a:bodyPr vert="horz" lIns="91440" tIns="45720" rIns="91440" bIns="45720" rtlCol="0" anchor="ctr"/>
          <a:lstStyle>
            <a:lvl1pPr algn="l">
              <a:defRPr sz="1200">
                <a:solidFill>
                  <a:schemeClr val="tx1"/>
                </a:solidFill>
              </a:defRPr>
            </a:lvl1pPr>
          </a:lstStyle>
          <a:p>
            <a:r>
              <a:rPr lang="en-US"/>
              <a:t>5/27/2021</a:t>
            </a:r>
            <a:endParaRPr lang="en-US" dirty="0"/>
          </a:p>
        </p:txBody>
      </p:sp>
      <p:sp>
        <p:nvSpPr>
          <p:cNvPr id="5" name="Footer Placeholder 4"/>
          <p:cNvSpPr>
            <a:spLocks noGrp="1"/>
          </p:cNvSpPr>
          <p:nvPr>
            <p:ph type="ftr" sz="quarter" idx="3"/>
          </p:nvPr>
        </p:nvSpPr>
        <p:spPr>
          <a:xfrm>
            <a:off x="5247503" y="6645811"/>
            <a:ext cx="2142554" cy="220141"/>
          </a:xfrm>
          <a:prstGeom prst="rect">
            <a:avLst/>
          </a:prstGeom>
        </p:spPr>
        <p:txBody>
          <a:bodyPr vert="horz" lIns="91440" tIns="45720" rIns="91440" bIns="45720" rtlCol="0" anchor="ctr"/>
          <a:lstStyle>
            <a:lvl1pPr algn="ctr">
              <a:defRPr sz="1200">
                <a:solidFill>
                  <a:schemeClr val="tx1"/>
                </a:solidFill>
              </a:defRPr>
            </a:lvl1pPr>
          </a:lstStyle>
          <a:p>
            <a:r>
              <a:rPr lang="en-US"/>
              <a:t>University of Wisconsin - Madison</a:t>
            </a:r>
            <a:endParaRPr lang="en-US" dirty="0"/>
          </a:p>
        </p:txBody>
      </p:sp>
      <p:sp>
        <p:nvSpPr>
          <p:cNvPr id="6" name="Slide Number Placeholder 5"/>
          <p:cNvSpPr>
            <a:spLocks noGrp="1"/>
          </p:cNvSpPr>
          <p:nvPr>
            <p:ph type="sldNum" sz="quarter" idx="4"/>
          </p:nvPr>
        </p:nvSpPr>
        <p:spPr>
          <a:xfrm>
            <a:off x="10249563" y="6646310"/>
            <a:ext cx="1706217" cy="188028"/>
          </a:xfrm>
          <a:prstGeom prst="rect">
            <a:avLst/>
          </a:prstGeom>
        </p:spPr>
        <p:txBody>
          <a:bodyPr vert="horz" lIns="91440" tIns="45720" rIns="91440" bIns="45720" rtlCol="0" anchor="ctr"/>
          <a:lstStyle>
            <a:lvl1pPr algn="r">
              <a:defRPr sz="1200">
                <a:solidFill>
                  <a:schemeClr val="tx1"/>
                </a:solidFill>
              </a:defRPr>
            </a:lvl1pPr>
          </a:lstStyle>
          <a:p>
            <a:fld id="{4FAB73BC-B049-4115-A692-8D63A059BFB8}" type="slidenum">
              <a:rPr lang="en-US" dirty="0"/>
              <a:pPr/>
              <a:t>‹#›</a:t>
            </a:fld>
            <a:endParaRPr lang="en-US" dirty="0"/>
          </a:p>
        </p:txBody>
      </p:sp>
      <p:pic>
        <p:nvPicPr>
          <p:cNvPr id="9" name="Picture 8"/>
          <p:cNvPicPr>
            <a:picLocks noChangeAspect="1"/>
          </p:cNvPicPr>
          <p:nvPr userDrawn="1"/>
        </p:nvPicPr>
        <p:blipFill rotWithShape="1">
          <a:blip r:embed="rId16">
            <a:extLst>
              <a:ext uri="{28A0092B-C50C-407E-A947-70E740481C1C}">
                <a14:useLocalDpi xmlns:a14="http://schemas.microsoft.com/office/drawing/2010/main" val="0"/>
              </a:ext>
            </a:extLst>
          </a:blip>
          <a:srcRect r="51601" b="23509"/>
          <a:stretch/>
        </p:blipFill>
        <p:spPr>
          <a:xfrm>
            <a:off x="10402572" y="373009"/>
            <a:ext cx="1425933" cy="314746"/>
          </a:xfrm>
          <a:prstGeom prst="rect">
            <a:avLst/>
          </a:prstGeom>
        </p:spPr>
      </p:pic>
      <p:pic>
        <p:nvPicPr>
          <p:cNvPr id="1026" name="Picture 2">
            <a:extLst>
              <a:ext uri="{FF2B5EF4-FFF2-40B4-BE49-F238E27FC236}">
                <a16:creationId xmlns:a16="http://schemas.microsoft.com/office/drawing/2014/main" id="{5A46C1E0-93BA-7130-A5BE-F281C46CA844}"/>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10873909" y="816924"/>
            <a:ext cx="887787" cy="461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381120"/>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hf hdr="0" dt="0"/>
  <p:txStyles>
    <p:titleStyle>
      <a:lvl1pPr algn="l" defTabSz="914400" rtl="0" eaLnBrk="1" latinLnBrk="0" hangingPunct="1">
        <a:lnSpc>
          <a:spcPct val="90000"/>
        </a:lnSpc>
        <a:spcBef>
          <a:spcPct val="0"/>
        </a:spcBef>
        <a:buNone/>
        <a:defRPr sz="3200" kern="1200" baseline="0">
          <a:solidFill>
            <a:srgbClr val="003399"/>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tx1"/>
        </a:buClr>
        <a:buSzPct val="80000"/>
        <a:buFont typeface="Corbel" pitchFamily="34" charset="0"/>
        <a:buChar char="•"/>
        <a:defRPr sz="2200" kern="1200">
          <a:solidFill>
            <a:schemeClr val="tx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2000" kern="1200">
          <a:solidFill>
            <a:schemeClr val="tx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800" kern="1200">
          <a:solidFill>
            <a:schemeClr val="tx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Chrono support for human-in-the-loop simulation</a:t>
            </a:r>
          </a:p>
        </p:txBody>
      </p:sp>
      <p:sp>
        <p:nvSpPr>
          <p:cNvPr id="3" name="Subtitle 2"/>
          <p:cNvSpPr>
            <a:spLocks noGrp="1"/>
          </p:cNvSpPr>
          <p:nvPr>
            <p:ph type="subTitle" idx="1"/>
          </p:nvPr>
        </p:nvSpPr>
        <p:spPr/>
        <p:txBody>
          <a:bodyPr/>
          <a:lstStyle/>
          <a:p>
            <a:r>
              <a:t>Kyle Sha</a:t>
            </a:r>
          </a:p>
          <a:p>
            <a:r>
              <a:t>Simulation-Based Engineering Lab</a:t>
            </a:r>
          </a:p>
        </p:txBody>
      </p:sp>
      <p:sp>
        <p:nvSpPr>
          <p:cNvPr id="4"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5" name="PageNo"/>
          <p:cNvSpPr txBox="1"/>
          <p:nvPr/>
        </p:nvSpPr>
        <p:spPr>
          <a:xfrm>
            <a:off x="10250424" y="6647688"/>
            <a:ext cx="1709928" cy="192024"/>
          </a:xfrm>
          <a:prstGeom prst="rect">
            <a:avLst/>
          </a:prstGeom>
          <a:noFill/>
        </p:spPr>
        <p:txBody>
          <a:bodyPr wrap="none">
            <a:spAutoFit/>
          </a:bodyPr>
          <a:lstStyle/>
          <a:p>
            <a:pPr algn="r"/>
            <a:r>
              <a:rPr sz="1000"/>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What this talk covers</a:t>
            </a:r>
          </a:p>
        </p:txBody>
      </p:sp>
      <p:sp>
        <p:nvSpPr>
          <p:cNvPr id="3" name="Content Placeholder 2"/>
          <p:cNvSpPr>
            <a:spLocks noGrp="1"/>
          </p:cNvSpPr>
          <p:nvPr>
            <p:ph idx="1"/>
          </p:nvPr>
        </p:nvSpPr>
        <p:spPr>
          <a:xfrm>
            <a:off x="642552" y="1313782"/>
            <a:ext cx="10936224" cy="5203976"/>
          </a:xfrm>
        </p:spPr>
        <p:txBody>
          <a:bodyPr wrap="square"/>
          <a:lstStyle/>
          <a:p>
            <a:pPr>
              <a:spcAft>
                <a:spcPts val="900"/>
              </a:spcAft>
            </a:pPr>
            <a:r>
              <a:rPr sz="2000"/>
              <a:t>1.  </a:t>
            </a:r>
            <a:r>
              <a:rPr sz="1800">
                <a:latin typeface="Consolas"/>
              </a:rPr>
              <a:t>What counts as human-in-the-loop</a:t>
            </a:r>
            <a:r>
              <a:rPr sz="2000"/>
              <a:t>, and what it demands of a simulator. A definition we will hold every demo against.</a:t>
            </a:r>
          </a:p>
          <a:p>
            <a:pPr>
              <a:spcAft>
                <a:spcPts val="900"/>
              </a:spcAft>
            </a:pPr>
            <a:r>
              <a:rPr sz="2000"/>
              <a:t>2.  </a:t>
            </a:r>
            <a:r>
              <a:rPr sz="1800">
                <a:latin typeface="Consolas"/>
              </a:rPr>
              <a:t>The clock.</a:t>
            </a:r>
            <a:r>
              <a:rPr sz="2000"/>
              <a:t> Why pacing comes first, and the levers Chrono gives you for buying enough slack to pace at all.</a:t>
            </a:r>
          </a:p>
          <a:p>
            <a:pPr>
              <a:spcAft>
                <a:spcPts val="900"/>
              </a:spcAft>
            </a:pPr>
            <a:r>
              <a:rPr sz="2000"/>
              <a:t>3.  </a:t>
            </a:r>
            <a:r>
              <a:rPr sz="1800">
                <a:latin typeface="Consolas"/>
              </a:rPr>
              <a:t>Getting a person's input into the state.</a:t>
            </a:r>
            <a:r>
              <a:rPr sz="2000"/>
              <a:t> The driver surface, the input devices Chrono already speaks, and what to do about the ones it does not.</a:t>
            </a:r>
          </a:p>
          <a:p>
            <a:pPr>
              <a:spcAft>
                <a:spcPts val="900"/>
              </a:spcAft>
            </a:pPr>
            <a:r>
              <a:rPr sz="2000"/>
              <a:t>4.  </a:t>
            </a:r>
            <a:r>
              <a:rPr sz="1800">
                <a:latin typeface="Consolas"/>
              </a:rPr>
              <a:t>Reaching into the scene.</a:t>
            </a:r>
            <a:r>
              <a:rPr sz="2000"/>
              <a:t> Picking a body, pulling on it, and a one-line gap in PyChrono that this talk closes.</a:t>
            </a:r>
          </a:p>
          <a:p>
            <a:pPr>
              <a:spcAft>
                <a:spcPts val="900"/>
              </a:spcAft>
            </a:pPr>
            <a:r>
              <a:rPr sz="2000"/>
              <a:t>Four demos along the way, and the code is all in one repository you can clone.</a:t>
            </a:r>
          </a:p>
          <a:p>
            <a:pPr>
              <a:spcAft>
                <a:spcPts val="900"/>
              </a:spcAft>
            </a:pPr>
            <a:r>
              <a:rPr sz="2000"/>
              <a:t>The order is deliberate. The clock comes before the input, because input into a simulation that cannot hold real time is not human-in-the-loop, whatever else it is.</a:t>
            </a:r>
          </a:p>
        </p:txBody>
      </p:sp>
      <p:sp>
        <p:nvSpPr>
          <p:cNvPr id="4"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5" name="PageNo"/>
          <p:cNvSpPr txBox="1"/>
          <p:nvPr/>
        </p:nvSpPr>
        <p:spPr>
          <a:xfrm>
            <a:off x="10250424" y="6647688"/>
            <a:ext cx="1709928" cy="192024"/>
          </a:xfrm>
          <a:prstGeom prst="rect">
            <a:avLst/>
          </a:prstGeom>
          <a:noFill/>
        </p:spPr>
        <p:txBody>
          <a:bodyPr wrap="none">
            <a:spAutoFit/>
          </a:bodyPr>
          <a:lstStyle/>
          <a:p>
            <a:pPr algn="r"/>
            <a:r>
              <a:rPr sz="1000"/>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The four demos</a:t>
            </a:r>
          </a:p>
        </p:txBody>
      </p:sp>
      <p:sp>
        <p:nvSpPr>
          <p:cNvPr id="3" name="Content Placeholder 2"/>
          <p:cNvSpPr>
            <a:spLocks noGrp="1"/>
          </p:cNvSpPr>
          <p:nvPr>
            <p:ph idx="1"/>
          </p:nvPr>
        </p:nvSpPr>
        <p:spPr>
          <a:xfrm>
            <a:off x="642552" y="1313782"/>
            <a:ext cx="10936224" cy="5203976"/>
          </a:xfrm>
        </p:spPr>
        <p:txBody>
          <a:bodyPr wrap="square"/>
          <a:lstStyle/>
          <a:p>
            <a:pPr>
              <a:spcAft>
                <a:spcPts val="900"/>
              </a:spcAft>
            </a:pPr>
            <a:r>
              <a:rPr sz="2000"/>
              <a:t>1.  </a:t>
            </a:r>
            <a:r>
              <a:rPr sz="1800">
                <a:latin typeface="Consolas"/>
              </a:rPr>
              <a:t>Does the clock matter.</a:t>
            </a:r>
            <a:r>
              <a:rPr sz="2000"/>
              <a:t> The same drive twice, paced and unpaced.</a:t>
            </a:r>
          </a:p>
          <a:p>
            <a:pPr>
              <a:spcAft>
                <a:spcPts val="900"/>
              </a:spcAft>
            </a:pPr>
            <a:r>
              <a:rPr sz="2000"/>
              <a:t>2.  </a:t>
            </a:r>
            <a:r>
              <a:rPr sz="1800">
                <a:latin typeface="Consolas"/>
              </a:rPr>
              <a:t>A person driving.</a:t>
            </a:r>
            <a:r>
              <a:rPr sz="2000"/>
              <a:t> Keyboard into a vehicle, the textbook case.</a:t>
            </a:r>
          </a:p>
          <a:p>
            <a:pPr>
              <a:spcAft>
                <a:spcPts val="900"/>
              </a:spcAft>
            </a:pPr>
            <a:r>
              <a:rPr sz="2000"/>
              <a:t>3.  </a:t>
            </a:r>
            <a:r>
              <a:rPr sz="1800">
                <a:latin typeface="Consolas"/>
              </a:rPr>
              <a:t>Reaching in.</a:t>
            </a:r>
            <a:r>
              <a:rPr sz="2000"/>
              <a:t> Drag a quadruped's leg while a trained locomotion policy fights you, and a Franka arm with the motors on or off.</a:t>
            </a:r>
          </a:p>
          <a:p>
            <a:pPr>
              <a:spcAft>
                <a:spcPts val="900"/>
              </a:spcAft>
            </a:pPr>
            <a:r>
              <a:rPr sz="2000"/>
              <a:t>4.  </a:t>
            </a:r>
            <a:r>
              <a:rPr sz="1800">
                <a:latin typeface="Consolas"/>
              </a:rPr>
              <a:t>How hard can you shove it.</a:t>
            </a:r>
            <a:r>
              <a:rPr sz="2000"/>
              <a:t> A measured impulse at a point you choose, and the magnitude where recovery stops.</a:t>
            </a:r>
          </a:p>
        </p:txBody>
      </p:sp>
      <p:pic>
        <p:nvPicPr>
          <p:cNvPr id="4" name="Picture 3" descr="hmmwv.png"/>
          <p:cNvPicPr>
            <a:picLocks noChangeAspect="1"/>
          </p:cNvPicPr>
          <p:nvPr/>
        </p:nvPicPr>
        <p:blipFill>
          <a:blip r:embed="rId2"/>
          <a:stretch>
            <a:fillRect/>
          </a:stretch>
        </p:blipFill>
        <p:spPr>
          <a:xfrm>
            <a:off x="425195" y="3953256"/>
            <a:ext cx="2799306" cy="2140399"/>
          </a:xfrm>
          <a:prstGeom prst="rect">
            <a:avLst/>
          </a:prstGeom>
        </p:spPr>
      </p:pic>
      <p:pic>
        <p:nvPicPr>
          <p:cNvPr id="5" name="Picture 4" descr="demo_go2.png"/>
          <p:cNvPicPr>
            <a:picLocks noChangeAspect="1"/>
          </p:cNvPicPr>
          <p:nvPr/>
        </p:nvPicPr>
        <p:blipFill>
          <a:blip r:embed="rId3"/>
          <a:stretch>
            <a:fillRect/>
          </a:stretch>
        </p:blipFill>
        <p:spPr>
          <a:xfrm>
            <a:off x="3498822" y="3953256"/>
            <a:ext cx="2764682" cy="2140399"/>
          </a:xfrm>
          <a:prstGeom prst="rect">
            <a:avLst/>
          </a:prstGeom>
        </p:spPr>
      </p:pic>
      <p:pic>
        <p:nvPicPr>
          <p:cNvPr id="6" name="Picture 5" descr="demo_arm.png"/>
          <p:cNvPicPr>
            <a:picLocks noChangeAspect="1"/>
          </p:cNvPicPr>
          <p:nvPr/>
        </p:nvPicPr>
        <p:blipFill>
          <a:blip r:embed="rId4"/>
          <a:stretch>
            <a:fillRect/>
          </a:stretch>
        </p:blipFill>
        <p:spPr>
          <a:xfrm>
            <a:off x="6537824" y="3953256"/>
            <a:ext cx="2186929" cy="2140399"/>
          </a:xfrm>
          <a:prstGeom prst="rect">
            <a:avLst/>
          </a:prstGeom>
        </p:spPr>
      </p:pic>
      <p:pic>
        <p:nvPicPr>
          <p:cNvPr id="7" name="Picture 6" descr="demo_push.png"/>
          <p:cNvPicPr>
            <a:picLocks noChangeAspect="1"/>
          </p:cNvPicPr>
          <p:nvPr/>
        </p:nvPicPr>
        <p:blipFill>
          <a:blip r:embed="rId5"/>
          <a:stretch>
            <a:fillRect/>
          </a:stretch>
        </p:blipFill>
        <p:spPr>
          <a:xfrm>
            <a:off x="8999073" y="3953256"/>
            <a:ext cx="2764682" cy="2140399"/>
          </a:xfrm>
          <a:prstGeom prst="rect">
            <a:avLst/>
          </a:prstGeom>
        </p:spPr>
      </p:pic>
      <p:sp>
        <p:nvSpPr>
          <p:cNvPr id="8"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9" name="PageNo"/>
          <p:cNvSpPr txBox="1"/>
          <p:nvPr/>
        </p:nvSpPr>
        <p:spPr>
          <a:xfrm>
            <a:off x="10250424" y="6647688"/>
            <a:ext cx="1709928" cy="192024"/>
          </a:xfrm>
          <a:prstGeom prst="rect">
            <a:avLst/>
          </a:prstGeom>
          <a:noFill/>
        </p:spPr>
        <p:txBody>
          <a:bodyPr wrap="none">
            <a:spAutoFit/>
          </a:bodyPr>
          <a:lstStyle/>
          <a:p>
            <a:pPr algn="r"/>
            <a:r>
              <a:rPr sz="1000"/>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counts as human-in-the-loop</a:t>
            </a:r>
          </a:p>
        </p:txBody>
      </p:sp>
      <p:sp>
        <p:nvSpPr>
          <p:cNvPr id="3" name="Text Placeholder 2"/>
          <p:cNvSpPr>
            <a:spLocks noGrp="1"/>
          </p:cNvSpPr>
          <p:nvPr>
            <p:ph type="body" idx="1"/>
          </p:nvPr>
        </p:nvSpPr>
        <p:spPr/>
        <p:txBody>
          <a:bodyPr/>
          <a:lstStyle/>
          <a:p>
            <a:r>
              <a:t>the definition this tutorial works to, and the three things it demands of a simulator</a:t>
            </a:r>
          </a:p>
        </p:txBody>
      </p:sp>
      <p:sp>
        <p:nvSpPr>
          <p:cNvPr id="4"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5" name="PageNo"/>
          <p:cNvSpPr txBox="1"/>
          <p:nvPr/>
        </p:nvSpPr>
        <p:spPr>
          <a:xfrm>
            <a:off x="10250424" y="6647688"/>
            <a:ext cx="1709928" cy="192024"/>
          </a:xfrm>
          <a:prstGeom prst="rect">
            <a:avLst/>
          </a:prstGeom>
          <a:noFill/>
        </p:spPr>
        <p:txBody>
          <a:bodyPr wrap="none">
            <a:spAutoFit/>
          </a:bodyPr>
          <a:lstStyle/>
          <a:p>
            <a:pPr algn="r"/>
            <a:r>
              <a:rPr sz="1000"/>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The definition this tutorial works to</a:t>
            </a:r>
          </a:p>
        </p:txBody>
      </p:sp>
      <p:sp>
        <p:nvSpPr>
          <p:cNvPr id="3" name="Content Placeholder 2"/>
          <p:cNvSpPr>
            <a:spLocks noGrp="1"/>
          </p:cNvSpPr>
          <p:nvPr>
            <p:ph idx="1"/>
          </p:nvPr>
        </p:nvSpPr>
        <p:spPr>
          <a:xfrm>
            <a:off x="642552" y="1313782"/>
            <a:ext cx="10936224" cy="5203976"/>
          </a:xfrm>
        </p:spPr>
        <p:txBody>
          <a:bodyPr wrap="square"/>
          <a:lstStyle/>
          <a:p>
            <a:pPr>
              <a:spcAft>
                <a:spcPts val="900"/>
              </a:spcAft>
            </a:pPr>
            <a:r>
              <a:rPr sz="2000"/>
              <a:t>A simulation is human-in-the-loop when all three of these hold:</a:t>
            </a:r>
          </a:p>
          <a:p>
            <a:pPr lvl="1">
              <a:spcAft>
                <a:spcPts val="900"/>
              </a:spcAft>
            </a:pPr>
            <a:r>
              <a:rPr sz="1800"/>
              <a:t>1.  a person's action changes the state of a RUNNING simulation,</a:t>
            </a:r>
          </a:p>
          <a:p>
            <a:pPr lvl="1">
              <a:spcAft>
                <a:spcPts val="900"/>
              </a:spcAft>
            </a:pPr>
            <a:r>
              <a:rPr sz="1800"/>
              <a:t>2.  the simulation's response changes what that person does next, and</a:t>
            </a:r>
          </a:p>
          <a:p>
            <a:pPr lvl="1">
              <a:spcAft>
                <a:spcPts val="900"/>
              </a:spcAft>
            </a:pPr>
            <a:r>
              <a:rPr sz="1800"/>
              <a:t>3.  the cycle closes fast enough that they can keep reacting.</a:t>
            </a:r>
          </a:p>
          <a:p>
            <a:pPr>
              <a:spcAft>
                <a:spcPts val="900"/>
              </a:spcAft>
            </a:pPr>
            <a:r>
              <a:rPr sz="2000"/>
              <a:t>Each clause is load-bearing:</a:t>
            </a:r>
          </a:p>
          <a:p>
            <a:pPr lvl="1">
              <a:spcAft>
                <a:spcPts val="900"/>
              </a:spcAft>
            </a:pPr>
            <a:r>
              <a:rPr sz="1800"/>
              <a:t>drop 1 and you have a visualisation  -  you are watching, not acting</a:t>
            </a:r>
          </a:p>
          <a:p>
            <a:pPr lvl="1">
              <a:spcAft>
                <a:spcPts val="900"/>
              </a:spcAft>
            </a:pPr>
            <a:r>
              <a:rPr sz="1800"/>
              <a:t>drop 2 and the person is driving blind  -  open loop, not a loop</a:t>
            </a:r>
          </a:p>
          <a:p>
            <a:pPr lvl="1">
              <a:spcAft>
                <a:spcPts val="900"/>
              </a:spcAft>
            </a:pPr>
            <a:r>
              <a:rPr sz="1800"/>
              <a:t>drop 3 and you have a batch job with a joystick attached</a:t>
            </a:r>
          </a:p>
          <a:p>
            <a:pPr>
              <a:spcAft>
                <a:spcPts val="900"/>
              </a:spcAft>
            </a:pPr>
            <a:r>
              <a:rPr sz="2000"/>
              <a:t>Nothing in that definition mentions vehicles. That is the whole point of the tutorial: a car, a crane, a gearbox and a quadruped's leg all satisfy it, and they satisfy it the same way.</a:t>
            </a:r>
          </a:p>
        </p:txBody>
      </p:sp>
      <p:sp>
        <p:nvSpPr>
          <p:cNvPr id="4"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5" name="PageNo"/>
          <p:cNvSpPr txBox="1"/>
          <p:nvPr/>
        </p:nvSpPr>
        <p:spPr>
          <a:xfrm>
            <a:off x="10250424" y="6647688"/>
            <a:ext cx="1709928" cy="192024"/>
          </a:xfrm>
          <a:prstGeom prst="rect">
            <a:avLst/>
          </a:prstGeom>
          <a:noFill/>
        </p:spPr>
        <p:txBody>
          <a:bodyPr wrap="none">
            <a:spAutoFit/>
          </a:bodyPr>
          <a:lstStyle/>
          <a:p>
            <a:pPr algn="r"/>
            <a:r>
              <a:rPr sz="1000"/>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What a person in the loop is for</a:t>
            </a:r>
          </a:p>
        </p:txBody>
      </p:sp>
      <p:sp>
        <p:nvSpPr>
          <p:cNvPr id="3" name="Content Placeholder 2"/>
          <p:cNvSpPr>
            <a:spLocks noGrp="1"/>
          </p:cNvSpPr>
          <p:nvPr>
            <p:ph idx="1"/>
          </p:nvPr>
        </p:nvSpPr>
        <p:spPr>
          <a:xfrm>
            <a:off x="642552" y="1313782"/>
            <a:ext cx="10936224" cy="5203976"/>
          </a:xfrm>
        </p:spPr>
        <p:txBody>
          <a:bodyPr wrap="square"/>
          <a:lstStyle/>
          <a:p>
            <a:pPr>
              <a:spcAft>
                <a:spcPts val="500"/>
              </a:spcAft>
            </a:pPr>
            <a:r>
              <a:rPr sz="1500">
                <a:latin typeface="Consolas"/>
              </a:rPr>
              <a:t>Measuring the person.</a:t>
            </a:r>
            <a:r>
              <a:rPr sz="1700"/>
              <a:t> Human factors: what does an operator do when the controls are delayed, when an assist takes authority, when a hazard appears late?</a:t>
            </a:r>
          </a:p>
          <a:p>
            <a:pPr>
              <a:spcAft>
                <a:spcPts val="500"/>
              </a:spcAft>
            </a:pPr>
            <a:r>
              <a:rPr sz="1500">
                <a:latin typeface="Consolas"/>
              </a:rPr>
              <a:t>Training the person.</a:t>
            </a:r>
            <a:r>
              <a:rPr sz="1700"/>
              <a:t> Here the simulator IS the product, and the fidelity bar is whether it feels like the real thing.</a:t>
            </a:r>
          </a:p>
          <a:p>
            <a:pPr>
              <a:spcAft>
                <a:spcPts val="500"/>
              </a:spcAft>
            </a:pPr>
            <a:r>
              <a:rPr sz="1500">
                <a:latin typeface="Consolas"/>
              </a:rPr>
              <a:t>Collecting data from the person.</a:t>
            </a:r>
            <a:r>
              <a:rPr sz="1700"/>
              <a:t> Demonstrations for imitation learning, driver models, reference trajectories no controller would have produced.</a:t>
            </a:r>
          </a:p>
          <a:p>
            <a:pPr>
              <a:spcAft>
                <a:spcPts val="500"/>
              </a:spcAft>
            </a:pPr>
            <a:r>
              <a:rPr sz="1500">
                <a:latin typeface="Consolas"/>
              </a:rPr>
              <a:t>Testing the machine against a person.</a:t>
            </a:r>
            <a:r>
              <a:rPr sz="1700"/>
              <a:t> Someone perturbs a controller in ways a scripted test would never have thought to try.</a:t>
            </a:r>
          </a:p>
          <a:p>
            <a:pPr>
              <a:spcAft>
                <a:spcPts val="500"/>
              </a:spcAft>
            </a:pPr>
            <a:r>
              <a:rPr sz="1500">
                <a:latin typeface="Consolas"/>
              </a:rPr>
              <a:t>Judging the machine by feel.</a:t>
            </a:r>
            <a:r>
              <a:rPr sz="1700"/>
              <a:t> Reach in, pull on it, see whether it behaves plausibly. Faster than any metric at answering 'something is wrong here'.</a:t>
            </a:r>
          </a:p>
          <a:p>
            <a:pPr>
              <a:spcAft>
                <a:spcPts val="500"/>
              </a:spcAft>
            </a:pPr>
            <a:r>
              <a:rPr sz="1500">
                <a:latin typeface="Consolas"/>
              </a:rPr>
              <a:t>Designing shared control.</a:t>
            </a:r>
            <a:r>
              <a:rPr sz="1700"/>
              <a:t> When authority is split between a person and a controller, neither half can be evaluated alone.</a:t>
            </a:r>
          </a:p>
          <a:p>
            <a:pPr>
              <a:spcAft>
                <a:spcPts val="500"/>
              </a:spcAft>
            </a:pPr>
            <a:r>
              <a:rPr sz="1700"/>
              <a:t>Two different jobs hide in that list. Sometimes the person is the SUBJECT being measured; sometimes the person is the CONTROLLER, because nothing else can do the task. Either way the simulator has to hold wall-clock time, or you are measuring the simulator instead of the person.</a:t>
            </a:r>
          </a:p>
        </p:txBody>
      </p:sp>
      <p:sp>
        <p:nvSpPr>
          <p:cNvPr id="4"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5" name="PageNo"/>
          <p:cNvSpPr txBox="1"/>
          <p:nvPr/>
        </p:nvSpPr>
        <p:spPr>
          <a:xfrm>
            <a:off x="10250424" y="6647688"/>
            <a:ext cx="1709928" cy="192024"/>
          </a:xfrm>
          <a:prstGeom prst="rect">
            <a:avLst/>
          </a:prstGeom>
          <a:noFill/>
        </p:spPr>
        <p:txBody>
          <a:bodyPr wrap="none">
            <a:spAutoFit/>
          </a:bodyPr>
          <a:lstStyle/>
          <a:p>
            <a:pPr algn="r"/>
            <a:r>
              <a:rPr sz="1000"/>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A study Chrono has already carried</a:t>
            </a:r>
          </a:p>
        </p:txBody>
      </p:sp>
      <p:sp>
        <p:nvSpPr>
          <p:cNvPr id="3" name="Content Placeholder 2"/>
          <p:cNvSpPr>
            <a:spLocks noGrp="1"/>
          </p:cNvSpPr>
          <p:nvPr>
            <p:ph idx="1"/>
          </p:nvPr>
        </p:nvSpPr>
        <p:spPr>
          <a:xfrm>
            <a:off x="642552" y="1313782"/>
            <a:ext cx="10936224" cy="5203976"/>
          </a:xfrm>
        </p:spPr>
        <p:txBody>
          <a:bodyPr wrap="square"/>
          <a:lstStyle/>
          <a:p>
            <a:pPr>
              <a:spcAft>
                <a:spcPts val="900"/>
              </a:spcAft>
            </a:pPr>
            <a:r>
              <a:rPr sz="2000"/>
              <a:t>Remote car-following under latency. Forty participants, four groups of ten. Uplink delayed their inputs, downlink delayed the video back.</a:t>
            </a:r>
          </a:p>
          <a:p>
            <a:pPr>
              <a:spcAft>
                <a:spcPts val="900"/>
              </a:spcAft>
            </a:pPr>
            <a:r>
              <a:rPr sz="1800">
                <a:latin typeface="Consolas"/>
              </a:rPr>
              <a:t>Chrono::Vehicle</a:t>
            </a:r>
            <a:r>
              <a:rPr sz="2000"/>
              <a:t> ego and lead dynamics, </a:t>
            </a:r>
            <a:r>
              <a:rPr sz="1800">
                <a:latin typeface="Consolas"/>
              </a:rPr>
              <a:t>SynChrono</a:t>
            </a:r>
            <a:r>
              <a:rPr sz="2000"/>
              <a:t> between the two nodes, </a:t>
            </a:r>
            <a:r>
              <a:rPr sz="1800">
                <a:latin typeface="Consolas"/>
              </a:rPr>
              <a:t>Chrono::Sensor</a:t>
            </a:r>
            <a:r>
              <a:rPr sz="2000"/>
              <a:t> for the forward camera on three monitors at 60 Hz, </a:t>
            </a:r>
            <a:r>
              <a:rPr sz="1800">
                <a:latin typeface="Consolas"/>
              </a:rPr>
              <a:t>Chrono::HIL</a:t>
            </a:r>
            <a:r>
              <a:rPr sz="2000"/>
              <a:t> for a Logitech G29 wheel and pedals.</a:t>
            </a:r>
          </a:p>
          <a:p>
            <a:pPr>
              <a:spcAft>
                <a:spcPts val="900"/>
              </a:spcAft>
            </a:pPr>
            <a:r>
              <a:rPr sz="2000"/>
              <a:t>Mitigation cut driving incidents 72%, though not significantly, and significantly lowered steering entropy at high speed. Adaptation across the three latency trials dominated the effect.</a:t>
            </a:r>
          </a:p>
        </p:txBody>
      </p:sp>
      <p:pic>
        <p:nvPicPr>
          <p:cNvPr id="4" name="Picture 3" descr="hil_rig.png"/>
          <p:cNvPicPr>
            <a:picLocks noChangeAspect="1"/>
          </p:cNvPicPr>
          <p:nvPr/>
        </p:nvPicPr>
        <p:blipFill>
          <a:blip r:embed="rId2"/>
          <a:stretch>
            <a:fillRect/>
          </a:stretch>
        </p:blipFill>
        <p:spPr>
          <a:xfrm>
            <a:off x="3111522" y="4473956"/>
            <a:ext cx="2044750" cy="1149604"/>
          </a:xfrm>
          <a:prstGeom prst="rect">
            <a:avLst/>
          </a:prstGeom>
        </p:spPr>
      </p:pic>
      <p:pic>
        <p:nvPicPr>
          <p:cNvPr id="5" name="Picture 4" descr="remote_driving_study.png"/>
          <p:cNvPicPr>
            <a:picLocks noChangeAspect="1"/>
          </p:cNvPicPr>
          <p:nvPr/>
        </p:nvPicPr>
        <p:blipFill>
          <a:blip r:embed="rId3"/>
          <a:stretch>
            <a:fillRect/>
          </a:stretch>
        </p:blipFill>
        <p:spPr>
          <a:xfrm>
            <a:off x="5430592" y="4473956"/>
            <a:ext cx="3646836" cy="1149604"/>
          </a:xfrm>
          <a:prstGeom prst="rect">
            <a:avLst/>
          </a:prstGeom>
        </p:spPr>
      </p:pic>
      <p:sp>
        <p:nvSpPr>
          <p:cNvPr id="6" name="NoteBox"/>
          <p:cNvSpPr txBox="1"/>
          <p:nvPr/>
        </p:nvSpPr>
        <p:spPr>
          <a:xfrm>
            <a:off x="402336" y="5760720"/>
            <a:ext cx="11393424" cy="713232"/>
          </a:xfrm>
          <a:prstGeom prst="rect">
            <a:avLst/>
          </a:prstGeom>
          <a:noFill/>
        </p:spPr>
        <p:txBody>
          <a:bodyPr wrap="square">
            <a:spAutoFit/>
          </a:bodyPr>
          <a:lstStyle/>
          <a:p>
            <a:pPr>
              <a:spcAft>
                <a:spcPts val="400"/>
              </a:spcAft>
            </a:pPr>
            <a:r>
              <a:rPr sz="1300"/>
              <a:t>Ma, McDonald, Sha, Zhang, Xu, Negrut. "Evaluating a delay-compensated shared-control system in high- and low-speed remote car-following."</a:t>
            </a:r>
          </a:p>
        </p:txBody>
      </p:sp>
      <p:sp>
        <p:nvSpPr>
          <p:cNvPr id="7"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8" name="PageNo"/>
          <p:cNvSpPr txBox="1"/>
          <p:nvPr/>
        </p:nvSpPr>
        <p:spPr>
          <a:xfrm>
            <a:off x="10250424" y="6647688"/>
            <a:ext cx="1709928" cy="192024"/>
          </a:xfrm>
          <a:prstGeom prst="rect">
            <a:avLst/>
          </a:prstGeom>
          <a:noFill/>
        </p:spPr>
        <p:txBody>
          <a:bodyPr wrap="none">
            <a:spAutoFit/>
          </a:bodyPr>
          <a:lstStyle/>
          <a:p>
            <a:pPr algn="r"/>
            <a:r>
              <a:rPr sz="1000"/>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The loop, and the clock around it</a:t>
            </a:r>
          </a:p>
        </p:txBody>
      </p:sp>
      <p:sp>
        <p:nvSpPr>
          <p:cNvPr id="3" name="Rounded Rectangle 2"/>
          <p:cNvSpPr/>
          <p:nvPr/>
        </p:nvSpPr>
        <p:spPr>
          <a:xfrm>
            <a:off x="548640" y="2103120"/>
            <a:ext cx="3017520" cy="1188720"/>
          </a:xfrm>
          <a:prstGeom prst="roundRect">
            <a:avLst/>
          </a:prstGeom>
          <a:solidFill>
            <a:srgbClr val="1F3864"/>
          </a:solidFill>
          <a:ln w="12700">
            <a:solidFill>
              <a:srgbClr val="0B1E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Person</a:t>
            </a:r>
          </a:p>
          <a:p>
            <a:pPr algn="ctr"/>
            <a:r>
              <a:rPr sz="1400">
                <a:solidFill>
                  <a:srgbClr val="FFFFFF"/>
                </a:solidFill>
              </a:rPr>
              <a:t>sees, decides, acts</a:t>
            </a:r>
          </a:p>
        </p:txBody>
      </p:sp>
      <p:sp>
        <p:nvSpPr>
          <p:cNvPr id="4" name="Rounded Rectangle 3"/>
          <p:cNvSpPr/>
          <p:nvPr/>
        </p:nvSpPr>
        <p:spPr>
          <a:xfrm>
            <a:off x="4590288" y="2103120"/>
            <a:ext cx="3017520" cy="1188720"/>
          </a:xfrm>
          <a:prstGeom prst="roundRect">
            <a:avLst/>
          </a:prstGeom>
          <a:solidFill>
            <a:srgbClr val="1F3864"/>
          </a:solidFill>
          <a:ln w="12700">
            <a:solidFill>
              <a:srgbClr val="0B1E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Chrono</a:t>
            </a:r>
          </a:p>
          <a:p>
            <a:pPr algn="ctr"/>
            <a:r>
              <a:rPr sz="1400">
                <a:solidFill>
                  <a:srgbClr val="FFFFFF"/>
                </a:solidFill>
              </a:rPr>
              <a:t>DoStepDynamics(step)</a:t>
            </a:r>
          </a:p>
        </p:txBody>
      </p:sp>
      <p:sp>
        <p:nvSpPr>
          <p:cNvPr id="5" name="Rounded Rectangle 4"/>
          <p:cNvSpPr/>
          <p:nvPr/>
        </p:nvSpPr>
        <p:spPr>
          <a:xfrm>
            <a:off x="8631936" y="2103120"/>
            <a:ext cx="3017520" cy="1188720"/>
          </a:xfrm>
          <a:prstGeom prst="roundRect">
            <a:avLst/>
          </a:prstGeom>
          <a:solidFill>
            <a:srgbClr val="1F3864"/>
          </a:solidFill>
          <a:ln w="12700">
            <a:solidFill>
              <a:srgbClr val="0B1E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Screen + telemetry</a:t>
            </a:r>
          </a:p>
          <a:p>
            <a:pPr algn="ctr"/>
            <a:r>
              <a:rPr sz="1400">
                <a:solidFill>
                  <a:srgbClr val="FFFFFF"/>
                </a:solidFill>
              </a:rPr>
              <a:t>what came back</a:t>
            </a:r>
          </a:p>
        </p:txBody>
      </p:sp>
      <p:sp>
        <p:nvSpPr>
          <p:cNvPr id="6" name="Right Arrow 5"/>
          <p:cNvSpPr/>
          <p:nvPr/>
        </p:nvSpPr>
        <p:spPr>
          <a:xfrm>
            <a:off x="3657600" y="2514600"/>
            <a:ext cx="841248" cy="365760"/>
          </a:xfrm>
          <a:prstGeom prst="rightArrow">
            <a:avLst/>
          </a:prstGeom>
          <a:solidFill>
            <a:srgbClr val="8A9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Arrow 6"/>
          <p:cNvSpPr/>
          <p:nvPr/>
        </p:nvSpPr>
        <p:spPr>
          <a:xfrm>
            <a:off x="7699248" y="2514600"/>
            <a:ext cx="841248" cy="365760"/>
          </a:xfrm>
          <a:prstGeom prst="rightArrow">
            <a:avLst/>
          </a:prstGeom>
          <a:solidFill>
            <a:srgbClr val="8A9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40" y="1600200"/>
            <a:ext cx="1572768" cy="457200"/>
          </a:xfrm>
          <a:prstGeom prst="rect">
            <a:avLst/>
          </a:prstGeom>
          <a:noFill/>
        </p:spPr>
        <p:txBody>
          <a:bodyPr wrap="square">
            <a:spAutoFit/>
          </a:bodyPr>
          <a:lstStyle/>
          <a:p>
            <a:pPr algn="ctr"/>
            <a:r>
              <a:rPr sz="1300"/>
              <a:t>steering, a force, a click</a:t>
            </a:r>
          </a:p>
        </p:txBody>
      </p:sp>
      <p:sp>
        <p:nvSpPr>
          <p:cNvPr id="9" name="TextBox 8"/>
          <p:cNvSpPr txBox="1"/>
          <p:nvPr/>
        </p:nvSpPr>
        <p:spPr>
          <a:xfrm>
            <a:off x="7333488" y="1600200"/>
            <a:ext cx="1572768" cy="457200"/>
          </a:xfrm>
          <a:prstGeom prst="rect">
            <a:avLst/>
          </a:prstGeom>
          <a:noFill/>
        </p:spPr>
        <p:txBody>
          <a:bodyPr wrap="square">
            <a:spAutoFit/>
          </a:bodyPr>
          <a:lstStyle/>
          <a:p>
            <a:pPr algn="ctr"/>
            <a:r>
              <a:rPr sz="1300"/>
              <a:t>position, speed, contact</a:t>
            </a:r>
          </a:p>
        </p:txBody>
      </p:sp>
      <p:sp>
        <p:nvSpPr>
          <p:cNvPr id="10" name="Left Arrow 9"/>
          <p:cNvSpPr/>
          <p:nvPr/>
        </p:nvSpPr>
        <p:spPr>
          <a:xfrm>
            <a:off x="548640" y="3794760"/>
            <a:ext cx="11100816" cy="384048"/>
          </a:xfrm>
          <a:prstGeom prst="leftArrow">
            <a:avLst/>
          </a:prstGeom>
          <a:solidFill>
            <a:srgbClr val="8A9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224528"/>
            <a:ext cx="11100816" cy="457200"/>
          </a:xfrm>
          <a:prstGeom prst="rect">
            <a:avLst/>
          </a:prstGeom>
          <a:noFill/>
        </p:spPr>
        <p:txBody>
          <a:bodyPr wrap="square">
            <a:spAutoFit/>
          </a:bodyPr>
          <a:lstStyle/>
          <a:p>
            <a:pPr algn="ctr"/>
            <a:r>
              <a:rPr sz="1500"/>
              <a:t>what they see changes what they do next  -  this arrow is what makes it a LOOP</a:t>
            </a:r>
          </a:p>
        </p:txBody>
      </p:sp>
      <p:sp>
        <p:nvSpPr>
          <p:cNvPr id="12" name="Rounded Rectangle 11"/>
          <p:cNvSpPr/>
          <p:nvPr/>
        </p:nvSpPr>
        <p:spPr>
          <a:xfrm>
            <a:off x="3017520" y="4983480"/>
            <a:ext cx="6126480" cy="731520"/>
          </a:xfrm>
          <a:prstGeom prst="roundRect">
            <a:avLst/>
          </a:prstGeom>
          <a:solidFill>
            <a:srgbClr val="C5050C"/>
          </a:solidFill>
          <a:ln w="12700">
            <a:solidFill>
              <a:srgbClr val="0B1E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and every lap has to fit inside one wall-clock step</a:t>
            </a:r>
          </a:p>
        </p:txBody>
      </p:sp>
      <p:sp>
        <p:nvSpPr>
          <p:cNvPr id="13" name="NoteBox"/>
          <p:cNvSpPr txBox="1"/>
          <p:nvPr/>
        </p:nvSpPr>
        <p:spPr>
          <a:xfrm>
            <a:off x="402336" y="5870448"/>
            <a:ext cx="11393424" cy="713232"/>
          </a:xfrm>
          <a:prstGeom prst="rect">
            <a:avLst/>
          </a:prstGeom>
          <a:noFill/>
        </p:spPr>
        <p:txBody>
          <a:bodyPr wrap="square">
            <a:spAutoFit/>
          </a:bodyPr>
          <a:lstStyle/>
          <a:p>
            <a:pPr>
              <a:spcAft>
                <a:spcPts val="400"/>
              </a:spcAft>
            </a:pPr>
            <a:r>
              <a:rPr sz="1600"/>
              <a:t>Break the first arrow and it is a movie. Break the return arrow and it is a recording session. Break the clock and the person cannot stay in the loop at all, which is why the clock comes first in this tutorial.</a:t>
            </a:r>
          </a:p>
        </p:txBody>
      </p:sp>
      <p:sp>
        <p:nvSpPr>
          <p:cNvPr id="14"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15" name="PageNo"/>
          <p:cNvSpPr txBox="1"/>
          <p:nvPr/>
        </p:nvSpPr>
        <p:spPr>
          <a:xfrm>
            <a:off x="10250424" y="6647688"/>
            <a:ext cx="1709928" cy="192024"/>
          </a:xfrm>
          <a:prstGeom prst="rect">
            <a:avLst/>
          </a:prstGeom>
          <a:noFill/>
        </p:spPr>
        <p:txBody>
          <a:bodyPr wrap="none">
            <a:spAutoFit/>
          </a:bodyPr>
          <a:lstStyle/>
          <a:p>
            <a:pPr algn="r"/>
            <a:r>
              <a:rPr sz="1000"/>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Not everything interactive is in the loop</a:t>
            </a:r>
          </a:p>
        </p:txBody>
      </p:sp>
      <p:sp>
        <p:nvSpPr>
          <p:cNvPr id="3" name="Content Placeholder 2"/>
          <p:cNvSpPr>
            <a:spLocks noGrp="1"/>
          </p:cNvSpPr>
          <p:nvPr>
            <p:ph idx="1"/>
          </p:nvPr>
        </p:nvSpPr>
        <p:spPr>
          <a:xfrm>
            <a:off x="642552" y="1313782"/>
            <a:ext cx="10936224" cy="5203976"/>
          </a:xfrm>
        </p:spPr>
        <p:txBody>
          <a:bodyPr wrap="square"/>
          <a:lstStyle/>
          <a:p>
            <a:pPr>
              <a:spcAft>
                <a:spcPts val="900"/>
              </a:spcAft>
            </a:pPr>
            <a:r>
              <a:rPr sz="2000"/>
              <a:t>IN the loop  -  a person's input is a term in the dynamics, every step</a:t>
            </a:r>
          </a:p>
          <a:p>
            <a:pPr lvl="1">
              <a:spcAft>
                <a:spcPts val="900"/>
              </a:spcAft>
            </a:pPr>
            <a:r>
              <a:rPr sz="1800"/>
              <a:t>driving the HMMWV; dragging a robot's limb while its controller resists</a:t>
            </a:r>
          </a:p>
          <a:p>
            <a:pPr>
              <a:spcAft>
                <a:spcPts val="900"/>
              </a:spcAft>
            </a:pPr>
            <a:r>
              <a:rPr sz="2000"/>
              <a:t>ON the loop  -  a person configures and triggers, then watches it play out</a:t>
            </a:r>
          </a:p>
          <a:p>
            <a:pPr lvl="1">
              <a:spcAft>
                <a:spcPts val="900"/>
              </a:spcAft>
            </a:pPr>
            <a:r>
              <a:rPr sz="1800"/>
              <a:t>the push rig: you choose where and how hard, the impulse itself is scripted</a:t>
            </a:r>
          </a:p>
          <a:p>
            <a:pPr>
              <a:spcAft>
                <a:spcPts val="900"/>
              </a:spcAft>
            </a:pPr>
            <a:r>
              <a:rPr sz="2000"/>
              <a:t>Neither  -  interactive, but nothing is reacting</a:t>
            </a:r>
          </a:p>
          <a:p>
            <a:pPr lvl="1">
              <a:spcAft>
                <a:spcPts val="900"/>
              </a:spcAft>
            </a:pPr>
            <a:r>
              <a:rPr sz="1800"/>
              <a:t>the top-down placement tool: kinematic, no dynamics, a scene-authoring tool</a:t>
            </a:r>
          </a:p>
          <a:p>
            <a:pPr>
              <a:spcAft>
                <a:spcPts val="900"/>
              </a:spcAft>
            </a:pPr>
            <a:r>
              <a:rPr sz="2000"/>
              <a:t>Worth saying out loud, because 'interactive' and 'in the loop' get used interchangeably and only one of them has a clock in it. All three are useful. Only the first two are what the phrase means.</a:t>
            </a:r>
          </a:p>
        </p:txBody>
      </p:sp>
      <p:sp>
        <p:nvSpPr>
          <p:cNvPr id="4"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5" name="PageNo"/>
          <p:cNvSpPr txBox="1"/>
          <p:nvPr/>
        </p:nvSpPr>
        <p:spPr>
          <a:xfrm>
            <a:off x="10250424" y="6647688"/>
            <a:ext cx="1709928" cy="192024"/>
          </a:xfrm>
          <a:prstGeom prst="rect">
            <a:avLst/>
          </a:prstGeom>
          <a:noFill/>
        </p:spPr>
        <p:txBody>
          <a:bodyPr wrap="none">
            <a:spAutoFit/>
          </a:bodyPr>
          <a:lstStyle/>
          <a:p>
            <a:pPr algn="r"/>
            <a:r>
              <a:rPr sz="1000"/>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Requirement 3 comes first: the clock</a:t>
            </a:r>
          </a:p>
        </p:txBody>
      </p:sp>
      <p:sp>
        <p:nvSpPr>
          <p:cNvPr id="3" name="Text Placeholder 2"/>
          <p:cNvSpPr>
            <a:spLocks noGrp="1"/>
          </p:cNvSpPr>
          <p:nvPr>
            <p:ph type="body" idx="1"/>
          </p:nvPr>
        </p:nvSpPr>
        <p:spPr/>
        <p:txBody>
          <a:bodyPr/>
          <a:lstStyle/>
          <a:p>
            <a:r>
              <a:t>it decides whether the other two requirements are worth anything</a:t>
            </a:r>
          </a:p>
        </p:txBody>
      </p:sp>
      <p:sp>
        <p:nvSpPr>
          <p:cNvPr id="4"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5" name="PageNo"/>
          <p:cNvSpPr txBox="1"/>
          <p:nvPr/>
        </p:nvSpPr>
        <p:spPr>
          <a:xfrm>
            <a:off x="10250424" y="6647688"/>
            <a:ext cx="1709928" cy="192024"/>
          </a:xfrm>
          <a:prstGeom prst="rect">
            <a:avLst/>
          </a:prstGeom>
          <a:noFill/>
        </p:spPr>
        <p:txBody>
          <a:bodyPr wrap="none">
            <a:spAutoFit/>
          </a:bodyPr>
          <a:lstStyle/>
          <a:p>
            <a:pPr algn="r"/>
            <a:r>
              <a:rPr sz="1000"/>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What real time means in Chrono</a:t>
            </a:r>
          </a:p>
        </p:txBody>
      </p:sp>
      <p:sp>
        <p:nvSpPr>
          <p:cNvPr id="3" name="Content Placeholder 2"/>
          <p:cNvSpPr>
            <a:spLocks noGrp="1"/>
          </p:cNvSpPr>
          <p:nvPr>
            <p:ph idx="1"/>
          </p:nvPr>
        </p:nvSpPr>
        <p:spPr>
          <a:xfrm>
            <a:off x="642552" y="1313782"/>
            <a:ext cx="10936224" cy="5203976"/>
          </a:xfrm>
        </p:spPr>
        <p:txBody>
          <a:bodyPr wrap="square"/>
          <a:lstStyle/>
          <a:p>
            <a:pPr>
              <a:spcAft>
                <a:spcPts val="900"/>
              </a:spcAft>
            </a:pPr>
            <a:r>
              <a:rPr sz="2000"/>
              <a:t>Chrono integrates as fast as it can. It has no notion of wall-clock time.</a:t>
            </a:r>
          </a:p>
          <a:p>
            <a:pPr>
              <a:spcAft>
                <a:spcPts val="900"/>
              </a:spcAft>
            </a:pPr>
            <a:r>
              <a:rPr sz="1800">
                <a:latin typeface="Consolas"/>
              </a:rPr>
              <a:t>RTF = wall time / simulated time</a:t>
            </a:r>
          </a:p>
          <a:p>
            <a:pPr lvl="1">
              <a:spcAft>
                <a:spcPts val="900"/>
              </a:spcAft>
            </a:pPr>
            <a:r>
              <a:rPr sz="1600">
                <a:latin typeface="Consolas"/>
              </a:rPr>
              <a:t>RTF &lt; 1</a:t>
            </a:r>
            <a:r>
              <a:rPr sz="1800"/>
              <a:t>  -  faster than real time. You have slack, and can sleep.</a:t>
            </a:r>
          </a:p>
          <a:p>
            <a:pPr lvl="1">
              <a:spcAft>
                <a:spcPts val="900"/>
              </a:spcAft>
            </a:pPr>
            <a:r>
              <a:rPr sz="1600">
                <a:latin typeface="Consolas"/>
              </a:rPr>
              <a:t>RTF = 1</a:t>
            </a:r>
            <a:r>
              <a:rPr sz="1800"/>
              <a:t>  -  exactly real time.</a:t>
            </a:r>
          </a:p>
          <a:p>
            <a:pPr lvl="1">
              <a:spcAft>
                <a:spcPts val="900"/>
              </a:spcAft>
            </a:pPr>
            <a:r>
              <a:rPr sz="1600">
                <a:latin typeface="Consolas"/>
              </a:rPr>
              <a:t>RTF &gt; 1</a:t>
            </a:r>
            <a:r>
              <a:rPr sz="1800"/>
              <a:t>  -  slower than real time. No amount of sleeping fixes this.</a:t>
            </a:r>
          </a:p>
          <a:p>
            <a:pPr>
              <a:spcAft>
                <a:spcPts val="900"/>
              </a:spcAft>
            </a:pPr>
            <a:r>
              <a:rPr sz="2000"/>
              <a:t>So holding the clock is two separate problems:</a:t>
            </a:r>
          </a:p>
          <a:p>
            <a:pPr lvl="1">
              <a:spcAft>
                <a:spcPts val="900"/>
              </a:spcAft>
            </a:pPr>
            <a:r>
              <a:rPr sz="1800"/>
              <a:t>do not run FAST  -  sleep off the slack (easy, one call)</a:t>
            </a:r>
          </a:p>
          <a:p>
            <a:pPr lvl="1">
              <a:spcAft>
                <a:spcPts val="900"/>
              </a:spcAft>
            </a:pPr>
            <a:r>
              <a:rPr sz="1800"/>
              <a:t>do not run SLOW  -  make the step cheap enough to have slack (the real work)</a:t>
            </a:r>
          </a:p>
        </p:txBody>
      </p:sp>
      <p:sp>
        <p:nvSpPr>
          <p:cNvPr id="4"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5" name="PageNo"/>
          <p:cNvSpPr txBox="1"/>
          <p:nvPr/>
        </p:nvSpPr>
        <p:spPr>
          <a:xfrm>
            <a:off x="10250424" y="6647688"/>
            <a:ext cx="1709928" cy="192024"/>
          </a:xfrm>
          <a:prstGeom prst="rect">
            <a:avLst/>
          </a:prstGeom>
          <a:noFill/>
        </p:spPr>
        <p:txBody>
          <a:bodyPr wrap="none">
            <a:spAutoFit/>
          </a:bodyPr>
          <a:lstStyle/>
          <a:p>
            <a:pPr algn="r"/>
            <a:r>
              <a:rPr sz="1000"/>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Holding wall-clock time: the pacing surface</a:t>
            </a:r>
          </a:p>
        </p:txBody>
      </p:sp>
      <p:sp>
        <p:nvSpPr>
          <p:cNvPr id="3" name="CodeBox"/>
          <p:cNvSpPr txBox="1"/>
          <p:nvPr/>
        </p:nvSpPr>
        <p:spPr>
          <a:xfrm>
            <a:off x="0" y="1207008"/>
            <a:ext cx="12188952" cy="4114799"/>
          </a:xfrm>
          <a:prstGeom prst="rect">
            <a:avLst/>
          </a:prstGeom>
          <a:solidFill>
            <a:srgbClr val="000000"/>
          </a:solidFill>
        </p:spPr>
        <p:txBody>
          <a:bodyPr wrap="none" lIns="320040" tIns="91440">
            <a:spAutoFit/>
          </a:bodyPr>
          <a:lstStyle/>
          <a:p>
            <a:pPr>
              <a:spcAft>
                <a:spcPts val="0"/>
              </a:spcAft>
            </a:pPr>
            <a:r>
              <a:rPr sz="1100">
                <a:solidFill>
                  <a:srgbClr val="7FAF7F"/>
                </a:solidFill>
                <a:latin typeface="Consolas"/>
              </a:rPr>
              <a:t>// chrono/core/ChRealtimeStep.h</a:t>
            </a:r>
          </a:p>
          <a:p>
            <a:pPr>
              <a:spcAft>
                <a:spcPts val="0"/>
              </a:spcAft>
            </a:pPr>
            <a:r>
              <a:rPr sz="1100">
                <a:solidFill>
                  <a:srgbClr val="CCCCCC"/>
                </a:solidFill>
                <a:latin typeface="Consolas"/>
              </a:rPr>
              <a:t>class </a:t>
            </a:r>
            <a:r>
              <a:rPr sz="1100">
                <a:solidFill>
                  <a:srgbClr val="F0A040"/>
                </a:solidFill>
                <a:latin typeface="Consolas"/>
              </a:rPr>
              <a:t>ChRealtimeStepTimer</a:t>
            </a:r>
            <a:r>
              <a:rPr sz="1100">
                <a:solidFill>
                  <a:srgbClr val="CCCCCC"/>
                </a:solidFill>
                <a:latin typeface="Consolas"/>
              </a:rPr>
              <a:t> : public </a:t>
            </a:r>
            <a:r>
              <a:rPr sz="1100">
                <a:solidFill>
                  <a:srgbClr val="F0A040"/>
                </a:solidFill>
                <a:latin typeface="Consolas"/>
              </a:rPr>
              <a:t>ChTimer</a:t>
            </a:r>
            <a:r>
              <a:rPr sz="1100">
                <a:solidFill>
                  <a:srgbClr val="CCCCCC"/>
                </a:solidFill>
                <a:latin typeface="Consolas"/>
              </a:rPr>
              <a:t> {</a:t>
            </a:r>
          </a:p>
          <a:p>
            <a:pPr>
              <a:spcAft>
                <a:spcPts val="0"/>
              </a:spcAft>
            </a:pPr>
            <a:r>
              <a:rPr sz="1100">
                <a:solidFill>
                  <a:srgbClr val="CCCCCC"/>
                </a:solidFill>
                <a:latin typeface="Consolas"/>
              </a:rPr>
              <a:t>    void </a:t>
            </a:r>
            <a:r>
              <a:rPr sz="1100">
                <a:solidFill>
                  <a:srgbClr val="7FC7E8"/>
                </a:solidFill>
                <a:latin typeface="Consolas"/>
              </a:rPr>
              <a:t>Spin</a:t>
            </a:r>
            <a:r>
              <a:rPr sz="1100">
                <a:solidFill>
                  <a:srgbClr val="CCCCCC"/>
                </a:solidFill>
                <a:latin typeface="Consolas"/>
              </a:rPr>
              <a:t>(double step);    </a:t>
            </a:r>
            <a:r>
              <a:rPr sz="1100">
                <a:solidFill>
                  <a:srgbClr val="7FAF7F"/>
                </a:solidFill>
                <a:latin typeface="Consolas"/>
              </a:rPr>
              <a:t>// sleep off whatever is left of `step`</a:t>
            </a:r>
          </a:p>
          <a:p>
            <a:pPr>
              <a:spcAft>
                <a:spcPts val="0"/>
              </a:spcAft>
            </a:pPr>
            <a:r>
              <a:rPr sz="1100">
                <a:solidFill>
                  <a:srgbClr val="CCCCCC"/>
                </a:solidFill>
                <a:latin typeface="Consolas"/>
              </a:rPr>
              <a:t>};</a:t>
            </a:r>
          </a:p>
          <a:p>
            <a:pPr>
              <a:spcAft>
                <a:spcPts val="0"/>
              </a:spcAft>
            </a:pPr>
            <a:r>
              <a:rPr sz="1100">
                <a:solidFill>
                  <a:srgbClr val="CCCCCC"/>
                </a:solidFill>
                <a:latin typeface="Consolas"/>
              </a:rPr>
              <a:t> </a:t>
            </a:r>
          </a:p>
          <a:p>
            <a:pPr>
              <a:spcAft>
                <a:spcPts val="0"/>
              </a:spcAft>
            </a:pPr>
            <a:r>
              <a:rPr sz="1100">
                <a:solidFill>
                  <a:srgbClr val="7FAF7F"/>
                </a:solidFill>
                <a:latin typeface="Consolas"/>
              </a:rPr>
              <a:t>// chrono_vehicle/ChVehicle.h -- same policy, applied inside Advance()</a:t>
            </a:r>
          </a:p>
          <a:p>
            <a:pPr>
              <a:spcAft>
                <a:spcPts val="0"/>
              </a:spcAft>
            </a:pPr>
            <a:r>
              <a:rPr sz="1100">
                <a:solidFill>
                  <a:srgbClr val="CCCCCC"/>
                </a:solidFill>
                <a:latin typeface="Consolas"/>
              </a:rPr>
              <a:t>void   </a:t>
            </a:r>
            <a:r>
              <a:rPr sz="1100">
                <a:solidFill>
                  <a:srgbClr val="F0A040"/>
                </a:solidFill>
                <a:latin typeface="Consolas"/>
              </a:rPr>
              <a:t>ChVehicle</a:t>
            </a:r>
            <a:r>
              <a:rPr sz="1100">
                <a:solidFill>
                  <a:srgbClr val="CCCCCC"/>
                </a:solidFill>
                <a:latin typeface="Consolas"/>
              </a:rPr>
              <a:t>::</a:t>
            </a:r>
            <a:r>
              <a:rPr sz="1100">
                <a:solidFill>
                  <a:srgbClr val="7FC7E8"/>
                </a:solidFill>
                <a:latin typeface="Consolas"/>
              </a:rPr>
              <a:t>EnableRealtime</a:t>
            </a:r>
            <a:r>
              <a:rPr sz="1100">
                <a:solidFill>
                  <a:srgbClr val="CCCCCC"/>
                </a:solidFill>
                <a:latin typeface="Consolas"/>
              </a:rPr>
              <a:t>(bool val);</a:t>
            </a:r>
          </a:p>
          <a:p>
            <a:pPr>
              <a:spcAft>
                <a:spcPts val="0"/>
              </a:spcAft>
            </a:pPr>
            <a:r>
              <a:rPr sz="1100">
                <a:solidFill>
                  <a:srgbClr val="CCCCCC"/>
                </a:solidFill>
                <a:latin typeface="Consolas"/>
              </a:rPr>
              <a:t>double </a:t>
            </a:r>
            <a:r>
              <a:rPr sz="1100">
                <a:solidFill>
                  <a:srgbClr val="F0A040"/>
                </a:solidFill>
                <a:latin typeface="Consolas"/>
              </a:rPr>
              <a:t>ChVehicle</a:t>
            </a:r>
            <a:r>
              <a:rPr sz="1100">
                <a:solidFill>
                  <a:srgbClr val="CCCCCC"/>
                </a:solidFill>
                <a:latin typeface="Consolas"/>
              </a:rPr>
              <a:t>::</a:t>
            </a:r>
            <a:r>
              <a:rPr sz="1100">
                <a:solidFill>
                  <a:srgbClr val="7FC7E8"/>
                </a:solidFill>
                <a:latin typeface="Consolas"/>
              </a:rPr>
              <a:t>GetRTF</a:t>
            </a:r>
            <a:r>
              <a:rPr sz="1100">
                <a:solidFill>
                  <a:srgbClr val="CCCCCC"/>
                </a:solidFill>
                <a:latin typeface="Consolas"/>
              </a:rPr>
              <a:t>() const;   </a:t>
            </a:r>
            <a:r>
              <a:rPr sz="1100">
                <a:solidFill>
                  <a:srgbClr val="7FAF7F"/>
                </a:solidFill>
                <a:latin typeface="Consolas"/>
              </a:rPr>
              <a:t>// wall / simulated, per step</a:t>
            </a:r>
          </a:p>
          <a:p>
            <a:pPr>
              <a:spcAft>
                <a:spcPts val="0"/>
              </a:spcAft>
            </a:pPr>
            <a:r>
              <a:rPr sz="1100">
                <a:solidFill>
                  <a:srgbClr val="CCCCCC"/>
                </a:solidFill>
                <a:latin typeface="Consolas"/>
              </a:rPr>
              <a:t> </a:t>
            </a:r>
          </a:p>
          <a:p>
            <a:pPr>
              <a:spcAft>
                <a:spcPts val="0"/>
              </a:spcAft>
            </a:pPr>
            <a:r>
              <a:rPr sz="1100">
                <a:solidFill>
                  <a:srgbClr val="7FAF7F"/>
                </a:solidFill>
                <a:latin typeface="Consolas"/>
              </a:rPr>
              <a:t>// The pattern, whatever is being simulated:</a:t>
            </a:r>
          </a:p>
          <a:p>
            <a:pPr>
              <a:spcAft>
                <a:spcPts val="0"/>
              </a:spcAft>
            </a:pPr>
            <a:r>
              <a:rPr sz="1100">
                <a:solidFill>
                  <a:srgbClr val="7FAF7F"/>
                </a:solidFill>
                <a:latin typeface="Consolas"/>
              </a:rPr>
              <a:t>//     while running:</a:t>
            </a:r>
          </a:p>
          <a:p>
            <a:pPr>
              <a:spcAft>
                <a:spcPts val="0"/>
              </a:spcAft>
            </a:pPr>
            <a:r>
              <a:rPr sz="1100">
                <a:solidFill>
                  <a:srgbClr val="7FAF7F"/>
                </a:solidFill>
                <a:latin typeface="Consolas"/>
              </a:rPr>
              <a:t>//         inputs = read_human()      # never blocking</a:t>
            </a:r>
          </a:p>
          <a:p>
            <a:pPr>
              <a:spcAft>
                <a:spcPts val="0"/>
              </a:spcAft>
            </a:pPr>
            <a:r>
              <a:rPr sz="1100">
                <a:solidFill>
                  <a:srgbClr val="7FAF7F"/>
                </a:solidFill>
                <a:latin typeface="Consolas"/>
              </a:rPr>
              <a:t>//         sys.DoStepDynamics(step)</a:t>
            </a:r>
          </a:p>
          <a:p>
            <a:pPr>
              <a:spcAft>
                <a:spcPts val="0"/>
              </a:spcAft>
            </a:pPr>
            <a:r>
              <a:rPr sz="1100">
                <a:solidFill>
                  <a:srgbClr val="7FAF7F"/>
                </a:solidFill>
                <a:latin typeface="Consolas"/>
              </a:rPr>
              <a:t>//         if time to draw: render()</a:t>
            </a:r>
          </a:p>
          <a:p>
            <a:pPr>
              <a:spcAft>
                <a:spcPts val="0"/>
              </a:spcAft>
            </a:pPr>
            <a:r>
              <a:rPr sz="1100">
                <a:solidFill>
                  <a:srgbClr val="7FAF7F"/>
                </a:solidFill>
                <a:latin typeface="Consolas"/>
              </a:rPr>
              <a:t>//         timer.Spin(step)           # give the wall clock its due</a:t>
            </a:r>
          </a:p>
          <a:p>
            <a:pPr>
              <a:spcAft>
                <a:spcPts val="0"/>
              </a:spcAft>
            </a:pPr>
            <a:r>
              <a:rPr sz="1100">
                <a:solidFill>
                  <a:srgbClr val="CCCCCC"/>
                </a:solidFill>
                <a:latin typeface="Consolas"/>
              </a:rPr>
              <a:t> </a:t>
            </a:r>
          </a:p>
          <a:p>
            <a:pPr>
              <a:spcAft>
                <a:spcPts val="0"/>
              </a:spcAft>
            </a:pPr>
            <a:r>
              <a:rPr sz="1100">
                <a:solidFill>
                  <a:srgbClr val="7FAF7F"/>
                </a:solidFill>
                <a:latin typeface="Consolas"/>
              </a:rPr>
              <a:t># ---- and how this tutorial calls it (tutorial_HIL_driver.py, lines 832 to 836) ------</a:t>
            </a:r>
          </a:p>
          <a:p>
            <a:pPr>
              <a:spcAft>
                <a:spcPts val="0"/>
              </a:spcAft>
            </a:pPr>
            <a:r>
              <a:rPr sz="1100">
                <a:solidFill>
                  <a:srgbClr val="7FAF7F"/>
                </a:solidFill>
                <a:latin typeface="Consolas"/>
              </a:rPr>
              <a:t># PART 1: spin in place for real time to catch up</a:t>
            </a:r>
          </a:p>
          <a:p>
            <a:pPr>
              <a:spcAft>
                <a:spcPts val="0"/>
              </a:spcAft>
            </a:pPr>
            <a:r>
              <a:rPr sz="1100">
                <a:solidFill>
                  <a:srgbClr val="CCCCCC"/>
                </a:solidFill>
                <a:latin typeface="Consolas"/>
              </a:rPr>
              <a:t>if realtime_mode == </a:t>
            </a:r>
            <a:r>
              <a:rPr sz="1100">
                <a:solidFill>
                  <a:srgbClr val="D8A0C0"/>
                </a:solidFill>
                <a:latin typeface="Consolas"/>
              </a:rPr>
              <a:t>"per_step"</a:t>
            </a:r>
            <a:r>
              <a:rPr sz="1100">
                <a:solidFill>
                  <a:srgbClr val="CCCCCC"/>
                </a:solidFill>
                <a:latin typeface="Consolas"/>
              </a:rPr>
              <a:t>:</a:t>
            </a:r>
          </a:p>
          <a:p>
            <a:pPr>
              <a:spcAft>
                <a:spcPts val="0"/>
              </a:spcAft>
            </a:pPr>
            <a:r>
              <a:rPr sz="1100">
                <a:solidFill>
                  <a:srgbClr val="CCCCCC"/>
                </a:solidFill>
                <a:latin typeface="Consolas"/>
              </a:rPr>
              <a:t>    rt_timer.</a:t>
            </a:r>
            <a:r>
              <a:rPr sz="1100">
                <a:solidFill>
                  <a:srgbClr val="7FC7E8"/>
                </a:solidFill>
                <a:latin typeface="Consolas"/>
              </a:rPr>
              <a:t>Spin</a:t>
            </a:r>
            <a:r>
              <a:rPr sz="1100">
                <a:solidFill>
                  <a:srgbClr val="CCCCCC"/>
                </a:solidFill>
                <a:latin typeface="Consolas"/>
              </a:rPr>
              <a:t>(step_size)</a:t>
            </a:r>
          </a:p>
          <a:p>
            <a:pPr>
              <a:spcAft>
                <a:spcPts val="0"/>
              </a:spcAft>
            </a:pPr>
            <a:r>
              <a:rPr sz="1100">
                <a:solidFill>
                  <a:srgbClr val="CCCCCC"/>
                </a:solidFill>
                <a:latin typeface="Consolas"/>
              </a:rPr>
              <a:t>elif realtime_mode == </a:t>
            </a:r>
            <a:r>
              <a:rPr sz="1100">
                <a:solidFill>
                  <a:srgbClr val="D8A0C0"/>
                </a:solidFill>
                <a:latin typeface="Consolas"/>
              </a:rPr>
              <a:t>"cumulative"</a:t>
            </a:r>
            <a:r>
              <a:rPr sz="1100">
                <a:solidFill>
                  <a:srgbClr val="CCCCCC"/>
                </a:solidFill>
                <a:latin typeface="Consolas"/>
              </a:rPr>
              <a:t>:</a:t>
            </a:r>
          </a:p>
          <a:p>
            <a:pPr>
              <a:spcAft>
                <a:spcPts val="0"/>
              </a:spcAft>
            </a:pPr>
            <a:r>
              <a:rPr sz="1100">
                <a:solidFill>
                  <a:srgbClr val="CCCCCC"/>
                </a:solidFill>
                <a:latin typeface="Consolas"/>
              </a:rPr>
              <a:t>    cum_timer.</a:t>
            </a:r>
            <a:r>
              <a:rPr sz="1100">
                <a:solidFill>
                  <a:srgbClr val="7FC7E8"/>
                </a:solidFill>
                <a:latin typeface="Consolas"/>
              </a:rPr>
              <a:t>spin</a:t>
            </a:r>
            <a:r>
              <a:rPr sz="1100">
                <a:solidFill>
                  <a:srgbClr val="CCCCCC"/>
                </a:solidFill>
                <a:latin typeface="Consolas"/>
              </a:rPr>
              <a:t>(system.</a:t>
            </a:r>
            <a:r>
              <a:rPr sz="1100">
                <a:solidFill>
                  <a:srgbClr val="7FC7E8"/>
                </a:solidFill>
                <a:latin typeface="Consolas"/>
              </a:rPr>
              <a:t>GetChTime</a:t>
            </a:r>
            <a:r>
              <a:rPr sz="1100">
                <a:solidFill>
                  <a:srgbClr val="CCCCCC"/>
                </a:solidFill>
                <a:latin typeface="Consolas"/>
              </a:rPr>
              <a:t>())</a:t>
            </a:r>
          </a:p>
        </p:txBody>
      </p:sp>
      <p:sp>
        <p:nvSpPr>
          <p:cNvPr id="4" name="NoteBox"/>
          <p:cNvSpPr txBox="1"/>
          <p:nvPr/>
        </p:nvSpPr>
        <p:spPr>
          <a:xfrm>
            <a:off x="402336" y="5431536"/>
            <a:ext cx="11393424" cy="987551"/>
          </a:xfrm>
          <a:prstGeom prst="rect">
            <a:avLst/>
          </a:prstGeom>
          <a:noFill/>
        </p:spPr>
        <p:txBody>
          <a:bodyPr wrap="square">
            <a:spAutoFit/>
          </a:bodyPr>
          <a:lstStyle/>
          <a:p>
            <a:pPr>
              <a:spcAft>
                <a:spcPts val="400"/>
              </a:spcAft>
            </a:pPr>
            <a:r>
              <a:rPr sz="1600"/>
              <a:t>Two calls. Everything else about real time is arithmetic around them.</a:t>
            </a:r>
          </a:p>
          <a:p>
            <a:pPr>
              <a:spcAft>
                <a:spcPts val="400"/>
              </a:spcAft>
            </a:pPr>
            <a:r>
              <a:rPr sz="1600"/>
              <a:t>Per-step timers never recover time lost on a slow step. If you need the sim to catch up after a stall, pace against TOTAL elapsed time instead, which is the third mode in this tutorial.</a:t>
            </a:r>
          </a:p>
        </p:txBody>
      </p:sp>
      <p:sp>
        <p:nvSpPr>
          <p:cNvPr id="5"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6" name="PageNo"/>
          <p:cNvSpPr txBox="1"/>
          <p:nvPr/>
        </p:nvSpPr>
        <p:spPr>
          <a:xfrm>
            <a:off x="10250424" y="6647688"/>
            <a:ext cx="1709928" cy="192024"/>
          </a:xfrm>
          <a:prstGeom prst="rect">
            <a:avLst/>
          </a:prstGeom>
          <a:noFill/>
        </p:spPr>
        <p:txBody>
          <a:bodyPr wrap="none">
            <a:spAutoFit/>
          </a:bodyPr>
          <a:lstStyle/>
          <a:p>
            <a:pPr algn="r"/>
            <a:r>
              <a:rPr sz="1000"/>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Demo Time: does the clock actually matter</a:t>
            </a:r>
          </a:p>
        </p:txBody>
      </p:sp>
      <p:sp>
        <p:nvSpPr>
          <p:cNvPr id="3" name="Content Placeholder 2"/>
          <p:cNvSpPr>
            <a:spLocks noGrp="1"/>
          </p:cNvSpPr>
          <p:nvPr>
            <p:ph idx="1"/>
          </p:nvPr>
        </p:nvSpPr>
        <p:spPr>
          <a:xfrm>
            <a:off x="642552" y="1313782"/>
            <a:ext cx="10936224" cy="5203976"/>
          </a:xfrm>
        </p:spPr>
        <p:txBody>
          <a:bodyPr wrap="square"/>
          <a:lstStyle/>
          <a:p>
            <a:pPr>
              <a:spcAft>
                <a:spcPts val="900"/>
              </a:spcAft>
            </a:pPr>
            <a:r>
              <a:rPr sz="1800">
                <a:latin typeface="Consolas"/>
              </a:rPr>
              <a:t>WHAT</a:t>
            </a:r>
            <a:r>
              <a:rPr sz="2000"/>
              <a:t>  the same scripted drive twice, once pacing to wall clock and once not</a:t>
            </a:r>
          </a:p>
          <a:p>
            <a:pPr>
              <a:spcAft>
                <a:spcPts val="900"/>
              </a:spcAft>
            </a:pPr>
            <a:r>
              <a:rPr sz="1800">
                <a:latin typeface="Consolas"/>
              </a:rPr>
              <a:t>WHY</a:t>
            </a:r>
            <a:r>
              <a:rPr sz="2000"/>
              <a:t>   it turns the real-time requirement from an assertion into a column you can watch run away</a:t>
            </a:r>
          </a:p>
          <a:p>
            <a:pPr>
              <a:spcAft>
                <a:spcPts val="900"/>
              </a:spcAft>
            </a:pPr>
            <a:r>
              <a:rPr sz="1800">
                <a:latin typeface="Consolas"/>
              </a:rPr>
              <a:t>REALTIME = "none"</a:t>
            </a:r>
            <a:r>
              <a:rPr sz="2000"/>
              <a:t>: watch the drift column run away</a:t>
            </a:r>
          </a:p>
          <a:p>
            <a:pPr>
              <a:spcAft>
                <a:spcPts val="900"/>
              </a:spcAft>
            </a:pPr>
            <a:r>
              <a:rPr sz="1800">
                <a:latin typeface="Consolas"/>
              </a:rPr>
              <a:t>REALTIME = "vehicle"</a:t>
            </a:r>
            <a:r>
              <a:rPr sz="2000"/>
              <a:t>: drift pinned near zero, RTF at 1</a:t>
            </a:r>
          </a:p>
          <a:p>
            <a:pPr>
              <a:spcAft>
                <a:spcPts val="900"/>
              </a:spcAft>
            </a:pPr>
            <a:r>
              <a:rPr sz="2000"/>
              <a:t>Same physics in both runs. The only difference is whether the process sleeps.</a:t>
            </a:r>
          </a:p>
          <a:p>
            <a:pPr>
              <a:spcAft>
                <a:spcPts val="900"/>
              </a:spcAft>
            </a:pPr>
            <a:r>
              <a:rPr sz="2000"/>
              <a:t>The drift column is the honest one. RTF can look fine on average while the sim has already lost a second of wall clock.</a:t>
            </a:r>
          </a:p>
        </p:txBody>
      </p:sp>
      <p:sp>
        <p:nvSpPr>
          <p:cNvPr id="4"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5" name="PageNo"/>
          <p:cNvSpPr txBox="1"/>
          <p:nvPr/>
        </p:nvSpPr>
        <p:spPr>
          <a:xfrm>
            <a:off x="10250424" y="6647688"/>
            <a:ext cx="1709928" cy="192024"/>
          </a:xfrm>
          <a:prstGeom prst="rect">
            <a:avLst/>
          </a:prstGeom>
          <a:noFill/>
        </p:spPr>
        <p:txBody>
          <a:bodyPr wrap="none">
            <a:spAutoFit/>
          </a:bodyPr>
          <a:lstStyle/>
          <a:p>
            <a:pPr algn="r"/>
            <a:r>
              <a:rPr sz="1000"/>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You can only sleep if you have slack</a:t>
            </a:r>
          </a:p>
        </p:txBody>
      </p:sp>
      <p:sp>
        <p:nvSpPr>
          <p:cNvPr id="3" name="Content Placeholder 2"/>
          <p:cNvSpPr>
            <a:spLocks noGrp="1"/>
          </p:cNvSpPr>
          <p:nvPr>
            <p:ph idx="1"/>
          </p:nvPr>
        </p:nvSpPr>
        <p:spPr>
          <a:xfrm>
            <a:off x="642552" y="1313782"/>
            <a:ext cx="10936224" cy="5203976"/>
          </a:xfrm>
        </p:spPr>
        <p:txBody>
          <a:bodyPr wrap="square"/>
          <a:lstStyle/>
          <a:p>
            <a:pPr>
              <a:spcAft>
                <a:spcPts val="900"/>
              </a:spcAft>
            </a:pPr>
            <a:r>
              <a:rPr sz="2000"/>
              <a:t>Holding the clock is two problems, and only one of them is a call:</a:t>
            </a:r>
          </a:p>
          <a:p>
            <a:pPr lvl="1">
              <a:spcAft>
                <a:spcPts val="900"/>
              </a:spcAft>
            </a:pPr>
            <a:r>
              <a:rPr sz="1800"/>
              <a:t>do not run FAST  -  sleep off the slack</a:t>
            </a:r>
          </a:p>
          <a:p>
            <a:pPr lvl="1">
              <a:spcAft>
                <a:spcPts val="900"/>
              </a:spcAft>
            </a:pPr>
            <a:r>
              <a:rPr sz="1800"/>
              <a:t>do not run SLOW  -  make the step cheap enough to HAVE slack</a:t>
            </a:r>
          </a:p>
          <a:p>
            <a:pPr>
              <a:spcAft>
                <a:spcPts val="900"/>
              </a:spcAft>
            </a:pPr>
            <a:r>
              <a:rPr sz="2000"/>
              <a:t>The budget is fixed: one step of wall clock, minus what you spend drawing, minus what you leave as margin for a bad step.</a:t>
            </a:r>
          </a:p>
          <a:p>
            <a:pPr>
              <a:spcAft>
                <a:spcPts val="900"/>
              </a:spcAft>
            </a:pPr>
            <a:r>
              <a:rPr sz="2000"/>
              <a:t>What follows is the set of levers Chrono gives you for the second problem, in rough order of how much they usually buy.</a:t>
            </a:r>
          </a:p>
          <a:p>
            <a:pPr>
              <a:spcAft>
                <a:spcPts val="900"/>
              </a:spcAft>
            </a:pPr>
            <a:r>
              <a:rPr sz="2000"/>
              <a:t>Reach for them in this order. People tend to start at the solver, which is near the bottom of the list and the easiest place to spend an afternoon for nothing.</a:t>
            </a:r>
          </a:p>
        </p:txBody>
      </p:sp>
      <p:sp>
        <p:nvSpPr>
          <p:cNvPr id="4"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5" name="PageNo"/>
          <p:cNvSpPr txBox="1"/>
          <p:nvPr/>
        </p:nvSpPr>
        <p:spPr>
          <a:xfrm>
            <a:off x="10250424" y="6647688"/>
            <a:ext cx="1709928" cy="192024"/>
          </a:xfrm>
          <a:prstGeom prst="rect">
            <a:avLst/>
          </a:prstGeom>
          <a:noFill/>
        </p:spPr>
        <p:txBody>
          <a:bodyPr wrap="none">
            <a:spAutoFit/>
          </a:bodyPr>
          <a:lstStyle/>
          <a:p>
            <a:pPr algn="r"/>
            <a:r>
              <a:rPr sz="1000"/>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The levers, in rough order of payoff</a:t>
            </a:r>
          </a:p>
        </p:txBody>
      </p:sp>
      <p:sp>
        <p:nvSpPr>
          <p:cNvPr id="3" name="Content Placeholder 2"/>
          <p:cNvSpPr>
            <a:spLocks noGrp="1"/>
          </p:cNvSpPr>
          <p:nvPr>
            <p:ph idx="1"/>
          </p:nvPr>
        </p:nvSpPr>
        <p:spPr>
          <a:xfrm>
            <a:off x="642552" y="1313782"/>
            <a:ext cx="10936224" cy="5203976"/>
          </a:xfrm>
        </p:spPr>
        <p:txBody>
          <a:bodyPr wrap="square"/>
          <a:lstStyle/>
          <a:p>
            <a:pPr>
              <a:spcAft>
                <a:spcPts val="900"/>
              </a:spcAft>
            </a:pPr>
            <a:r>
              <a:rPr sz="1800"/>
              <a:t>1.  </a:t>
            </a:r>
            <a:r>
              <a:rPr sz="1600">
                <a:latin typeface="Consolas"/>
              </a:rPr>
              <a:t>Step size</a:t>
            </a:r>
            <a:r>
              <a:rPr sz="1800"/>
              <a:t>. Everything scales with steps per second. The largest step that stays stable is the single biggest lever there is.</a:t>
            </a:r>
          </a:p>
          <a:p>
            <a:pPr>
              <a:spcAft>
                <a:spcPts val="900"/>
              </a:spcAft>
            </a:pPr>
            <a:r>
              <a:rPr sz="1800"/>
              <a:t>2.  </a:t>
            </a:r>
            <a:r>
              <a:rPr sz="1600">
                <a:latin typeface="Consolas"/>
              </a:rPr>
              <a:t>Collision geometry</a:t>
            </a:r>
            <a:r>
              <a:rPr sz="1800"/>
              <a:t>. Primitives beat convex hulls beat triangle meshes, by a lot. Most imported assets arrive as the slowest option.</a:t>
            </a:r>
          </a:p>
          <a:p>
            <a:pPr>
              <a:spcAft>
                <a:spcPts val="900"/>
              </a:spcAft>
            </a:pPr>
            <a:r>
              <a:rPr sz="1800"/>
              <a:t>3.  </a:t>
            </a:r>
            <a:r>
              <a:rPr sz="1600">
                <a:latin typeface="Consolas"/>
              </a:rPr>
              <a:t>Which pairs are tested at all</a:t>
            </a:r>
            <a:r>
              <a:rPr sz="1800"/>
              <a:t>. Families and masks remove whole classes of pair from the broadphase, including self-collision.</a:t>
            </a:r>
          </a:p>
          <a:p>
            <a:pPr>
              <a:spcAft>
                <a:spcPts val="900"/>
              </a:spcAft>
            </a:pPr>
            <a:r>
              <a:rPr sz="1800"/>
              <a:t>4.  </a:t>
            </a:r>
            <a:r>
              <a:rPr sz="1600">
                <a:latin typeface="Consolas"/>
              </a:rPr>
              <a:t>Active domains</a:t>
            </a:r>
            <a:r>
              <a:rPr sz="1800"/>
              <a:t>. Let the expensive physics happen only where it matters: deformable terrain near the wheels, fluid near the hull.</a:t>
            </a:r>
          </a:p>
          <a:p>
            <a:pPr>
              <a:spcAft>
                <a:spcPts val="900"/>
              </a:spcAft>
            </a:pPr>
            <a:r>
              <a:rPr sz="1800"/>
              <a:t>5.  </a:t>
            </a:r>
            <a:r>
              <a:rPr sz="1600">
                <a:latin typeface="Consolas"/>
              </a:rPr>
              <a:t>Solver type and iteration cap</a:t>
            </a:r>
            <a:r>
              <a:rPr sz="1800"/>
              <a:t>. Iterations buy convergence and cost time, and you pay out of the same step you wanted to sleep in.</a:t>
            </a:r>
          </a:p>
          <a:p>
            <a:pPr>
              <a:spcAft>
                <a:spcPts val="900"/>
              </a:spcAft>
            </a:pPr>
            <a:r>
              <a:rPr sz="1800"/>
              <a:t>6.  </a:t>
            </a:r>
            <a:r>
              <a:rPr sz="1600">
                <a:latin typeface="Consolas"/>
              </a:rPr>
              <a:t>Threads</a:t>
            </a:r>
            <a:r>
              <a:rPr sz="1800"/>
              <a:t>, </a:t>
            </a:r>
            <a:r>
              <a:rPr sz="1600">
                <a:latin typeface="Consolas"/>
              </a:rPr>
              <a:t>sleeping bodies</a:t>
            </a:r>
            <a:r>
              <a:rPr sz="1800"/>
              <a:t>, and </a:t>
            </a:r>
            <a:r>
              <a:rPr sz="1600">
                <a:latin typeface="Consolas"/>
              </a:rPr>
              <a:t>model reduction</a:t>
            </a:r>
            <a:r>
              <a:rPr sz="1800"/>
              <a:t> for elastic subassemblies.</a:t>
            </a:r>
          </a:p>
          <a:p>
            <a:pPr>
              <a:spcAft>
                <a:spcPts val="900"/>
              </a:spcAft>
            </a:pPr>
            <a:r>
              <a:rPr sz="1800"/>
              <a:t>7.  </a:t>
            </a:r>
            <a:r>
              <a:rPr sz="1600">
                <a:latin typeface="Consolas"/>
              </a:rPr>
              <a:t>Render less often than you step</a:t>
            </a:r>
            <a:r>
              <a:rPr sz="1800"/>
              <a:t>. Drawing is not free, and the eye does not need 500 Hz.</a:t>
            </a:r>
          </a:p>
          <a:p>
            <a:pPr>
              <a:spcAft>
                <a:spcPts val="900"/>
              </a:spcAft>
            </a:pPr>
            <a:r>
              <a:rPr sz="1800"/>
              <a:t>None of this is specific to having a human in the loop. It becomes urgent when there is one, because a batch job that runs at 0.6x real time is merely slow, and an interactive one is broken.</a:t>
            </a:r>
          </a:p>
        </p:txBody>
      </p:sp>
      <p:sp>
        <p:nvSpPr>
          <p:cNvPr id="4"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5" name="PageNo"/>
          <p:cNvSpPr txBox="1"/>
          <p:nvPr/>
        </p:nvSpPr>
        <p:spPr>
          <a:xfrm>
            <a:off x="10250424" y="6647688"/>
            <a:ext cx="1709928" cy="192024"/>
          </a:xfrm>
          <a:prstGeom prst="rect">
            <a:avLst/>
          </a:prstGeom>
          <a:noFill/>
        </p:spPr>
        <p:txBody>
          <a:bodyPr wrap="none">
            <a:spAutoFit/>
          </a:bodyPr>
          <a:lstStyle/>
          <a:p>
            <a:pPr algn="r"/>
            <a:r>
              <a:rPr sz="1000"/>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The levers, by name</a:t>
            </a:r>
          </a:p>
        </p:txBody>
      </p:sp>
      <p:sp>
        <p:nvSpPr>
          <p:cNvPr id="3" name="CodeBox"/>
          <p:cNvSpPr txBox="1"/>
          <p:nvPr/>
        </p:nvSpPr>
        <p:spPr>
          <a:xfrm>
            <a:off x="0" y="1207008"/>
            <a:ext cx="12188952" cy="3941445"/>
          </a:xfrm>
          <a:prstGeom prst="rect">
            <a:avLst/>
          </a:prstGeom>
          <a:solidFill>
            <a:srgbClr val="000000"/>
          </a:solidFill>
        </p:spPr>
        <p:txBody>
          <a:bodyPr wrap="none" lIns="320040" tIns="91440">
            <a:spAutoFit/>
          </a:bodyPr>
          <a:lstStyle/>
          <a:p>
            <a:pPr>
              <a:spcAft>
                <a:spcPts val="0"/>
              </a:spcAft>
            </a:pPr>
            <a:r>
              <a:rPr sz="1100">
                <a:solidFill>
                  <a:srgbClr val="7FAF7F"/>
                </a:solidFill>
                <a:latin typeface="Consolas"/>
              </a:rPr>
              <a:t>// the step, and how it is integrated</a:t>
            </a:r>
          </a:p>
          <a:p>
            <a:pPr>
              <a:spcAft>
                <a:spcPts val="0"/>
              </a:spcAft>
            </a:pPr>
            <a:r>
              <a:rPr sz="1100">
                <a:solidFill>
                  <a:srgbClr val="CCCCCC"/>
                </a:solidFill>
                <a:latin typeface="Consolas"/>
              </a:rPr>
              <a:t>sys.</a:t>
            </a:r>
            <a:r>
              <a:rPr sz="1100">
                <a:solidFill>
                  <a:srgbClr val="7FC7E8"/>
                </a:solidFill>
                <a:latin typeface="Consolas"/>
              </a:rPr>
              <a:t>DoStepDynamics</a:t>
            </a:r>
            <a:r>
              <a:rPr sz="1100">
                <a:solidFill>
                  <a:srgbClr val="CCCCCC"/>
                </a:solidFill>
                <a:latin typeface="Consolas"/>
              </a:rPr>
              <a:t>(step);</a:t>
            </a:r>
          </a:p>
          <a:p>
            <a:pPr>
              <a:spcAft>
                <a:spcPts val="0"/>
              </a:spcAft>
            </a:pPr>
            <a:r>
              <a:rPr sz="1100">
                <a:solidFill>
                  <a:srgbClr val="CCCCCC"/>
                </a:solidFill>
                <a:latin typeface="Consolas"/>
              </a:rPr>
              <a:t>sys.</a:t>
            </a:r>
            <a:r>
              <a:rPr sz="1100">
                <a:solidFill>
                  <a:srgbClr val="7FC7E8"/>
                </a:solidFill>
                <a:latin typeface="Consolas"/>
              </a:rPr>
              <a:t>SetTimestepperType</a:t>
            </a:r>
            <a:r>
              <a:rPr sz="1100">
                <a:solidFill>
                  <a:srgbClr val="CCCCCC"/>
                </a:solidFill>
                <a:latin typeface="Consolas"/>
              </a:rPr>
              <a:t>(</a:t>
            </a:r>
            <a:r>
              <a:rPr sz="1100">
                <a:solidFill>
                  <a:srgbClr val="F0A040"/>
                </a:solidFill>
                <a:latin typeface="Consolas"/>
              </a:rPr>
              <a:t>ChTimestepper</a:t>
            </a:r>
            <a:r>
              <a:rPr sz="1100">
                <a:solidFill>
                  <a:srgbClr val="CCCCCC"/>
                </a:solidFill>
                <a:latin typeface="Consolas"/>
              </a:rPr>
              <a:t>::Type::...);</a:t>
            </a:r>
          </a:p>
          <a:p>
            <a:pPr>
              <a:spcAft>
                <a:spcPts val="0"/>
              </a:spcAft>
            </a:pPr>
            <a:r>
              <a:rPr sz="1100">
                <a:solidFill>
                  <a:srgbClr val="CCCCCC"/>
                </a:solidFill>
                <a:latin typeface="Consolas"/>
              </a:rPr>
              <a:t> </a:t>
            </a:r>
          </a:p>
          <a:p>
            <a:pPr>
              <a:spcAft>
                <a:spcPts val="0"/>
              </a:spcAft>
            </a:pPr>
            <a:r>
              <a:rPr sz="1100">
                <a:solidFill>
                  <a:srgbClr val="7FAF7F"/>
                </a:solidFill>
                <a:latin typeface="Consolas"/>
              </a:rPr>
              <a:t>// the solver: type, and how long it is allowed to work</a:t>
            </a:r>
          </a:p>
          <a:p>
            <a:pPr>
              <a:spcAft>
                <a:spcPts val="0"/>
              </a:spcAft>
            </a:pPr>
            <a:r>
              <a:rPr sz="1100">
                <a:solidFill>
                  <a:srgbClr val="CCCCCC"/>
                </a:solidFill>
                <a:latin typeface="Consolas"/>
              </a:rPr>
              <a:t>sys.</a:t>
            </a:r>
            <a:r>
              <a:rPr sz="1100">
                <a:solidFill>
                  <a:srgbClr val="7FC7E8"/>
                </a:solidFill>
                <a:latin typeface="Consolas"/>
              </a:rPr>
              <a:t>SetSolverType</a:t>
            </a:r>
            <a:r>
              <a:rPr sz="1100">
                <a:solidFill>
                  <a:srgbClr val="CCCCCC"/>
                </a:solidFill>
                <a:latin typeface="Consolas"/>
              </a:rPr>
              <a:t>(</a:t>
            </a:r>
            <a:r>
              <a:rPr sz="1100">
                <a:solidFill>
                  <a:srgbClr val="F0A040"/>
                </a:solidFill>
                <a:latin typeface="Consolas"/>
              </a:rPr>
              <a:t>ChSolver</a:t>
            </a:r>
            <a:r>
              <a:rPr sz="1100">
                <a:solidFill>
                  <a:srgbClr val="CCCCCC"/>
                </a:solidFill>
                <a:latin typeface="Consolas"/>
              </a:rPr>
              <a:t>::Type::BARZILAIBORWEIN);</a:t>
            </a:r>
          </a:p>
          <a:p>
            <a:pPr>
              <a:spcAft>
                <a:spcPts val="0"/>
              </a:spcAft>
            </a:pPr>
            <a:r>
              <a:rPr sz="1100">
                <a:solidFill>
                  <a:srgbClr val="CCCCCC"/>
                </a:solidFill>
                <a:latin typeface="Consolas"/>
              </a:rPr>
              <a:t>sys.</a:t>
            </a:r>
            <a:r>
              <a:rPr sz="1100">
                <a:solidFill>
                  <a:srgbClr val="7FC7E8"/>
                </a:solidFill>
                <a:latin typeface="Consolas"/>
              </a:rPr>
              <a:t>GetSolver</a:t>
            </a:r>
            <a:r>
              <a:rPr sz="1100">
                <a:solidFill>
                  <a:srgbClr val="CCCCCC"/>
                </a:solidFill>
                <a:latin typeface="Consolas"/>
              </a:rPr>
              <a:t>()-&gt;</a:t>
            </a:r>
            <a:r>
              <a:rPr sz="1100">
                <a:solidFill>
                  <a:srgbClr val="7FC7E8"/>
                </a:solidFill>
                <a:latin typeface="Consolas"/>
              </a:rPr>
              <a:t>AsIterative</a:t>
            </a:r>
            <a:r>
              <a:rPr sz="1100">
                <a:solidFill>
                  <a:srgbClr val="CCCCCC"/>
                </a:solidFill>
                <a:latin typeface="Consolas"/>
              </a:rPr>
              <a:t>()-&gt;</a:t>
            </a:r>
            <a:r>
              <a:rPr sz="1100">
                <a:solidFill>
                  <a:srgbClr val="7FC7E8"/>
                </a:solidFill>
                <a:latin typeface="Consolas"/>
              </a:rPr>
              <a:t>SetMaxIterations</a:t>
            </a:r>
            <a:r>
              <a:rPr sz="1100">
                <a:solidFill>
                  <a:srgbClr val="CCCCCC"/>
                </a:solidFill>
                <a:latin typeface="Consolas"/>
              </a:rPr>
              <a:t>(n);</a:t>
            </a:r>
          </a:p>
          <a:p>
            <a:pPr>
              <a:spcAft>
                <a:spcPts val="0"/>
              </a:spcAft>
            </a:pPr>
            <a:r>
              <a:rPr sz="1100">
                <a:solidFill>
                  <a:srgbClr val="CCCCCC"/>
                </a:solidFill>
                <a:latin typeface="Consolas"/>
              </a:rPr>
              <a:t> </a:t>
            </a:r>
          </a:p>
          <a:p>
            <a:pPr>
              <a:spcAft>
                <a:spcPts val="0"/>
              </a:spcAft>
            </a:pPr>
            <a:r>
              <a:rPr sz="1100">
                <a:solidFill>
                  <a:srgbClr val="7FAF7F"/>
                </a:solidFill>
                <a:latin typeface="Consolas"/>
              </a:rPr>
              <a:t>// what the collision system is asked to do</a:t>
            </a:r>
          </a:p>
          <a:p>
            <a:pPr>
              <a:spcAft>
                <a:spcPts val="0"/>
              </a:spcAft>
            </a:pPr>
            <a:r>
              <a:rPr sz="1100">
                <a:solidFill>
                  <a:srgbClr val="CCCCCC"/>
                </a:solidFill>
                <a:latin typeface="Consolas"/>
              </a:rPr>
              <a:t>model-&gt;</a:t>
            </a:r>
            <a:r>
              <a:rPr sz="1100">
                <a:solidFill>
                  <a:srgbClr val="7FC7E8"/>
                </a:solidFill>
                <a:latin typeface="Consolas"/>
              </a:rPr>
              <a:t>SetFamily</a:t>
            </a:r>
            <a:r>
              <a:rPr sz="1100">
                <a:solidFill>
                  <a:srgbClr val="CCCCCC"/>
                </a:solidFill>
                <a:latin typeface="Consolas"/>
              </a:rPr>
              <a:t>(i);  model-&gt;</a:t>
            </a:r>
            <a:r>
              <a:rPr sz="1100">
                <a:solidFill>
                  <a:srgbClr val="7FC7E8"/>
                </a:solidFill>
                <a:latin typeface="Consolas"/>
              </a:rPr>
              <a:t>SetFamilyMask</a:t>
            </a:r>
            <a:r>
              <a:rPr sz="1100">
                <a:solidFill>
                  <a:srgbClr val="CCCCCC"/>
                </a:solidFill>
                <a:latin typeface="Consolas"/>
              </a:rPr>
              <a:t>(mask);  </a:t>
            </a:r>
            <a:r>
              <a:rPr sz="1100">
                <a:solidFill>
                  <a:srgbClr val="7FAF7F"/>
                </a:solidFill>
                <a:latin typeface="Consolas"/>
              </a:rPr>
              <a:t>// skip whole pairs</a:t>
            </a:r>
          </a:p>
          <a:p>
            <a:pPr>
              <a:spcAft>
                <a:spcPts val="0"/>
              </a:spcAft>
            </a:pPr>
            <a:r>
              <a:rPr sz="1100">
                <a:solidFill>
                  <a:srgbClr val="F0A040"/>
                </a:solidFill>
                <a:latin typeface="Consolas"/>
              </a:rPr>
              <a:t>ChCollisionModel</a:t>
            </a:r>
            <a:r>
              <a:rPr sz="1100">
                <a:solidFill>
                  <a:srgbClr val="CCCCCC"/>
                </a:solidFill>
                <a:latin typeface="Consolas"/>
              </a:rPr>
              <a:t>::</a:t>
            </a:r>
            <a:r>
              <a:rPr sz="1100">
                <a:solidFill>
                  <a:srgbClr val="7FC7E8"/>
                </a:solidFill>
                <a:latin typeface="Consolas"/>
              </a:rPr>
              <a:t>SetDefaultSuggestedEnvelope</a:t>
            </a:r>
            <a:r>
              <a:rPr sz="1100">
                <a:solidFill>
                  <a:srgbClr val="CCCCCC"/>
                </a:solidFill>
                <a:latin typeface="Consolas"/>
              </a:rPr>
              <a:t>(e);   </a:t>
            </a:r>
            <a:r>
              <a:rPr sz="1100">
                <a:solidFill>
                  <a:srgbClr val="7FAF7F"/>
                </a:solidFill>
                <a:latin typeface="Consolas"/>
              </a:rPr>
              <a:t>// contact envelope</a:t>
            </a:r>
          </a:p>
          <a:p>
            <a:pPr>
              <a:spcAft>
                <a:spcPts val="0"/>
              </a:spcAft>
            </a:pPr>
            <a:r>
              <a:rPr sz="1100">
                <a:solidFill>
                  <a:srgbClr val="F0A040"/>
                </a:solidFill>
                <a:latin typeface="Consolas"/>
              </a:rPr>
              <a:t>ChCollisionModel</a:t>
            </a:r>
            <a:r>
              <a:rPr sz="1100">
                <a:solidFill>
                  <a:srgbClr val="CCCCCC"/>
                </a:solidFill>
                <a:latin typeface="Consolas"/>
              </a:rPr>
              <a:t>::</a:t>
            </a:r>
            <a:r>
              <a:rPr sz="1100">
                <a:solidFill>
                  <a:srgbClr val="7FC7E8"/>
                </a:solidFill>
                <a:latin typeface="Consolas"/>
              </a:rPr>
              <a:t>SetDefaultSuggestedMargin</a:t>
            </a:r>
            <a:r>
              <a:rPr sz="1100">
                <a:solidFill>
                  <a:srgbClr val="CCCCCC"/>
                </a:solidFill>
                <a:latin typeface="Consolas"/>
              </a:rPr>
              <a:t>(m);</a:t>
            </a:r>
          </a:p>
          <a:p>
            <a:pPr>
              <a:spcAft>
                <a:spcPts val="0"/>
              </a:spcAft>
            </a:pPr>
            <a:r>
              <a:rPr sz="1100">
                <a:solidFill>
                  <a:srgbClr val="CCCCCC"/>
                </a:solidFill>
                <a:latin typeface="Consolas"/>
              </a:rPr>
              <a:t> </a:t>
            </a:r>
          </a:p>
          <a:p>
            <a:pPr>
              <a:spcAft>
                <a:spcPts val="0"/>
              </a:spcAft>
            </a:pPr>
            <a:r>
              <a:rPr sz="1100">
                <a:solidFill>
                  <a:srgbClr val="7FAF7F"/>
                </a:solidFill>
                <a:latin typeface="Consolas"/>
              </a:rPr>
              <a:t>// where the expensive physics is allowed to happen</a:t>
            </a:r>
          </a:p>
          <a:p>
            <a:pPr>
              <a:spcAft>
                <a:spcPts val="0"/>
              </a:spcAft>
            </a:pPr>
            <a:r>
              <a:rPr sz="1100">
                <a:solidFill>
                  <a:srgbClr val="CCCCCC"/>
                </a:solidFill>
                <a:latin typeface="Consolas"/>
              </a:rPr>
              <a:t>SCMTerrain::</a:t>
            </a:r>
            <a:r>
              <a:rPr sz="1100">
                <a:solidFill>
                  <a:srgbClr val="7FC7E8"/>
                </a:solidFill>
                <a:latin typeface="Consolas"/>
              </a:rPr>
              <a:t>AddActiveDomain</a:t>
            </a:r>
            <a:r>
              <a:rPr sz="1100">
                <a:solidFill>
                  <a:srgbClr val="CCCCCC"/>
                </a:solidFill>
                <a:latin typeface="Consolas"/>
              </a:rPr>
              <a:t>(body, ...);   </a:t>
            </a:r>
            <a:r>
              <a:rPr sz="1100">
                <a:solidFill>
                  <a:srgbClr val="7FAF7F"/>
                </a:solidFill>
                <a:latin typeface="Consolas"/>
              </a:rPr>
              <a:t>// deform near the wheels only</a:t>
            </a:r>
          </a:p>
          <a:p>
            <a:pPr>
              <a:spcAft>
                <a:spcPts val="0"/>
              </a:spcAft>
            </a:pPr>
            <a:r>
              <a:rPr sz="1100">
                <a:solidFill>
                  <a:srgbClr val="F0A040"/>
                </a:solidFill>
                <a:latin typeface="Consolas"/>
              </a:rPr>
              <a:t>ChFsiSystemSPH</a:t>
            </a:r>
            <a:r>
              <a:rPr sz="1100">
                <a:solidFill>
                  <a:srgbClr val="CCCCCC"/>
                </a:solidFill>
                <a:latin typeface="Consolas"/>
              </a:rPr>
              <a:t>::</a:t>
            </a:r>
            <a:r>
              <a:rPr sz="1100">
                <a:solidFill>
                  <a:srgbClr val="7FC7E8"/>
                </a:solidFill>
                <a:latin typeface="Consolas"/>
              </a:rPr>
              <a:t>SetActiveDomain</a:t>
            </a:r>
            <a:r>
              <a:rPr sz="1100">
                <a:solidFill>
                  <a:srgbClr val="CCCCCC"/>
                </a:solidFill>
                <a:latin typeface="Consolas"/>
              </a:rPr>
              <a:t>(box);     </a:t>
            </a:r>
            <a:r>
              <a:rPr sz="1100">
                <a:solidFill>
                  <a:srgbClr val="7FAF7F"/>
                </a:solidFill>
                <a:latin typeface="Consolas"/>
              </a:rPr>
              <a:t>// fluid where it matters only</a:t>
            </a:r>
          </a:p>
          <a:p>
            <a:pPr>
              <a:spcAft>
                <a:spcPts val="0"/>
              </a:spcAft>
            </a:pPr>
            <a:r>
              <a:rPr sz="1100">
                <a:solidFill>
                  <a:srgbClr val="CCCCCC"/>
                </a:solidFill>
                <a:latin typeface="Consolas"/>
              </a:rPr>
              <a:t> </a:t>
            </a:r>
          </a:p>
          <a:p>
            <a:pPr>
              <a:spcAft>
                <a:spcPts val="0"/>
              </a:spcAft>
            </a:pPr>
            <a:r>
              <a:rPr sz="1100">
                <a:solidFill>
                  <a:srgbClr val="7FAF7F"/>
                </a:solidFill>
                <a:latin typeface="Consolas"/>
              </a:rPr>
              <a:t>// spend less on what is not moving, or not detailed</a:t>
            </a:r>
          </a:p>
          <a:p>
            <a:pPr>
              <a:spcAft>
                <a:spcPts val="0"/>
              </a:spcAft>
            </a:pPr>
            <a:r>
              <a:rPr sz="1100">
                <a:solidFill>
                  <a:srgbClr val="CCCCCC"/>
                </a:solidFill>
                <a:latin typeface="Consolas"/>
              </a:rPr>
              <a:t>sys.</a:t>
            </a:r>
            <a:r>
              <a:rPr sz="1100">
                <a:solidFill>
                  <a:srgbClr val="7FC7E8"/>
                </a:solidFill>
                <a:latin typeface="Consolas"/>
              </a:rPr>
              <a:t>SetNumThreads</a:t>
            </a:r>
            <a:r>
              <a:rPr sz="1100">
                <a:solidFill>
                  <a:srgbClr val="CCCCCC"/>
                </a:solidFill>
                <a:latin typeface="Consolas"/>
              </a:rPr>
              <a:t>(n_chrono, n_collision, n_eigen);  </a:t>
            </a:r>
            <a:r>
              <a:rPr sz="1100">
                <a:solidFill>
                  <a:srgbClr val="7FAF7F"/>
                </a:solidFill>
                <a:latin typeface="Consolas"/>
              </a:rPr>
              <a:t>// three pools</a:t>
            </a:r>
          </a:p>
          <a:p>
            <a:pPr>
              <a:spcAft>
                <a:spcPts val="0"/>
              </a:spcAft>
            </a:pPr>
            <a:r>
              <a:rPr sz="1100">
                <a:solidFill>
                  <a:srgbClr val="CCCCCC"/>
                </a:solidFill>
                <a:latin typeface="Consolas"/>
              </a:rPr>
              <a:t>sys.</a:t>
            </a:r>
            <a:r>
              <a:rPr sz="1100">
                <a:solidFill>
                  <a:srgbClr val="7FC7E8"/>
                </a:solidFill>
                <a:latin typeface="Consolas"/>
              </a:rPr>
              <a:t>SetSleepingAllowed</a:t>
            </a:r>
            <a:r>
              <a:rPr sz="1100">
                <a:solidFill>
                  <a:srgbClr val="CCCCCC"/>
                </a:solidFill>
                <a:latin typeface="Consolas"/>
              </a:rPr>
              <a:t>(true);             </a:t>
            </a:r>
            <a:r>
              <a:rPr sz="1100">
                <a:solidFill>
                  <a:srgbClr val="7FAF7F"/>
                </a:solidFill>
                <a:latin typeface="Consolas"/>
              </a:rPr>
              <a:t>// bodies at rest drop out</a:t>
            </a:r>
          </a:p>
          <a:p>
            <a:pPr>
              <a:spcAft>
                <a:spcPts val="0"/>
              </a:spcAft>
            </a:pPr>
            <a:r>
              <a:rPr sz="1100">
                <a:solidFill>
                  <a:srgbClr val="F0A040"/>
                </a:solidFill>
                <a:latin typeface="Consolas"/>
              </a:rPr>
              <a:t>ChModalAssembly</a:t>
            </a:r>
            <a:r>
              <a:rPr sz="1100">
                <a:solidFill>
                  <a:srgbClr val="CCCCCC"/>
                </a:solidFill>
                <a:latin typeface="Consolas"/>
              </a:rPr>
              <a:t>::</a:t>
            </a:r>
            <a:r>
              <a:rPr sz="1100">
                <a:solidFill>
                  <a:srgbClr val="7FC7E8"/>
                </a:solidFill>
                <a:latin typeface="Consolas"/>
              </a:rPr>
              <a:t>DoModalReduction</a:t>
            </a:r>
            <a:r>
              <a:rPr sz="1100">
                <a:solidFill>
                  <a:srgbClr val="CCCCCC"/>
                </a:solidFill>
                <a:latin typeface="Consolas"/>
              </a:rPr>
              <a:t>(...);   </a:t>
            </a:r>
            <a:r>
              <a:rPr sz="1100">
                <a:solidFill>
                  <a:srgbClr val="7FAF7F"/>
                </a:solidFill>
                <a:latin typeface="Consolas"/>
              </a:rPr>
              <a:t>// internal DOFs -&gt; a few modes</a:t>
            </a:r>
          </a:p>
        </p:txBody>
      </p:sp>
      <p:sp>
        <p:nvSpPr>
          <p:cNvPr id="4" name="NoteBox"/>
          <p:cNvSpPr txBox="1"/>
          <p:nvPr/>
        </p:nvSpPr>
        <p:spPr>
          <a:xfrm>
            <a:off x="402336" y="5258181"/>
            <a:ext cx="11393424" cy="713232"/>
          </a:xfrm>
          <a:prstGeom prst="rect">
            <a:avLst/>
          </a:prstGeom>
          <a:noFill/>
        </p:spPr>
        <p:txBody>
          <a:bodyPr wrap="square">
            <a:spAutoFit/>
          </a:bodyPr>
          <a:lstStyle/>
          <a:p>
            <a:pPr>
              <a:spcAft>
                <a:spcPts val="400"/>
              </a:spcAft>
            </a:pPr>
            <a:r>
              <a:rPr sz="1600"/>
              <a:t>Every one of these is a real-time decision before it is a fidelity decision, and most of them are one line.</a:t>
            </a:r>
          </a:p>
        </p:txBody>
      </p:sp>
      <p:sp>
        <p:nvSpPr>
          <p:cNvPr id="5"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6" name="PageNo"/>
          <p:cNvSpPr txBox="1"/>
          <p:nvPr/>
        </p:nvSpPr>
        <p:spPr>
          <a:xfrm>
            <a:off x="10250424" y="6647688"/>
            <a:ext cx="1709928" cy="192024"/>
          </a:xfrm>
          <a:prstGeom prst="rect">
            <a:avLst/>
          </a:prstGeom>
          <a:noFill/>
        </p:spPr>
        <p:txBody>
          <a:bodyPr wrap="none">
            <a:spAutoFit/>
          </a:bodyPr>
          <a:lstStyle/>
          <a:p>
            <a:pPr algn="r"/>
            <a:r>
              <a:rPr sz="1000"/>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Requirement 1: a path into the state</a:t>
            </a:r>
          </a:p>
        </p:txBody>
      </p:sp>
      <p:sp>
        <p:nvSpPr>
          <p:cNvPr id="3" name="Text Placeholder 2"/>
          <p:cNvSpPr>
            <a:spLocks noGrp="1"/>
          </p:cNvSpPr>
          <p:nvPr>
            <p:ph type="body" idx="1"/>
          </p:nvPr>
        </p:nvSpPr>
        <p:spPr/>
        <p:txBody>
          <a:bodyPr/>
          <a:lstStyle/>
          <a:p>
            <a:r>
              <a:t>how a person's action actually reaches the equations</a:t>
            </a:r>
          </a:p>
        </p:txBody>
      </p:sp>
      <p:sp>
        <p:nvSpPr>
          <p:cNvPr id="4"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5" name="PageNo"/>
          <p:cNvSpPr txBox="1"/>
          <p:nvPr/>
        </p:nvSpPr>
        <p:spPr>
          <a:xfrm>
            <a:off x="10250424" y="6647688"/>
            <a:ext cx="1709928" cy="192024"/>
          </a:xfrm>
          <a:prstGeom prst="rect">
            <a:avLst/>
          </a:prstGeom>
          <a:noFill/>
        </p:spPr>
        <p:txBody>
          <a:bodyPr wrap="none">
            <a:spAutoFit/>
          </a:bodyPr>
          <a:lstStyle/>
          <a:p>
            <a:pPr algn="r"/>
            <a:r>
              <a:rPr sz="1000"/>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Three ways a person's input enters a Chrono simulation</a:t>
            </a:r>
          </a:p>
        </p:txBody>
      </p:sp>
      <p:sp>
        <p:nvSpPr>
          <p:cNvPr id="3" name="Rounded Rectangle 2"/>
          <p:cNvSpPr/>
          <p:nvPr/>
        </p:nvSpPr>
        <p:spPr>
          <a:xfrm>
            <a:off x="457200" y="1874519"/>
            <a:ext cx="3566160" cy="1554480"/>
          </a:xfrm>
          <a:prstGeom prst="roundRect">
            <a:avLst/>
          </a:prstGeom>
          <a:solidFill>
            <a:srgbClr val="1F3864"/>
          </a:solidFill>
          <a:ln w="12700">
            <a:solidFill>
              <a:srgbClr val="0B1E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As driver inputs</a:t>
            </a:r>
          </a:p>
          <a:p>
            <a:pPr algn="ctr"/>
            <a:r>
              <a:rPr sz="1400">
                <a:solidFill>
                  <a:srgbClr val="FFFFFF"/>
                </a:solidFill>
              </a:rPr>
              <a:t>ChDriver / ChInteractiveDriver</a:t>
            </a:r>
          </a:p>
          <a:p>
            <a:pPr algn="ctr"/>
            <a:r>
              <a:rPr sz="1400">
                <a:solidFill>
                  <a:srgbClr val="FFFFFF"/>
                </a:solidFill>
              </a:rPr>
              <a:t>steering, throttle, braking</a:t>
            </a:r>
          </a:p>
        </p:txBody>
      </p:sp>
      <p:sp>
        <p:nvSpPr>
          <p:cNvPr id="4" name="Rounded Rectangle 3"/>
          <p:cNvSpPr/>
          <p:nvPr/>
        </p:nvSpPr>
        <p:spPr>
          <a:xfrm>
            <a:off x="4315968" y="1874519"/>
            <a:ext cx="3566160" cy="1554480"/>
          </a:xfrm>
          <a:prstGeom prst="roundRect">
            <a:avLst/>
          </a:prstGeom>
          <a:solidFill>
            <a:srgbClr val="1F3864"/>
          </a:solidFill>
          <a:ln w="12700">
            <a:solidFill>
              <a:srgbClr val="0B1E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As a force or constraint</a:t>
            </a:r>
          </a:p>
          <a:p>
            <a:pPr algn="ctr"/>
            <a:r>
              <a:rPr sz="1400">
                <a:solidFill>
                  <a:srgbClr val="FFFFFF"/>
                </a:solidFill>
              </a:rPr>
              <a:t>AccumulateForce, ChLinkTSDA</a:t>
            </a:r>
          </a:p>
          <a:p>
            <a:pPr algn="ctr"/>
            <a:r>
              <a:rPr sz="1400">
                <a:solidFill>
                  <a:srgbClr val="FFFFFF"/>
                </a:solidFill>
              </a:rPr>
              <a:t>on any body, any scene</a:t>
            </a:r>
          </a:p>
        </p:txBody>
      </p:sp>
      <p:sp>
        <p:nvSpPr>
          <p:cNvPr id="5" name="Rounded Rectangle 4"/>
          <p:cNvSpPr/>
          <p:nvPr/>
        </p:nvSpPr>
        <p:spPr>
          <a:xfrm>
            <a:off x="8174736" y="1874519"/>
            <a:ext cx="3566160" cy="1554480"/>
          </a:xfrm>
          <a:prstGeom prst="roundRect">
            <a:avLst/>
          </a:prstGeom>
          <a:solidFill>
            <a:srgbClr val="1F3864"/>
          </a:solidFill>
          <a:ln w="12700">
            <a:solidFill>
              <a:srgbClr val="0B1E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As a pose you set</a:t>
            </a:r>
          </a:p>
          <a:p>
            <a:pPr algn="ctr"/>
            <a:r>
              <a:rPr sz="1400">
                <a:solidFill>
                  <a:srgbClr val="FFFFFF"/>
                </a:solidFill>
              </a:rPr>
              <a:t>SetPos / SetRot</a:t>
            </a:r>
          </a:p>
          <a:p>
            <a:pPr algn="ctr"/>
            <a:r>
              <a:rPr sz="1400">
                <a:solidFill>
                  <a:srgbClr val="FFFFFF"/>
                </a:solidFill>
              </a:rPr>
              <a:t>kinematic placement</a:t>
            </a:r>
          </a:p>
        </p:txBody>
      </p:sp>
      <p:sp>
        <p:nvSpPr>
          <p:cNvPr id="6" name="TextBox 5"/>
          <p:cNvSpPr txBox="1"/>
          <p:nvPr/>
        </p:nvSpPr>
        <p:spPr>
          <a:xfrm>
            <a:off x="457200" y="3566160"/>
            <a:ext cx="3566160" cy="457200"/>
          </a:xfrm>
          <a:prstGeom prst="rect">
            <a:avLst/>
          </a:prstGeom>
          <a:noFill/>
        </p:spPr>
        <p:txBody>
          <a:bodyPr wrap="square">
            <a:spAutoFit/>
          </a:bodyPr>
          <a:lstStyle/>
          <a:p>
            <a:pPr algn="ctr"/>
            <a:r>
              <a:rPr sz="1500"/>
              <a:t>the vehicle demos  (Parts 2-4)</a:t>
            </a:r>
          </a:p>
        </p:txBody>
      </p:sp>
      <p:sp>
        <p:nvSpPr>
          <p:cNvPr id="7" name="TextBox 6"/>
          <p:cNvSpPr txBox="1"/>
          <p:nvPr/>
        </p:nvSpPr>
        <p:spPr>
          <a:xfrm>
            <a:off x="4315968" y="3566160"/>
            <a:ext cx="3566160" cy="457200"/>
          </a:xfrm>
          <a:prstGeom prst="rect">
            <a:avLst/>
          </a:prstGeom>
          <a:noFill/>
        </p:spPr>
        <p:txBody>
          <a:bodyPr wrap="square">
            <a:spAutoFit/>
          </a:bodyPr>
          <a:lstStyle/>
          <a:p>
            <a:pPr algn="ctr"/>
            <a:r>
              <a:rPr sz="1500"/>
              <a:t>the drag and push demos  (Parts 9-10)</a:t>
            </a:r>
          </a:p>
        </p:txBody>
      </p:sp>
      <p:sp>
        <p:nvSpPr>
          <p:cNvPr id="8" name="TextBox 7"/>
          <p:cNvSpPr txBox="1"/>
          <p:nvPr/>
        </p:nvSpPr>
        <p:spPr>
          <a:xfrm>
            <a:off x="8174736" y="3566160"/>
            <a:ext cx="3566160" cy="457200"/>
          </a:xfrm>
          <a:prstGeom prst="rect">
            <a:avLst/>
          </a:prstGeom>
          <a:noFill/>
        </p:spPr>
        <p:txBody>
          <a:bodyPr wrap="square">
            <a:spAutoFit/>
          </a:bodyPr>
          <a:lstStyle/>
          <a:p>
            <a:pPr algn="ctr"/>
            <a:r>
              <a:rPr sz="1500"/>
              <a:t>the placement tool</a:t>
            </a:r>
          </a:p>
        </p:txBody>
      </p:sp>
      <p:sp>
        <p:nvSpPr>
          <p:cNvPr id="9" name="TextBox 8"/>
          <p:cNvSpPr txBox="1"/>
          <p:nvPr/>
        </p:nvSpPr>
        <p:spPr>
          <a:xfrm>
            <a:off x="457200" y="4069080"/>
            <a:ext cx="3566160" cy="457200"/>
          </a:xfrm>
          <a:prstGeom prst="rect">
            <a:avLst/>
          </a:prstGeom>
          <a:noFill/>
        </p:spPr>
        <p:txBody>
          <a:bodyPr wrap="square">
            <a:spAutoFit/>
          </a:bodyPr>
          <a:lstStyle/>
          <a:p>
            <a:pPr algn="ctr"/>
            <a:r>
              <a:rPr sz="1500">
                <a:solidFill>
                  <a:srgbClr val="C5050C"/>
                </a:solidFill>
              </a:rPr>
              <a:t>IN the loop</a:t>
            </a:r>
          </a:p>
        </p:txBody>
      </p:sp>
      <p:sp>
        <p:nvSpPr>
          <p:cNvPr id="10" name="TextBox 9"/>
          <p:cNvSpPr txBox="1"/>
          <p:nvPr/>
        </p:nvSpPr>
        <p:spPr>
          <a:xfrm>
            <a:off x="4315968" y="4069080"/>
            <a:ext cx="3566160" cy="457200"/>
          </a:xfrm>
          <a:prstGeom prst="rect">
            <a:avLst/>
          </a:prstGeom>
          <a:noFill/>
        </p:spPr>
        <p:txBody>
          <a:bodyPr wrap="square">
            <a:spAutoFit/>
          </a:bodyPr>
          <a:lstStyle/>
          <a:p>
            <a:pPr algn="ctr"/>
            <a:r>
              <a:rPr sz="1500">
                <a:solidFill>
                  <a:srgbClr val="C5050C"/>
                </a:solidFill>
              </a:rPr>
              <a:t>IN the loop</a:t>
            </a:r>
          </a:p>
        </p:txBody>
      </p:sp>
      <p:sp>
        <p:nvSpPr>
          <p:cNvPr id="11" name="TextBox 10"/>
          <p:cNvSpPr txBox="1"/>
          <p:nvPr/>
        </p:nvSpPr>
        <p:spPr>
          <a:xfrm>
            <a:off x="8174736" y="4069080"/>
            <a:ext cx="3566160" cy="457200"/>
          </a:xfrm>
          <a:prstGeom prst="rect">
            <a:avLst/>
          </a:prstGeom>
          <a:noFill/>
        </p:spPr>
        <p:txBody>
          <a:bodyPr wrap="square">
            <a:spAutoFit/>
          </a:bodyPr>
          <a:lstStyle/>
          <a:p>
            <a:pPr algn="ctr"/>
            <a:r>
              <a:rPr sz="1500"/>
              <a:t>not in the loop</a:t>
            </a:r>
          </a:p>
        </p:txBody>
      </p:sp>
      <p:sp>
        <p:nvSpPr>
          <p:cNvPr id="12" name="NoteBox"/>
          <p:cNvSpPr txBox="1"/>
          <p:nvPr/>
        </p:nvSpPr>
        <p:spPr>
          <a:xfrm>
            <a:off x="402336" y="4709160"/>
            <a:ext cx="11393424" cy="2084832"/>
          </a:xfrm>
          <a:prstGeom prst="rect">
            <a:avLst/>
          </a:prstGeom>
          <a:noFill/>
        </p:spPr>
        <p:txBody>
          <a:bodyPr wrap="square">
            <a:spAutoFit/>
          </a:bodyPr>
          <a:lstStyle/>
          <a:p>
            <a:pPr>
              <a:spcAft>
                <a:spcPts val="400"/>
              </a:spcAft>
            </a:pPr>
            <a:r>
              <a:rPr sz="1600"/>
              <a:t>The left column is the privileged one, and it is privileged for a reason: vehicles are this lab's bread and butter, so they are what got a purpose-built human-input class. That machinery lives in Chrono::Vehicle, so a crane or a robot cannot reach it.</a:t>
            </a:r>
          </a:p>
          <a:p>
            <a:pPr>
              <a:spcAft>
                <a:spcPts val="400"/>
              </a:spcAft>
            </a:pPr>
            <a:r>
              <a:rPr sz="1600"/>
              <a:t>The middle column is the general one, and it is how everything that is not a vehicle gets a person into its loop.</a:t>
            </a:r>
          </a:p>
          <a:p>
            <a:pPr>
              <a:spcAft>
                <a:spcPts val="400"/>
              </a:spcAft>
            </a:pPr>
            <a:r>
              <a:rPr sz="1600"/>
              <a:t>The right-hand column is honest about itself: nothing reacts to a pose you set, so nothing closes the loop.</a:t>
            </a:r>
          </a:p>
        </p:txBody>
      </p:sp>
      <p:sp>
        <p:nvSpPr>
          <p:cNvPr id="13"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14" name="PageNo"/>
          <p:cNvSpPr txBox="1"/>
          <p:nvPr/>
        </p:nvSpPr>
        <p:spPr>
          <a:xfrm>
            <a:off x="10250424" y="6647688"/>
            <a:ext cx="1709928" cy="192024"/>
          </a:xfrm>
          <a:prstGeom prst="rect">
            <a:avLst/>
          </a:prstGeom>
          <a:noFill/>
        </p:spPr>
        <p:txBody>
          <a:bodyPr wrap="none">
            <a:spAutoFit/>
          </a:bodyPr>
          <a:lstStyle/>
          <a:p>
            <a:pPr algn="r"/>
            <a:r>
              <a:rPr sz="1000"/>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Feeding driver input: the ChDriver surface</a:t>
            </a:r>
          </a:p>
        </p:txBody>
      </p:sp>
      <p:sp>
        <p:nvSpPr>
          <p:cNvPr id="3" name="CodeBox"/>
          <p:cNvSpPr txBox="1"/>
          <p:nvPr/>
        </p:nvSpPr>
        <p:spPr>
          <a:xfrm>
            <a:off x="0" y="1207008"/>
            <a:ext cx="12188952" cy="3017519"/>
          </a:xfrm>
          <a:prstGeom prst="rect">
            <a:avLst/>
          </a:prstGeom>
          <a:solidFill>
            <a:srgbClr val="000000"/>
          </a:solidFill>
        </p:spPr>
        <p:txBody>
          <a:bodyPr wrap="none" lIns="320040" tIns="91440">
            <a:spAutoFit/>
          </a:bodyPr>
          <a:lstStyle/>
          <a:p>
            <a:pPr>
              <a:spcAft>
                <a:spcPts val="0"/>
              </a:spcAft>
            </a:pPr>
            <a:r>
              <a:rPr sz="900">
                <a:solidFill>
                  <a:srgbClr val="7FAF7F"/>
                </a:solidFill>
                <a:latin typeface="Consolas"/>
              </a:rPr>
              <a:t>// chrono_vehicle/ChDriver.h -- what EVERY driver exposes, human or not</a:t>
            </a:r>
          </a:p>
          <a:p>
            <a:pPr>
              <a:spcAft>
                <a:spcPts val="0"/>
              </a:spcAft>
            </a:pPr>
            <a:r>
              <a:rPr sz="900">
                <a:solidFill>
                  <a:srgbClr val="CCCCCC"/>
                </a:solidFill>
                <a:latin typeface="Consolas"/>
              </a:rPr>
              <a:t>class </a:t>
            </a:r>
            <a:r>
              <a:rPr sz="900">
                <a:solidFill>
                  <a:srgbClr val="F0A040"/>
                </a:solidFill>
                <a:latin typeface="Consolas"/>
              </a:rPr>
              <a:t>ChDriver</a:t>
            </a:r>
            <a:r>
              <a:rPr sz="900">
                <a:solidFill>
                  <a:srgbClr val="CCCCCC"/>
                </a:solidFill>
                <a:latin typeface="Consolas"/>
              </a:rPr>
              <a:t> {</a:t>
            </a:r>
          </a:p>
          <a:p>
            <a:pPr>
              <a:spcAft>
                <a:spcPts val="0"/>
              </a:spcAft>
            </a:pPr>
            <a:r>
              <a:rPr sz="900">
                <a:solidFill>
                  <a:srgbClr val="CCCCCC"/>
                </a:solidFill>
                <a:latin typeface="Consolas"/>
              </a:rPr>
              <a:t>    void </a:t>
            </a:r>
            <a:r>
              <a:rPr sz="900">
                <a:solidFill>
                  <a:srgbClr val="7FC7E8"/>
                </a:solidFill>
                <a:latin typeface="Consolas"/>
              </a:rPr>
              <a:t>SetSteering</a:t>
            </a:r>
            <a:r>
              <a:rPr sz="900">
                <a:solidFill>
                  <a:srgbClr val="CCCCCC"/>
                </a:solidFill>
                <a:latin typeface="Consolas"/>
              </a:rPr>
              <a:t>(double s);   </a:t>
            </a:r>
            <a:r>
              <a:rPr sz="900">
                <a:solidFill>
                  <a:srgbClr val="7FAF7F"/>
                </a:solidFill>
                <a:latin typeface="Consolas"/>
              </a:rPr>
              <a:t>// -1 .. +1</a:t>
            </a:r>
          </a:p>
          <a:p>
            <a:pPr>
              <a:spcAft>
                <a:spcPts val="0"/>
              </a:spcAft>
            </a:pPr>
            <a:r>
              <a:rPr sz="900">
                <a:solidFill>
                  <a:srgbClr val="CCCCCC"/>
                </a:solidFill>
                <a:latin typeface="Consolas"/>
              </a:rPr>
              <a:t>    void </a:t>
            </a:r>
            <a:r>
              <a:rPr sz="900">
                <a:solidFill>
                  <a:srgbClr val="7FC7E8"/>
                </a:solidFill>
                <a:latin typeface="Consolas"/>
              </a:rPr>
              <a:t>SetThrottle</a:t>
            </a:r>
            <a:r>
              <a:rPr sz="900">
                <a:solidFill>
                  <a:srgbClr val="CCCCCC"/>
                </a:solidFill>
                <a:latin typeface="Consolas"/>
              </a:rPr>
              <a:t>(double t);   </a:t>
            </a:r>
            <a:r>
              <a:rPr sz="900">
                <a:solidFill>
                  <a:srgbClr val="7FAF7F"/>
                </a:solidFill>
                <a:latin typeface="Consolas"/>
              </a:rPr>
              <a:t>//  0 .. 1</a:t>
            </a:r>
          </a:p>
          <a:p>
            <a:pPr>
              <a:spcAft>
                <a:spcPts val="0"/>
              </a:spcAft>
            </a:pPr>
            <a:r>
              <a:rPr sz="900">
                <a:solidFill>
                  <a:srgbClr val="CCCCCC"/>
                </a:solidFill>
                <a:latin typeface="Consolas"/>
              </a:rPr>
              <a:t>    void </a:t>
            </a:r>
            <a:r>
              <a:rPr sz="900">
                <a:solidFill>
                  <a:srgbClr val="7FC7E8"/>
                </a:solidFill>
                <a:latin typeface="Consolas"/>
              </a:rPr>
              <a:t>SetBraking</a:t>
            </a:r>
            <a:r>
              <a:rPr sz="900">
                <a:solidFill>
                  <a:srgbClr val="CCCCCC"/>
                </a:solidFill>
                <a:latin typeface="Consolas"/>
              </a:rPr>
              <a:t>(double b);    </a:t>
            </a:r>
            <a:r>
              <a:rPr sz="900">
                <a:solidFill>
                  <a:srgbClr val="7FAF7F"/>
                </a:solidFill>
                <a:latin typeface="Consolas"/>
              </a:rPr>
              <a:t>//  0 .. 1</a:t>
            </a:r>
          </a:p>
          <a:p>
            <a:pPr>
              <a:spcAft>
                <a:spcPts val="0"/>
              </a:spcAft>
            </a:pPr>
            <a:r>
              <a:rPr sz="900">
                <a:solidFill>
                  <a:srgbClr val="CCCCCC"/>
                </a:solidFill>
                <a:latin typeface="Consolas"/>
              </a:rPr>
              <a:t>    void </a:t>
            </a:r>
            <a:r>
              <a:rPr sz="900">
                <a:solidFill>
                  <a:srgbClr val="7FC7E8"/>
                </a:solidFill>
                <a:latin typeface="Consolas"/>
              </a:rPr>
              <a:t>SetClutch</a:t>
            </a:r>
            <a:r>
              <a:rPr sz="900">
                <a:solidFill>
                  <a:srgbClr val="CCCCCC"/>
                </a:solidFill>
                <a:latin typeface="Consolas"/>
              </a:rPr>
              <a:t>(double c);     </a:t>
            </a:r>
            <a:r>
              <a:rPr sz="900">
                <a:solidFill>
                  <a:srgbClr val="7FAF7F"/>
                </a:solidFill>
                <a:latin typeface="Consolas"/>
              </a:rPr>
              <a:t>//  0 .. 1</a:t>
            </a:r>
          </a:p>
          <a:p>
            <a:pPr>
              <a:spcAft>
                <a:spcPts val="0"/>
              </a:spcAft>
            </a:pPr>
            <a:r>
              <a:rPr sz="900">
                <a:solidFill>
                  <a:srgbClr val="CCCCCC"/>
                </a:solidFill>
                <a:latin typeface="Consolas"/>
              </a:rPr>
              <a:t>    DriverInputs </a:t>
            </a:r>
            <a:r>
              <a:rPr sz="900">
                <a:solidFill>
                  <a:srgbClr val="7FC7E8"/>
                </a:solidFill>
                <a:latin typeface="Consolas"/>
              </a:rPr>
              <a:t>GetInputs</a:t>
            </a:r>
            <a:r>
              <a:rPr sz="900">
                <a:solidFill>
                  <a:srgbClr val="CCCCCC"/>
                </a:solidFill>
                <a:latin typeface="Consolas"/>
              </a:rPr>
              <a:t>() const;</a:t>
            </a:r>
          </a:p>
          <a:p>
            <a:pPr>
              <a:spcAft>
                <a:spcPts val="0"/>
              </a:spcAft>
            </a:pPr>
            <a:r>
              <a:rPr sz="900">
                <a:solidFill>
                  <a:srgbClr val="CCCCCC"/>
                </a:solidFill>
                <a:latin typeface="Consolas"/>
              </a:rPr>
              <a:t>    virtual void </a:t>
            </a:r>
            <a:r>
              <a:rPr sz="900">
                <a:solidFill>
                  <a:srgbClr val="7FC7E8"/>
                </a:solidFill>
                <a:latin typeface="Consolas"/>
              </a:rPr>
              <a:t>Synchronize</a:t>
            </a:r>
            <a:r>
              <a:rPr sz="900">
                <a:solidFill>
                  <a:srgbClr val="CCCCCC"/>
                </a:solidFill>
                <a:latin typeface="Consolas"/>
              </a:rPr>
              <a:t>(double time);  </a:t>
            </a:r>
            <a:r>
              <a:rPr sz="900">
                <a:solidFill>
                  <a:srgbClr val="7FAF7F"/>
                </a:solidFill>
                <a:latin typeface="Consolas"/>
              </a:rPr>
              <a:t>// read the world</a:t>
            </a:r>
          </a:p>
          <a:p>
            <a:pPr>
              <a:spcAft>
                <a:spcPts val="0"/>
              </a:spcAft>
            </a:pPr>
            <a:r>
              <a:rPr sz="900">
                <a:solidFill>
                  <a:srgbClr val="CCCCCC"/>
                </a:solidFill>
                <a:latin typeface="Consolas"/>
              </a:rPr>
              <a:t>    virtual void </a:t>
            </a:r>
            <a:r>
              <a:rPr sz="900">
                <a:solidFill>
                  <a:srgbClr val="7FC7E8"/>
                </a:solidFill>
                <a:latin typeface="Consolas"/>
              </a:rPr>
              <a:t>Advance</a:t>
            </a:r>
            <a:r>
              <a:rPr sz="900">
                <a:solidFill>
                  <a:srgbClr val="CCCCCC"/>
                </a:solidFill>
                <a:latin typeface="Consolas"/>
              </a:rPr>
              <a:t>(double step);      </a:t>
            </a:r>
            <a:r>
              <a:rPr sz="900">
                <a:solidFill>
                  <a:srgbClr val="7FAF7F"/>
                </a:solidFill>
                <a:latin typeface="Consolas"/>
              </a:rPr>
              <a:t>// advance own state</a:t>
            </a:r>
          </a:p>
          <a:p>
            <a:pPr>
              <a:spcAft>
                <a:spcPts val="0"/>
              </a:spcAft>
            </a:pPr>
            <a:r>
              <a:rPr sz="900">
                <a:solidFill>
                  <a:srgbClr val="CCCCCC"/>
                </a:solidFill>
                <a:latin typeface="Consolas"/>
              </a:rPr>
              <a:t>};</a:t>
            </a:r>
          </a:p>
          <a:p>
            <a:pPr>
              <a:spcAft>
                <a:spcPts val="0"/>
              </a:spcAft>
            </a:pPr>
            <a:r>
              <a:rPr sz="900">
                <a:solidFill>
                  <a:srgbClr val="CCCCCC"/>
                </a:solidFill>
                <a:latin typeface="Consolas"/>
              </a:rPr>
              <a:t> </a:t>
            </a:r>
          </a:p>
          <a:p>
            <a:pPr>
              <a:spcAft>
                <a:spcPts val="0"/>
              </a:spcAft>
            </a:pPr>
            <a:r>
              <a:rPr sz="900">
                <a:solidFill>
                  <a:srgbClr val="7FAF7F"/>
                </a:solidFill>
                <a:latin typeface="Consolas"/>
              </a:rPr>
              <a:t>// Two ways in, and the vehicle cannot tell them apart:</a:t>
            </a:r>
          </a:p>
          <a:p>
            <a:pPr>
              <a:spcAft>
                <a:spcPts val="0"/>
              </a:spcAft>
            </a:pPr>
            <a:r>
              <a:rPr sz="900">
                <a:solidFill>
                  <a:srgbClr val="7FAF7F"/>
                </a:solidFill>
                <a:latin typeface="Consolas"/>
              </a:rPr>
              <a:t>//   subclass ChDriver and write the setters from your own device, or</a:t>
            </a:r>
          </a:p>
          <a:p>
            <a:pPr>
              <a:spcAft>
                <a:spcPts val="0"/>
              </a:spcAft>
            </a:pPr>
            <a:r>
              <a:rPr sz="900">
                <a:solidFill>
                  <a:srgbClr val="7FAF7F"/>
                </a:solidFill>
                <a:latin typeface="Consolas"/>
              </a:rPr>
              <a:t>//   take ChInteractiveDriver and let it read a keyboard or a joystick.</a:t>
            </a:r>
          </a:p>
          <a:p>
            <a:pPr>
              <a:spcAft>
                <a:spcPts val="0"/>
              </a:spcAft>
            </a:pPr>
            <a:r>
              <a:rPr sz="900">
                <a:solidFill>
                  <a:srgbClr val="7FAF7F"/>
                </a:solidFill>
                <a:latin typeface="Consolas"/>
              </a:rPr>
              <a:t>// Either way the vehicle only ever sees a DriverInputs struct.</a:t>
            </a:r>
          </a:p>
          <a:p>
            <a:pPr>
              <a:spcAft>
                <a:spcPts val="0"/>
              </a:spcAft>
            </a:pPr>
            <a:r>
              <a:rPr sz="900">
                <a:solidFill>
                  <a:srgbClr val="CCCCCC"/>
                </a:solidFill>
                <a:latin typeface="Consolas"/>
              </a:rPr>
              <a:t> </a:t>
            </a:r>
          </a:p>
          <a:p>
            <a:pPr>
              <a:spcAft>
                <a:spcPts val="0"/>
              </a:spcAft>
            </a:pPr>
            <a:r>
              <a:rPr sz="900">
                <a:solidFill>
                  <a:srgbClr val="7FAF7F"/>
                </a:solidFill>
                <a:latin typeface="Consolas"/>
              </a:rPr>
              <a:t># ---- and how this tutorial calls it (tutorial_HIL_driver.py, lines 603 to 605) ------</a:t>
            </a:r>
          </a:p>
          <a:p>
            <a:pPr>
              <a:spcAft>
                <a:spcPts val="0"/>
              </a:spcAft>
            </a:pPr>
            <a:r>
              <a:rPr sz="900">
                <a:solidFill>
                  <a:srgbClr val="CCCCCC"/>
                </a:solidFill>
                <a:latin typeface="Consolas"/>
              </a:rPr>
              <a:t>if KEYBOARD_MODE == </a:t>
            </a:r>
            <a:r>
              <a:rPr sz="900">
                <a:solidFill>
                  <a:srgbClr val="D8A0C0"/>
                </a:solidFill>
                <a:latin typeface="Consolas"/>
              </a:rPr>
              <a:t>"held"</a:t>
            </a:r>
            <a:r>
              <a:rPr sz="900">
                <a:solidFill>
                  <a:srgbClr val="CCCCCC"/>
                </a:solidFill>
                <a:latin typeface="Consolas"/>
              </a:rPr>
              <a:t>:</a:t>
            </a:r>
          </a:p>
          <a:p>
            <a:pPr>
              <a:spcAft>
                <a:spcPts val="0"/>
              </a:spcAft>
            </a:pPr>
            <a:r>
              <a:rPr sz="900">
                <a:solidFill>
                  <a:srgbClr val="CCCCCC"/>
                </a:solidFill>
                <a:latin typeface="Consolas"/>
              </a:rPr>
              <a:t>    if </a:t>
            </a:r>
            <a:r>
              <a:rPr sz="900">
                <a:solidFill>
                  <a:srgbClr val="7FC7E8"/>
                </a:solidFill>
                <a:latin typeface="Consolas"/>
              </a:rPr>
              <a:t>hasattr</a:t>
            </a:r>
            <a:r>
              <a:rPr sz="900">
                <a:solidFill>
                  <a:srgbClr val="CCCCCC"/>
                </a:solidFill>
                <a:latin typeface="Consolas"/>
              </a:rPr>
              <a:t>(veh.</a:t>
            </a:r>
            <a:r>
              <a:rPr sz="900">
                <a:solidFill>
                  <a:srgbClr val="F0A040"/>
                </a:solidFill>
                <a:latin typeface="Consolas"/>
              </a:rPr>
              <a:t>ChInteractiveDriver</a:t>
            </a:r>
            <a:r>
              <a:rPr sz="900">
                <a:solidFill>
                  <a:srgbClr val="CCCCCC"/>
                </a:solidFill>
                <a:latin typeface="Consolas"/>
              </a:rPr>
              <a:t>, </a:t>
            </a:r>
            <a:r>
              <a:rPr sz="900">
                <a:solidFill>
                  <a:srgbClr val="D8A0C0"/>
                </a:solidFill>
                <a:latin typeface="Consolas"/>
              </a:rPr>
              <a:t>"KeyboardMode_HELD"</a:t>
            </a:r>
            <a:r>
              <a:rPr sz="900">
                <a:solidFill>
                  <a:srgbClr val="CCCCCC"/>
                </a:solidFill>
                <a:latin typeface="Consolas"/>
              </a:rPr>
              <a:t>):</a:t>
            </a:r>
          </a:p>
          <a:p>
            <a:pPr>
              <a:spcAft>
                <a:spcPts val="0"/>
              </a:spcAft>
            </a:pPr>
            <a:r>
              <a:rPr sz="900">
                <a:solidFill>
                  <a:srgbClr val="CCCCCC"/>
                </a:solidFill>
                <a:latin typeface="Consolas"/>
              </a:rPr>
              <a:t>        driver.</a:t>
            </a:r>
            <a:r>
              <a:rPr sz="900">
                <a:solidFill>
                  <a:srgbClr val="7FC7E8"/>
                </a:solidFill>
                <a:latin typeface="Consolas"/>
              </a:rPr>
              <a:t>SetKeyboardMode</a:t>
            </a:r>
            <a:r>
              <a:rPr sz="900">
                <a:solidFill>
                  <a:srgbClr val="CCCCCC"/>
                </a:solidFill>
                <a:latin typeface="Consolas"/>
              </a:rPr>
              <a:t>(veh.</a:t>
            </a:r>
            <a:r>
              <a:rPr sz="900">
                <a:solidFill>
                  <a:srgbClr val="F0A040"/>
                </a:solidFill>
                <a:latin typeface="Consolas"/>
              </a:rPr>
              <a:t>ChInteractiveDriver</a:t>
            </a:r>
            <a:r>
              <a:rPr sz="900">
                <a:solidFill>
                  <a:srgbClr val="CCCCCC"/>
                </a:solidFill>
                <a:latin typeface="Consolas"/>
              </a:rPr>
              <a:t>.KeyboardMode_HELD)</a:t>
            </a:r>
          </a:p>
        </p:txBody>
      </p:sp>
      <p:sp>
        <p:nvSpPr>
          <p:cNvPr id="4" name="NoteBox"/>
          <p:cNvSpPr txBox="1"/>
          <p:nvPr/>
        </p:nvSpPr>
        <p:spPr>
          <a:xfrm>
            <a:off x="402336" y="4334255"/>
            <a:ext cx="11393424" cy="2084832"/>
          </a:xfrm>
          <a:prstGeom prst="rect">
            <a:avLst/>
          </a:prstGeom>
          <a:noFill/>
        </p:spPr>
        <p:txBody>
          <a:bodyPr wrap="square">
            <a:spAutoFit/>
          </a:bodyPr>
          <a:lstStyle/>
          <a:p>
            <a:pPr>
              <a:spcAft>
                <a:spcPts val="400"/>
              </a:spcAft>
            </a:pPr>
            <a:r>
              <a:rPr sz="1600"/>
              <a:t>Note WHERE this lives: </a:t>
            </a:r>
            <a:r>
              <a:rPr sz="1400">
                <a:latin typeface="Consolas"/>
              </a:rPr>
              <a:t>ChDriver</a:t>
            </a:r>
            <a:r>
              <a:rPr sz="1600"/>
              <a:t> and </a:t>
            </a:r>
            <a:r>
              <a:rPr sz="1400">
                <a:latin typeface="Consolas"/>
              </a:rPr>
              <a:t>ChInteractiveDriver</a:t>
            </a:r>
            <a:r>
              <a:rPr sz="1600"/>
              <a:t> are in Chrono::VEHICLE, not in core. Vehicles are what this lab does most, so vehicles are what got a first-class human-input class, a keyboard mode, and a joystick mapping. Nothing else in Chrono has one.</a:t>
            </a:r>
          </a:p>
          <a:p>
            <a:pPr>
              <a:spcAft>
                <a:spcPts val="400"/>
              </a:spcAft>
            </a:pPr>
            <a:r>
              <a:rPr sz="1600"/>
              <a:t>Query the driver BEFORE </a:t>
            </a:r>
            <a:r>
              <a:rPr sz="1400">
                <a:latin typeface="Consolas"/>
              </a:rPr>
              <a:t>Synchronize</a:t>
            </a:r>
            <a:r>
              <a:rPr sz="1600"/>
              <a:t>: the human's numbers have to be in hand before the modules read each other for this step.</a:t>
            </a:r>
          </a:p>
          <a:p>
            <a:pPr>
              <a:spcAft>
                <a:spcPts val="400"/>
              </a:spcAft>
            </a:pPr>
            <a:r>
              <a:rPr sz="1400">
                <a:latin typeface="Consolas"/>
              </a:rPr>
              <a:t>KeyboardMode</a:t>
            </a:r>
            <a:r>
              <a:rPr sz="1600"/>
              <a:t>: </a:t>
            </a:r>
            <a:r>
              <a:rPr sz="1400">
                <a:latin typeface="Consolas"/>
              </a:rPr>
              <a:t>CUMULATIVE</a:t>
            </a:r>
            <a:r>
              <a:rPr sz="1600"/>
              <a:t> nudges an input and leaves it there; </a:t>
            </a:r>
            <a:r>
              <a:rPr sz="1400">
                <a:latin typeface="Consolas"/>
              </a:rPr>
              <a:t>HELD</a:t>
            </a:r>
            <a:r>
              <a:rPr sz="1600"/>
              <a:t> follows the keys currently down, like a driving game. HELD was added to Chrono for this tutorial and ships in build 1187.</a:t>
            </a:r>
          </a:p>
        </p:txBody>
      </p:sp>
      <p:sp>
        <p:nvSpPr>
          <p:cNvPr id="5"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6" name="PageNo"/>
          <p:cNvSpPr txBox="1"/>
          <p:nvPr/>
        </p:nvSpPr>
        <p:spPr>
          <a:xfrm>
            <a:off x="10250424" y="6647688"/>
            <a:ext cx="1709928" cy="192024"/>
          </a:xfrm>
          <a:prstGeom prst="rect">
            <a:avLst/>
          </a:prstGeom>
          <a:noFill/>
        </p:spPr>
        <p:txBody>
          <a:bodyPr wrap="none">
            <a:spAutoFit/>
          </a:bodyPr>
          <a:lstStyle/>
          <a:p>
            <a:pPr algn="r"/>
            <a:r>
              <a:rPr sz="1000"/>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Driving something that is NOT a vehicle</a:t>
            </a:r>
          </a:p>
        </p:txBody>
      </p:sp>
      <p:sp>
        <p:nvSpPr>
          <p:cNvPr id="3" name="CodeBox"/>
          <p:cNvSpPr txBox="1"/>
          <p:nvPr/>
        </p:nvSpPr>
        <p:spPr>
          <a:xfrm>
            <a:off x="0" y="1207008"/>
            <a:ext cx="12188952" cy="3566160"/>
          </a:xfrm>
          <a:prstGeom prst="rect">
            <a:avLst/>
          </a:prstGeom>
          <a:solidFill>
            <a:srgbClr val="000000"/>
          </a:solidFill>
        </p:spPr>
        <p:txBody>
          <a:bodyPr wrap="none" lIns="320040" tIns="91440">
            <a:spAutoFit/>
          </a:bodyPr>
          <a:lstStyle/>
          <a:p>
            <a:pPr>
              <a:spcAft>
                <a:spcPts val="0"/>
              </a:spcAft>
            </a:pPr>
            <a:r>
              <a:rPr sz="900">
                <a:solidFill>
                  <a:srgbClr val="7FAF7F"/>
                </a:solidFill>
                <a:latin typeface="Consolas"/>
              </a:rPr>
              <a:t># Nothing outside Chrono::Vehicle has a driver abstraction, so this</a:t>
            </a:r>
          </a:p>
          <a:p>
            <a:pPr>
              <a:spcAft>
                <a:spcPts val="0"/>
              </a:spcAft>
            </a:pPr>
            <a:r>
              <a:rPr sz="900">
                <a:solidFill>
                  <a:srgbClr val="7FAF7F"/>
                </a:solidFill>
                <a:latin typeface="Consolas"/>
              </a:rPr>
              <a:t># is a pattern rather than an API. Three decisions:</a:t>
            </a:r>
          </a:p>
          <a:p>
            <a:pPr>
              <a:spcAft>
                <a:spcPts val="0"/>
              </a:spcAft>
            </a:pPr>
            <a:r>
              <a:rPr sz="900">
                <a:solidFill>
                  <a:srgbClr val="7FAF7F"/>
                </a:solidFill>
                <a:latin typeface="Consolas"/>
              </a:rPr>
              <a:t>#</a:t>
            </a:r>
          </a:p>
          <a:p>
            <a:pPr>
              <a:spcAft>
                <a:spcPts val="0"/>
              </a:spcAft>
            </a:pPr>
            <a:r>
              <a:rPr sz="900">
                <a:solidFill>
                  <a:srgbClr val="7FAF7F"/>
                </a:solidFill>
                <a:latin typeface="Consolas"/>
              </a:rPr>
              <a:t>#   1. NORMALISE THE INPUT. A few bounded numbers a device produces</a:t>
            </a:r>
          </a:p>
          <a:p>
            <a:pPr>
              <a:spcAft>
                <a:spcPts val="0"/>
              </a:spcAft>
            </a:pPr>
            <a:r>
              <a:rPr sz="900">
                <a:solidFill>
                  <a:srgbClr val="7FAF7F"/>
                </a:solidFill>
                <a:latin typeface="Consolas"/>
              </a:rPr>
              <a:t>#      and a plant consumes, so one console drives any of them.</a:t>
            </a:r>
          </a:p>
          <a:p>
            <a:pPr>
              <a:spcAft>
                <a:spcPts val="0"/>
              </a:spcAft>
            </a:pPr>
            <a:r>
              <a:rPr sz="900">
                <a:solidFill>
                  <a:srgbClr val="7FAF7F"/>
                </a:solidFill>
                <a:latin typeface="Consolas"/>
              </a:rPr>
              <a:t>#   2. BIND THEM TO ACTUATION. The only plant-specific part.</a:t>
            </a:r>
          </a:p>
          <a:p>
            <a:pPr>
              <a:spcAft>
                <a:spcPts val="0"/>
              </a:spcAft>
            </a:pPr>
            <a:r>
              <a:rPr sz="900">
                <a:solidFill>
                  <a:srgbClr val="7FAF7F"/>
                </a:solidFill>
                <a:latin typeface="Consolas"/>
              </a:rPr>
              <a:t>#   3. SEND SOMETHING BACK, or the person is driving open loop.</a:t>
            </a:r>
          </a:p>
          <a:p>
            <a:pPr>
              <a:spcAft>
                <a:spcPts val="0"/>
              </a:spcAft>
            </a:pPr>
            <a:r>
              <a:rPr sz="900">
                <a:solidFill>
                  <a:srgbClr val="CCCCCC"/>
                </a:solidFill>
                <a:latin typeface="Consolas"/>
              </a:rPr>
              <a:t> </a:t>
            </a:r>
          </a:p>
          <a:p>
            <a:pPr>
              <a:spcAft>
                <a:spcPts val="0"/>
              </a:spcAft>
            </a:pPr>
            <a:r>
              <a:rPr sz="900">
                <a:solidFill>
                  <a:srgbClr val="CCCCCC"/>
                </a:solidFill>
                <a:latin typeface="Consolas"/>
              </a:rPr>
              <a:t>class Plant:                     </a:t>
            </a:r>
            <a:r>
              <a:rPr sz="900">
                <a:solidFill>
                  <a:srgbClr val="7FAF7F"/>
                </a:solidFill>
                <a:latin typeface="Consolas"/>
              </a:rPr>
              <a:t># every plant, one shape</a:t>
            </a:r>
          </a:p>
          <a:p>
            <a:pPr>
              <a:spcAft>
                <a:spcPts val="0"/>
              </a:spcAft>
            </a:pPr>
            <a:r>
              <a:rPr sz="900">
                <a:solidFill>
                  <a:srgbClr val="CCCCCC"/>
                </a:solidFill>
                <a:latin typeface="Consolas"/>
              </a:rPr>
              <a:t>    def </a:t>
            </a:r>
            <a:r>
              <a:rPr sz="900">
                <a:solidFill>
                  <a:srgbClr val="7FC7E8"/>
                </a:solidFill>
                <a:latin typeface="Consolas"/>
              </a:rPr>
              <a:t>apply</a:t>
            </a:r>
            <a:r>
              <a:rPr sz="900">
                <a:solidFill>
                  <a:srgbClr val="CCCCCC"/>
                </a:solidFill>
                <a:latin typeface="Consolas"/>
              </a:rPr>
              <a:t>(self, inputs):          ...  </a:t>
            </a:r>
            <a:r>
              <a:rPr sz="900">
                <a:solidFill>
                  <a:srgbClr val="7FAF7F"/>
                </a:solidFill>
                <a:latin typeface="Consolas"/>
              </a:rPr>
              <a:t># THE BINDING</a:t>
            </a:r>
          </a:p>
          <a:p>
            <a:pPr>
              <a:spcAft>
                <a:spcPts val="0"/>
              </a:spcAft>
            </a:pPr>
            <a:r>
              <a:rPr sz="900">
                <a:solidFill>
                  <a:srgbClr val="CCCCCC"/>
                </a:solidFill>
                <a:latin typeface="Consolas"/>
              </a:rPr>
              <a:t>    def </a:t>
            </a:r>
            <a:r>
              <a:rPr sz="900">
                <a:solidFill>
                  <a:srgbClr val="7FC7E8"/>
                </a:solidFill>
                <a:latin typeface="Consolas"/>
              </a:rPr>
              <a:t>synchronize</a:t>
            </a:r>
            <a:r>
              <a:rPr sz="900">
                <a:solidFill>
                  <a:srgbClr val="CCCCCC"/>
                </a:solidFill>
                <a:latin typeface="Consolas"/>
              </a:rPr>
              <a:t>(self, t, inputs): ...</a:t>
            </a:r>
          </a:p>
          <a:p>
            <a:pPr>
              <a:spcAft>
                <a:spcPts val="0"/>
              </a:spcAft>
            </a:pPr>
            <a:r>
              <a:rPr sz="900">
                <a:solidFill>
                  <a:srgbClr val="CCCCCC"/>
                </a:solidFill>
                <a:latin typeface="Consolas"/>
              </a:rPr>
              <a:t>    def </a:t>
            </a:r>
            <a:r>
              <a:rPr sz="900">
                <a:solidFill>
                  <a:srgbClr val="7FC7E8"/>
                </a:solidFill>
                <a:latin typeface="Consolas"/>
              </a:rPr>
              <a:t>advance</a:t>
            </a:r>
            <a:r>
              <a:rPr sz="900">
                <a:solidFill>
                  <a:srgbClr val="CCCCCC"/>
                </a:solidFill>
                <a:latin typeface="Consolas"/>
              </a:rPr>
              <a:t>(self, step):          ...</a:t>
            </a:r>
          </a:p>
          <a:p>
            <a:pPr>
              <a:spcAft>
                <a:spcPts val="0"/>
              </a:spcAft>
            </a:pPr>
            <a:r>
              <a:rPr sz="900">
                <a:solidFill>
                  <a:srgbClr val="CCCCCC"/>
                </a:solidFill>
                <a:latin typeface="Consolas"/>
              </a:rPr>
              <a:t>    def </a:t>
            </a:r>
            <a:r>
              <a:rPr sz="900">
                <a:solidFill>
                  <a:srgbClr val="7FC7E8"/>
                </a:solidFill>
                <a:latin typeface="Consolas"/>
              </a:rPr>
              <a:t>speed</a:t>
            </a:r>
            <a:r>
              <a:rPr sz="900">
                <a:solidFill>
                  <a:srgbClr val="CCCCCC"/>
                </a:solidFill>
                <a:latin typeface="Consolas"/>
              </a:rPr>
              <a:t>(self): ...; def </a:t>
            </a:r>
            <a:r>
              <a:rPr sz="900">
                <a:solidFill>
                  <a:srgbClr val="7FC7E8"/>
                </a:solidFill>
                <a:latin typeface="Consolas"/>
              </a:rPr>
              <a:t>status</a:t>
            </a:r>
            <a:r>
              <a:rPr sz="900">
                <a:solidFill>
                  <a:srgbClr val="CCCCCC"/>
                </a:solidFill>
                <a:latin typeface="Consolas"/>
              </a:rPr>
              <a:t>(self): ...</a:t>
            </a:r>
          </a:p>
          <a:p>
            <a:pPr>
              <a:spcAft>
                <a:spcPts val="0"/>
              </a:spcAft>
            </a:pPr>
            <a:r>
              <a:rPr sz="900">
                <a:solidFill>
                  <a:srgbClr val="CCCCCC"/>
                </a:solidFill>
                <a:latin typeface="Consolas"/>
              </a:rPr>
              <a:t> </a:t>
            </a:r>
          </a:p>
          <a:p>
            <a:pPr>
              <a:spcAft>
                <a:spcPts val="0"/>
              </a:spcAft>
            </a:pPr>
            <a:r>
              <a:rPr sz="900">
                <a:solidFill>
                  <a:srgbClr val="7FAF7F"/>
                </a:solidFill>
                <a:latin typeface="Consolas"/>
              </a:rPr>
              <a:t># A crane's entire input surface: two motors and a setpoint each.</a:t>
            </a:r>
          </a:p>
          <a:p>
            <a:pPr>
              <a:spcAft>
                <a:spcPts val="0"/>
              </a:spcAft>
            </a:pPr>
            <a:r>
              <a:rPr sz="900">
                <a:solidFill>
                  <a:srgbClr val="CCCCCC"/>
                </a:solidFill>
                <a:latin typeface="Consolas"/>
              </a:rPr>
              <a:t>self.long_motor = chrono.</a:t>
            </a:r>
            <a:r>
              <a:rPr sz="900">
                <a:solidFill>
                  <a:srgbClr val="F0A040"/>
                </a:solidFill>
                <a:latin typeface="Consolas"/>
              </a:rPr>
              <a:t>ChLinkMotorLinearSpeed</a:t>
            </a:r>
            <a:r>
              <a:rPr sz="900">
                <a:solidFill>
                  <a:srgbClr val="CCCCCC"/>
                </a:solidFill>
                <a:latin typeface="Consolas"/>
              </a:rPr>
              <a:t>()</a:t>
            </a:r>
          </a:p>
          <a:p>
            <a:pPr>
              <a:spcAft>
                <a:spcPts val="0"/>
              </a:spcAft>
            </a:pPr>
            <a:r>
              <a:rPr sz="900">
                <a:solidFill>
                  <a:srgbClr val="CCCCCC"/>
                </a:solidFill>
                <a:latin typeface="Consolas"/>
              </a:rPr>
              <a:t>self.long_speed = chrono.</a:t>
            </a:r>
            <a:r>
              <a:rPr sz="900">
                <a:solidFill>
                  <a:srgbClr val="F0A040"/>
                </a:solidFill>
                <a:latin typeface="Consolas"/>
              </a:rPr>
              <a:t>ChFunctionSetpoint</a:t>
            </a:r>
            <a:r>
              <a:rPr sz="900">
                <a:solidFill>
                  <a:srgbClr val="CCCCCC"/>
                </a:solidFill>
                <a:latin typeface="Consolas"/>
              </a:rPr>
              <a:t>()</a:t>
            </a:r>
          </a:p>
          <a:p>
            <a:pPr>
              <a:spcAft>
                <a:spcPts val="0"/>
              </a:spcAft>
            </a:pPr>
            <a:r>
              <a:rPr sz="900">
                <a:solidFill>
                  <a:srgbClr val="CCCCCC"/>
                </a:solidFill>
                <a:latin typeface="Consolas"/>
              </a:rPr>
              <a:t>self.long_motor.</a:t>
            </a:r>
            <a:r>
              <a:rPr sz="900">
                <a:solidFill>
                  <a:srgbClr val="7FC7E8"/>
                </a:solidFill>
                <a:latin typeface="Consolas"/>
              </a:rPr>
              <a:t>SetSpeedFunction</a:t>
            </a:r>
            <a:r>
              <a:rPr sz="900">
                <a:solidFill>
                  <a:srgbClr val="CCCCCC"/>
                </a:solidFill>
                <a:latin typeface="Consolas"/>
              </a:rPr>
              <a:t>(self.long_speed)</a:t>
            </a:r>
          </a:p>
          <a:p>
            <a:pPr>
              <a:spcAft>
                <a:spcPts val="0"/>
              </a:spcAft>
            </a:pPr>
            <a:r>
              <a:rPr sz="900">
                <a:solidFill>
                  <a:srgbClr val="CCCCCC"/>
                </a:solidFill>
                <a:latin typeface="Consolas"/>
              </a:rPr>
              <a:t> </a:t>
            </a:r>
          </a:p>
          <a:p>
            <a:pPr>
              <a:spcAft>
                <a:spcPts val="0"/>
              </a:spcAft>
            </a:pPr>
            <a:r>
              <a:rPr sz="900">
                <a:solidFill>
                  <a:srgbClr val="7FAF7F"/>
                </a:solidFill>
                <a:latin typeface="Consolas"/>
              </a:rPr>
              <a:t># ---- and how this tutorial calls it (hil_plants.py, lines 335 to 338) ------</a:t>
            </a:r>
          </a:p>
          <a:p>
            <a:pPr>
              <a:spcAft>
                <a:spcPts val="0"/>
              </a:spcAft>
            </a:pPr>
            <a:r>
              <a:rPr sz="900">
                <a:solidFill>
                  <a:srgbClr val="7FAF7F"/>
                </a:solidFill>
                <a:latin typeface="Consolas"/>
              </a:rPr>
              <a:t># Throttle drives forward, braking drives back: two pedals, one axis.</a:t>
            </a:r>
          </a:p>
          <a:p>
            <a:pPr>
              <a:spcAft>
                <a:spcPts val="0"/>
              </a:spcAft>
            </a:pPr>
            <a:r>
              <a:rPr sz="900">
                <a:solidFill>
                  <a:srgbClr val="CCCCCC"/>
                </a:solidFill>
                <a:latin typeface="Consolas"/>
              </a:rPr>
              <a:t>long_cmd = (inputs.m_throttle - inputs.m_braking) * self.MAX_LONG_SPEED</a:t>
            </a:r>
          </a:p>
          <a:p>
            <a:pPr>
              <a:spcAft>
                <a:spcPts val="0"/>
              </a:spcAft>
            </a:pPr>
            <a:r>
              <a:rPr sz="900">
                <a:solidFill>
                  <a:srgbClr val="CCCCCC"/>
                </a:solidFill>
                <a:latin typeface="Consolas"/>
              </a:rPr>
              <a:t>self.long_speed.</a:t>
            </a:r>
            <a:r>
              <a:rPr sz="900">
                <a:solidFill>
                  <a:srgbClr val="7FC7E8"/>
                </a:solidFill>
                <a:latin typeface="Consolas"/>
              </a:rPr>
              <a:t>SetSetpoint</a:t>
            </a:r>
            <a:r>
              <a:rPr sz="900">
                <a:solidFill>
                  <a:srgbClr val="CCCCCC"/>
                </a:solidFill>
                <a:latin typeface="Consolas"/>
              </a:rPr>
              <a:t>(long_cmd, t)</a:t>
            </a:r>
          </a:p>
          <a:p>
            <a:pPr>
              <a:spcAft>
                <a:spcPts val="0"/>
              </a:spcAft>
            </a:pPr>
            <a:r>
              <a:rPr sz="900">
                <a:solidFill>
                  <a:srgbClr val="CCCCCC"/>
                </a:solidFill>
                <a:latin typeface="Consolas"/>
              </a:rPr>
              <a:t>self.cross_speed.</a:t>
            </a:r>
            <a:r>
              <a:rPr sz="900">
                <a:solidFill>
                  <a:srgbClr val="7FC7E8"/>
                </a:solidFill>
                <a:latin typeface="Consolas"/>
              </a:rPr>
              <a:t>SetSetpoint</a:t>
            </a:r>
            <a:r>
              <a:rPr sz="900">
                <a:solidFill>
                  <a:srgbClr val="CCCCCC"/>
                </a:solidFill>
                <a:latin typeface="Consolas"/>
              </a:rPr>
              <a:t>(inputs.m_steering * self.MAX_CROSS_SPEED, t)</a:t>
            </a:r>
          </a:p>
        </p:txBody>
      </p:sp>
      <p:sp>
        <p:nvSpPr>
          <p:cNvPr id="4" name="NoteBox"/>
          <p:cNvSpPr txBox="1"/>
          <p:nvPr/>
        </p:nvSpPr>
        <p:spPr>
          <a:xfrm>
            <a:off x="402336" y="4882896"/>
            <a:ext cx="11393424" cy="1536192"/>
          </a:xfrm>
          <a:prstGeom prst="rect">
            <a:avLst/>
          </a:prstGeom>
          <a:noFill/>
        </p:spPr>
        <p:txBody>
          <a:bodyPr wrap="square">
            <a:spAutoFit/>
          </a:bodyPr>
          <a:lstStyle/>
          <a:p>
            <a:pPr>
              <a:spcAft>
                <a:spcPts val="400"/>
              </a:spcAft>
            </a:pPr>
            <a:r>
              <a:rPr sz="1400">
                <a:latin typeface="Consolas"/>
              </a:rPr>
              <a:t>ChFunctionSetpoint</a:t>
            </a:r>
            <a:r>
              <a:rPr sz="1600"/>
              <a:t> is the piece worth knowing. A Chrono motor is driven by a </a:t>
            </a:r>
            <a:r>
              <a:rPr sz="1400">
                <a:latin typeface="Consolas"/>
              </a:rPr>
              <a:t>ChFunction</a:t>
            </a:r>
            <a:r>
              <a:rPr sz="1600"/>
              <a:t> of time, and a human's input is not a function of time anyone can write down in advance. The setpoint function is the adapter: push a value in each step, the motor reads it as the current one.</a:t>
            </a:r>
          </a:p>
          <a:p>
            <a:pPr>
              <a:spcAft>
                <a:spcPts val="400"/>
              </a:spcAft>
            </a:pPr>
            <a:r>
              <a:rPr sz="1600"/>
              <a:t>The convention costs something, and the crane shows the bill: it has one travel axis and was handed two pedals, so it computes </a:t>
            </a:r>
            <a:r>
              <a:rPr sz="1400">
                <a:latin typeface="Consolas"/>
              </a:rPr>
              <a:t>throttle - braking</a:t>
            </a:r>
            <a:r>
              <a:rPr sz="1600"/>
              <a:t>. No crane operator would recognise that.</a:t>
            </a:r>
          </a:p>
        </p:txBody>
      </p:sp>
      <p:sp>
        <p:nvSpPr>
          <p:cNvPr id="5"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6" name="PageNo"/>
          <p:cNvSpPr txBox="1"/>
          <p:nvPr/>
        </p:nvSpPr>
        <p:spPr>
          <a:xfrm>
            <a:off x="10250424" y="6647688"/>
            <a:ext cx="1709928" cy="192024"/>
          </a:xfrm>
          <a:prstGeom prst="rect">
            <a:avLst/>
          </a:prstGeom>
          <a:noFill/>
        </p:spPr>
        <p:txBody>
          <a:bodyPr wrap="none">
            <a:spAutoFit/>
          </a:bodyPr>
          <a:lstStyle/>
          <a:p>
            <a:pPr algn="r"/>
            <a:r>
              <a:rPr sz="1000"/>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Input devices Chrono already speaks</a:t>
            </a:r>
          </a:p>
        </p:txBody>
      </p:sp>
      <p:sp>
        <p:nvSpPr>
          <p:cNvPr id="3" name="Content Placeholder 2"/>
          <p:cNvSpPr>
            <a:spLocks noGrp="1"/>
          </p:cNvSpPr>
          <p:nvPr>
            <p:ph idx="1"/>
          </p:nvPr>
        </p:nvSpPr>
        <p:spPr>
          <a:xfrm>
            <a:off x="642552" y="1313782"/>
            <a:ext cx="10936224" cy="5203976"/>
          </a:xfrm>
        </p:spPr>
        <p:txBody>
          <a:bodyPr wrap="square"/>
          <a:lstStyle/>
          <a:p>
            <a:pPr>
              <a:spcAft>
                <a:spcPts val="500"/>
              </a:spcAft>
            </a:pPr>
            <a:r>
              <a:rPr sz="1400">
                <a:latin typeface="Consolas"/>
              </a:rPr>
              <a:t>ChInteractiveDriver</a:t>
            </a:r>
            <a:r>
              <a:rPr sz="1600"/>
              <a:t> covers two CLASSES of device, not two devices:</a:t>
            </a:r>
          </a:p>
          <a:p>
            <a:pPr lvl="1">
              <a:spcAft>
                <a:spcPts val="500"/>
              </a:spcAft>
            </a:pPr>
            <a:r>
              <a:rPr sz="1200">
                <a:latin typeface="Consolas"/>
              </a:rPr>
              <a:t>InputMode_KEYBOARD</a:t>
            </a:r>
            <a:r>
              <a:rPr sz="1400"/>
              <a:t>  -  with </a:t>
            </a:r>
            <a:r>
              <a:rPr sz="1200">
                <a:latin typeface="Consolas"/>
              </a:rPr>
              <a:t>KeyboardMode_HELD</a:t>
            </a:r>
            <a:r>
              <a:rPr sz="1400"/>
              <a:t> or </a:t>
            </a:r>
            <a:r>
              <a:rPr sz="1200">
                <a:latin typeface="Consolas"/>
              </a:rPr>
              <a:t>_CUMULATIVE</a:t>
            </a:r>
          </a:p>
          <a:p>
            <a:pPr lvl="1">
              <a:spcAft>
                <a:spcPts val="500"/>
              </a:spcAft>
            </a:pPr>
            <a:r>
              <a:rPr sz="1200">
                <a:latin typeface="Consolas"/>
              </a:rPr>
              <a:t>InputMode_JOYSTICK</a:t>
            </a:r>
            <a:r>
              <a:rPr sz="1400"/>
              <a:t>  -  anything the windowing layer enumerates as one</a:t>
            </a:r>
          </a:p>
          <a:p>
            <a:pPr>
              <a:spcAft>
                <a:spcPts val="500"/>
              </a:spcAft>
            </a:pPr>
            <a:r>
              <a:rPr sz="1600"/>
              <a:t>A joystick is mapped by a JSON file, not by code: </a:t>
            </a:r>
            <a:r>
              <a:rPr sz="1400">
                <a:latin typeface="Consolas"/>
              </a:rPr>
              <a:t>SetJoystickConfigFile(path)</a:t>
            </a:r>
          </a:p>
          <a:p>
            <a:pPr lvl="1">
              <a:spcAft>
                <a:spcPts val="500"/>
              </a:spcAft>
            </a:pPr>
            <a:r>
              <a:rPr sz="1400"/>
              <a:t>mapped axes: steering, throttle, brake, CLUTCH</a:t>
            </a:r>
          </a:p>
          <a:p>
            <a:pPr lvl="1">
              <a:spcAft>
                <a:spcPts val="500"/>
              </a:spcAft>
            </a:pPr>
            <a:r>
              <a:rPr sz="1400"/>
              <a:t>mapped buttons: shift up/down, reverse, gears 1-9, manual-gearbox toggle, plus one user callback</a:t>
            </a:r>
          </a:p>
          <a:p>
            <a:pPr>
              <a:spcAft>
                <a:spcPts val="500"/>
              </a:spcAft>
            </a:pPr>
            <a:r>
              <a:rPr sz="1600"/>
              <a:t>Four configs ship in </a:t>
            </a:r>
            <a:r>
              <a:rPr sz="1400">
                <a:latin typeface="Consolas"/>
              </a:rPr>
              <a:t>data/vehicle/joystick/</a:t>
            </a:r>
            <a:r>
              <a:rPr sz="1600"/>
              <a:t>: Default, Logitech RumblePad 2, Xbox One, and Wheel+Pedals+Shifters</a:t>
            </a:r>
          </a:p>
          <a:p>
            <a:pPr>
              <a:spcAft>
                <a:spcPts val="500"/>
              </a:spcAft>
            </a:pPr>
            <a:r>
              <a:rPr sz="1600"/>
              <a:t>Each control names its own DEVICE, so a wheel, a pedal box and an H-shifter enumerating as three separate USB devices all map at once</a:t>
            </a:r>
          </a:p>
          <a:p>
            <a:pPr>
              <a:spcAft>
                <a:spcPts val="500"/>
              </a:spcAft>
            </a:pPr>
            <a:r>
              <a:rPr sz="1600"/>
              <a:t>Not hypothetical: the remote-driving study on slide 5 ran on a Logitech G29 wheel and pedal set through this path</a:t>
            </a:r>
          </a:p>
          <a:p>
            <a:pPr>
              <a:spcAft>
                <a:spcPts val="500"/>
              </a:spcAft>
            </a:pPr>
            <a:r>
              <a:rPr sz="1600"/>
              <a:t>So a G923-class rig is a config file, not a port. The mapping and the semantics are Chrono's and cross-platform; enumerating the device is delegated to the windowing layer, so which platforms see your wheel follows that layer, and I have not tested it here.</a:t>
            </a:r>
          </a:p>
          <a:p>
            <a:pPr>
              <a:spcAft>
                <a:spcPts val="500"/>
              </a:spcAft>
            </a:pPr>
            <a:r>
              <a:rPr sz="1600"/>
              <a:t>All of it is exposed to PyChrono.</a:t>
            </a:r>
          </a:p>
        </p:txBody>
      </p:sp>
      <p:sp>
        <p:nvSpPr>
          <p:cNvPr id="4"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5" name="PageNo"/>
          <p:cNvSpPr txBox="1"/>
          <p:nvPr/>
        </p:nvSpPr>
        <p:spPr>
          <a:xfrm>
            <a:off x="10250424" y="6647688"/>
            <a:ext cx="1709928" cy="192024"/>
          </a:xfrm>
          <a:prstGeom prst="rect">
            <a:avLst/>
          </a:prstGeom>
          <a:noFill/>
        </p:spPr>
        <p:txBody>
          <a:bodyPr wrap="none">
            <a:spAutoFit/>
          </a:bodyPr>
          <a:lstStyle/>
          <a:p>
            <a:pPr algn="r"/>
            <a:r>
              <a:rPr sz="1000"/>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And for a device Chrono does not know about</a:t>
            </a:r>
          </a:p>
        </p:txBody>
      </p:sp>
      <p:sp>
        <p:nvSpPr>
          <p:cNvPr id="3" name="Content Placeholder 2"/>
          <p:cNvSpPr>
            <a:spLocks noGrp="1"/>
          </p:cNvSpPr>
          <p:nvPr>
            <p:ph idx="1"/>
          </p:nvPr>
        </p:nvSpPr>
        <p:spPr>
          <a:xfrm>
            <a:off x="642552" y="1313782"/>
            <a:ext cx="10936224" cy="5203976"/>
          </a:xfrm>
        </p:spPr>
        <p:txBody>
          <a:bodyPr wrap="square"/>
          <a:lstStyle/>
          <a:p>
            <a:pPr>
              <a:spcAft>
                <a:spcPts val="900"/>
              </a:spcAft>
            </a:pPr>
            <a:r>
              <a:rPr sz="2000"/>
              <a:t>Subclass </a:t>
            </a:r>
            <a:r>
              <a:rPr sz="1800">
                <a:latin typeface="Consolas"/>
              </a:rPr>
              <a:t>ChDriver</a:t>
            </a:r>
            <a:r>
              <a:rPr sz="2000"/>
              <a:t>, read whatever you like, and obey three rules:</a:t>
            </a:r>
          </a:p>
          <a:p>
            <a:pPr>
              <a:spcAft>
                <a:spcPts val="900"/>
              </a:spcAft>
            </a:pPr>
            <a:r>
              <a:rPr sz="2000"/>
              <a:t>1.  </a:t>
            </a:r>
            <a:r>
              <a:rPr sz="1800">
                <a:latin typeface="Consolas"/>
              </a:rPr>
              <a:t>NEVER BLOCK.</a:t>
            </a:r>
            <a:r>
              <a:rPr sz="2000"/>
              <a:t> A simulation that waits on a human is not real-time. Late input means hold the last value, not stall the loop.</a:t>
            </a:r>
          </a:p>
          <a:p>
            <a:pPr>
              <a:spcAft>
                <a:spcPts val="900"/>
              </a:spcAft>
            </a:pPr>
            <a:r>
              <a:rPr sz="2000"/>
              <a:t>2.  </a:t>
            </a:r>
            <a:r>
              <a:rPr sz="1800">
                <a:latin typeface="Consolas"/>
              </a:rPr>
              <a:t>SAMPLE ONCE PER STEP, THEN HOLD.</a:t>
            </a:r>
            <a:r>
              <a:rPr sz="2000"/>
              <a:t> Read at the top of the step and reuse that value for the whole step, or the physics sees inputs change for reasons the operator can neither perceive nor reproduce.</a:t>
            </a:r>
          </a:p>
          <a:p>
            <a:pPr>
              <a:spcAft>
                <a:spcPts val="900"/>
              </a:spcAft>
            </a:pPr>
            <a:r>
              <a:rPr sz="2000"/>
              <a:t>3.  </a:t>
            </a:r>
            <a:r>
              <a:rPr sz="1800">
                <a:latin typeface="Consolas"/>
              </a:rPr>
              <a:t>SEND SOMETHING BACK.</a:t>
            </a:r>
            <a:r>
              <a:rPr sz="2000"/>
              <a:t> With no return path the operator is driving open loop, which is not human-in-the-loop by our definition.</a:t>
            </a:r>
          </a:p>
          <a:p>
            <a:pPr>
              <a:spcAft>
                <a:spcPts val="900"/>
              </a:spcAft>
            </a:pPr>
            <a:r>
              <a:rPr sz="2000"/>
              <a:t>Obey those and the transport does not matter: a socket, a serial port, shared memory, a ROS topic, another simulator.</a:t>
            </a:r>
          </a:p>
          <a:p>
            <a:pPr>
              <a:spcAft>
                <a:spcPts val="900"/>
              </a:spcAft>
            </a:pPr>
            <a:r>
              <a:rPr sz="2000"/>
              <a:t>This tutorial ships one of these, an operator console on UDP, so a second machine can drive the simulation and watch telemetry come back.</a:t>
            </a:r>
          </a:p>
        </p:txBody>
      </p:sp>
      <p:sp>
        <p:nvSpPr>
          <p:cNvPr id="4"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5" name="PageNo"/>
          <p:cNvSpPr txBox="1"/>
          <p:nvPr/>
        </p:nvSpPr>
        <p:spPr>
          <a:xfrm>
            <a:off x="10250424" y="6647688"/>
            <a:ext cx="1709928" cy="192024"/>
          </a:xfrm>
          <a:prstGeom prst="rect">
            <a:avLst/>
          </a:prstGeom>
          <a:noFill/>
        </p:spPr>
        <p:txBody>
          <a:bodyPr wrap="none">
            <a:spAutoFit/>
          </a:bodyPr>
          <a:lstStyle/>
          <a:p>
            <a:pPr algn="r"/>
            <a:r>
              <a:rPr sz="1000"/>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Demo Time: a person driving the vehicle</a:t>
            </a:r>
          </a:p>
        </p:txBody>
      </p:sp>
      <p:sp>
        <p:nvSpPr>
          <p:cNvPr id="3" name="Content Placeholder 2"/>
          <p:cNvSpPr>
            <a:spLocks noGrp="1"/>
          </p:cNvSpPr>
          <p:nvPr>
            <p:ph idx="1"/>
          </p:nvPr>
        </p:nvSpPr>
        <p:spPr>
          <a:xfrm>
            <a:off x="642552" y="1313782"/>
            <a:ext cx="6446520" cy="5203976"/>
          </a:xfrm>
        </p:spPr>
        <p:txBody>
          <a:bodyPr wrap="square"/>
          <a:lstStyle/>
          <a:p>
            <a:pPr>
              <a:spcAft>
                <a:spcPts val="900"/>
              </a:spcAft>
            </a:pPr>
            <a:r>
              <a:rPr sz="1800">
                <a:latin typeface="Consolas"/>
              </a:rPr>
              <a:t>WHAT</a:t>
            </a:r>
            <a:r>
              <a:rPr sz="2000"/>
              <a:t>  keyboard straight into ChInteractiveDriver, HMMWV on rigid terrain</a:t>
            </a:r>
          </a:p>
          <a:p>
            <a:pPr>
              <a:spcAft>
                <a:spcPts val="900"/>
              </a:spcAft>
            </a:pPr>
            <a:r>
              <a:rPr sz="1800">
                <a:latin typeface="Consolas"/>
              </a:rPr>
              <a:t>WHY</a:t>
            </a:r>
            <a:r>
              <a:rPr sz="2000"/>
              <a:t>   the whole definition satisfied in one window, and the baseline every other demo is measured against</a:t>
            </a:r>
          </a:p>
          <a:p>
            <a:pPr>
              <a:spcAft>
                <a:spcPts val="900"/>
              </a:spcAft>
            </a:pPr>
            <a:r>
              <a:rPr sz="1800">
                <a:latin typeface="Consolas"/>
              </a:rPr>
              <a:t>INPUT_SOURCE = "keyboard"</a:t>
            </a:r>
            <a:r>
              <a:rPr sz="2000"/>
              <a:t>, </a:t>
            </a:r>
            <a:r>
              <a:rPr sz="1800">
                <a:latin typeface="Consolas"/>
              </a:rPr>
              <a:t>KEYBOARD_MODE = "held"</a:t>
            </a:r>
          </a:p>
          <a:p>
            <a:pPr>
              <a:spcAft>
                <a:spcPts val="900"/>
              </a:spcAft>
            </a:pPr>
            <a:r>
              <a:rPr sz="2000"/>
              <a:t>W/A/S/D drive. The arrow keys are the chase camera, not the car.</a:t>
            </a:r>
          </a:p>
          <a:p>
            <a:pPr>
              <a:spcAft>
                <a:spcPts val="900"/>
              </a:spcAft>
            </a:pPr>
            <a:r>
              <a:rPr sz="2000"/>
              <a:t>Try </a:t>
            </a:r>
            <a:r>
              <a:rPr sz="1800">
                <a:latin typeface="Consolas"/>
              </a:rPr>
              <a:t>"cumulative"</a:t>
            </a:r>
            <a:r>
              <a:rPr sz="2000"/>
              <a:t> and feel the difference a key-state API makes.</a:t>
            </a:r>
          </a:p>
          <a:p>
            <a:pPr>
              <a:spcAft>
                <a:spcPts val="900"/>
              </a:spcAft>
            </a:pPr>
            <a:r>
              <a:rPr sz="2000"/>
              <a:t>This is the whole definition satisfied in one window: input reaches the state, the state comes back on screen, and the timer holds the pace.</a:t>
            </a:r>
          </a:p>
        </p:txBody>
      </p:sp>
      <p:pic>
        <p:nvPicPr>
          <p:cNvPr id="4" name="Picture 3" descr="hmmwv.png"/>
          <p:cNvPicPr>
            <a:picLocks noChangeAspect="1"/>
          </p:cNvPicPr>
          <p:nvPr/>
        </p:nvPicPr>
        <p:blipFill>
          <a:blip r:embed="rId2"/>
          <a:stretch>
            <a:fillRect/>
          </a:stretch>
        </p:blipFill>
        <p:spPr>
          <a:xfrm>
            <a:off x="7269480" y="2187767"/>
            <a:ext cx="4526280" cy="3460873"/>
          </a:xfrm>
          <a:prstGeom prst="rect">
            <a:avLst/>
          </a:prstGeom>
        </p:spPr>
      </p:pic>
      <p:sp>
        <p:nvSpPr>
          <p:cNvPr id="5"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6" name="PageNo"/>
          <p:cNvSpPr txBox="1"/>
          <p:nvPr/>
        </p:nvSpPr>
        <p:spPr>
          <a:xfrm>
            <a:off x="10250424" y="6647688"/>
            <a:ext cx="1709928" cy="192024"/>
          </a:xfrm>
          <a:prstGeom prst="rect">
            <a:avLst/>
          </a:prstGeom>
          <a:noFill/>
        </p:spPr>
        <p:txBody>
          <a:bodyPr wrap="none">
            <a:spAutoFit/>
          </a:bodyPr>
          <a:lstStyle/>
          <a:p>
            <a:pPr algn="r"/>
            <a:r>
              <a:rPr sz="1000"/>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Reaching into the scene with a mouse</a:t>
            </a:r>
          </a:p>
        </p:txBody>
      </p:sp>
      <p:sp>
        <p:nvSpPr>
          <p:cNvPr id="3" name="Text Placeholder 2"/>
          <p:cNvSpPr>
            <a:spLocks noGrp="1"/>
          </p:cNvSpPr>
          <p:nvPr>
            <p:ph type="body" idx="1"/>
          </p:nvPr>
        </p:nvSpPr>
        <p:spPr/>
        <p:txBody>
          <a:bodyPr/>
          <a:lstStyle/>
          <a:p>
            <a:r>
              <a:t>what Chrono provides today, the one line it is missing, and what that buys</a:t>
            </a:r>
          </a:p>
        </p:txBody>
      </p:sp>
      <p:sp>
        <p:nvSpPr>
          <p:cNvPr id="4"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5" name="PageNo"/>
          <p:cNvSpPr txBox="1"/>
          <p:nvPr/>
        </p:nvSpPr>
        <p:spPr>
          <a:xfrm>
            <a:off x="10250424" y="6647688"/>
            <a:ext cx="1709928" cy="192024"/>
          </a:xfrm>
          <a:prstGeom prst="rect">
            <a:avLst/>
          </a:prstGeom>
          <a:noFill/>
        </p:spPr>
        <p:txBody>
          <a:bodyPr wrap="none">
            <a:spAutoFit/>
          </a:bodyPr>
          <a:lstStyle/>
          <a:p>
            <a:pPr algn="r"/>
            <a:r>
              <a:rPr sz="1000"/>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What Chrono gives you today</a:t>
            </a:r>
          </a:p>
        </p:txBody>
      </p:sp>
      <p:sp>
        <p:nvSpPr>
          <p:cNvPr id="3" name="Content Placeholder 2"/>
          <p:cNvSpPr>
            <a:spLocks noGrp="1"/>
          </p:cNvSpPr>
          <p:nvPr>
            <p:ph idx="1"/>
          </p:nvPr>
        </p:nvSpPr>
        <p:spPr>
          <a:xfrm>
            <a:off x="642552" y="1313782"/>
            <a:ext cx="10936224" cy="5203976"/>
          </a:xfrm>
        </p:spPr>
        <p:txBody>
          <a:bodyPr wrap="square"/>
          <a:lstStyle/>
          <a:p>
            <a:pPr>
              <a:spcAft>
                <a:spcPts val="900"/>
              </a:spcAft>
            </a:pPr>
            <a:r>
              <a:rPr sz="1800">
                <a:latin typeface="Consolas"/>
              </a:rPr>
              <a:t>ChRealtimeStepTimer</a:t>
            </a:r>
            <a:r>
              <a:rPr sz="2000"/>
              <a:t>  -  the pacing, exposed to Python</a:t>
            </a:r>
          </a:p>
          <a:p>
            <a:pPr>
              <a:spcAft>
                <a:spcPts val="900"/>
              </a:spcAft>
            </a:pPr>
            <a:r>
              <a:rPr sz="1800">
                <a:latin typeface="Consolas"/>
              </a:rPr>
              <a:t>ChInteractiveDriver</a:t>
            </a:r>
            <a:r>
              <a:rPr sz="2000"/>
              <a:t>  -  keyboard and joystick input, with </a:t>
            </a:r>
            <a:r>
              <a:rPr sz="1800">
                <a:latin typeface="Consolas"/>
              </a:rPr>
              <a:t>KeyboardMode::HELD</a:t>
            </a:r>
          </a:p>
          <a:p>
            <a:pPr>
              <a:spcAft>
                <a:spcPts val="900"/>
              </a:spcAft>
            </a:pPr>
            <a:r>
              <a:rPr sz="1800">
                <a:latin typeface="Consolas"/>
              </a:rPr>
              <a:t>ChCollisionSystem::RayHit</a:t>
            </a:r>
            <a:r>
              <a:rPr sz="2000"/>
              <a:t>  -  click-to-pick, exposed to Python</a:t>
            </a:r>
          </a:p>
          <a:p>
            <a:pPr>
              <a:spcAft>
                <a:spcPts val="900"/>
              </a:spcAft>
            </a:pPr>
            <a:r>
              <a:rPr sz="1800">
                <a:latin typeface="Consolas"/>
              </a:rPr>
              <a:t>AccumulateForce</a:t>
            </a:r>
            <a:r>
              <a:rPr sz="2000"/>
              <a:t>, </a:t>
            </a:r>
            <a:r>
              <a:rPr sz="1800">
                <a:latin typeface="Consolas"/>
              </a:rPr>
              <a:t>ChLinkTSDA</a:t>
            </a:r>
            <a:r>
              <a:rPr sz="2000"/>
              <a:t>  -  a human's pull as a term in the dynamics</a:t>
            </a:r>
          </a:p>
          <a:p>
            <a:pPr>
              <a:spcAft>
                <a:spcPts val="900"/>
              </a:spcAft>
            </a:pPr>
            <a:r>
              <a:rPr sz="1800">
                <a:latin typeface="Consolas"/>
              </a:rPr>
              <a:t>ChVisualSystemIrrlicht::AddUserEventReceiver(IEventReceiver*)</a:t>
            </a:r>
            <a:r>
              <a:rPr sz="2000"/>
              <a:t>  -  the socket for any input device, and it IS bound in Python</a:t>
            </a:r>
          </a:p>
          <a:p>
            <a:pPr>
              <a:spcAft>
                <a:spcPts val="900"/>
              </a:spcAft>
            </a:pPr>
            <a:r>
              <a:rPr sz="2000"/>
              <a:t>What is NOT there: any built-in mouse pick-and-drag. No module in the tree implements one.</a:t>
            </a:r>
          </a:p>
          <a:p>
            <a:pPr>
              <a:spcAft>
                <a:spcPts val="900"/>
              </a:spcAft>
            </a:pPr>
            <a:r>
              <a:rPr sz="2000"/>
              <a:t>That last line is the gap this tutorial walks into. Everything needed to build one is already exposed; what is missing is the ability to receive the mouse event in the first place.</a:t>
            </a:r>
          </a:p>
        </p:txBody>
      </p:sp>
      <p:sp>
        <p:nvSpPr>
          <p:cNvPr id="4"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5" name="PageNo"/>
          <p:cNvSpPr txBox="1"/>
          <p:nvPr/>
        </p:nvSpPr>
        <p:spPr>
          <a:xfrm>
            <a:off x="10250424" y="6647688"/>
            <a:ext cx="1709928" cy="192024"/>
          </a:xfrm>
          <a:prstGeom prst="rect">
            <a:avLst/>
          </a:prstGeom>
          <a:noFill/>
        </p:spPr>
        <p:txBody>
          <a:bodyPr wrap="none">
            <a:spAutoFit/>
          </a:bodyPr>
          <a:lstStyle/>
          <a:p>
            <a:pPr algn="r"/>
            <a:r>
              <a:rPr sz="1000"/>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The gap, and the one line that closes it (native_pick.py lines 10 to 26)</a:t>
            </a:r>
          </a:p>
        </p:txBody>
      </p:sp>
      <p:sp>
        <p:nvSpPr>
          <p:cNvPr id="3" name="CodeBox"/>
          <p:cNvSpPr txBox="1"/>
          <p:nvPr/>
        </p:nvSpPr>
        <p:spPr>
          <a:xfrm>
            <a:off x="0" y="1207008"/>
            <a:ext cx="12188952" cy="3957319"/>
          </a:xfrm>
          <a:prstGeom prst="rect">
            <a:avLst/>
          </a:prstGeom>
          <a:solidFill>
            <a:srgbClr val="000000"/>
          </a:solidFill>
        </p:spPr>
        <p:txBody>
          <a:bodyPr wrap="none" lIns="320040" tIns="91440">
            <a:spAutoFit/>
          </a:bodyPr>
          <a:lstStyle/>
          <a:p>
            <a:pPr>
              <a:spcAft>
                <a:spcPts val="0"/>
              </a:spcAft>
            </a:pPr>
            <a:r>
              <a:rPr sz="800">
                <a:solidFill>
                  <a:srgbClr val="7FAF7F"/>
                </a:solidFill>
                <a:latin typeface="Consolas"/>
              </a:rPr>
              <a:t># chrono_swig/interface/irrlicht/ChModuleIrrlicht.i</a:t>
            </a:r>
          </a:p>
          <a:p>
            <a:pPr>
              <a:spcAft>
                <a:spcPts val="0"/>
              </a:spcAft>
            </a:pPr>
            <a:r>
              <a:rPr sz="800">
                <a:solidFill>
                  <a:srgbClr val="CCCCCC"/>
                </a:solidFill>
                <a:latin typeface="Consolas"/>
              </a:rPr>
              <a:t>+%</a:t>
            </a:r>
            <a:r>
              <a:rPr sz="800">
                <a:solidFill>
                  <a:srgbClr val="7FC7E8"/>
                </a:solidFill>
                <a:latin typeface="Consolas"/>
              </a:rPr>
              <a:t>feature</a:t>
            </a:r>
            <a:r>
              <a:rPr sz="800">
                <a:solidFill>
                  <a:srgbClr val="CCCCCC"/>
                </a:solidFill>
                <a:latin typeface="Consolas"/>
              </a:rPr>
              <a:t>(</a:t>
            </a:r>
            <a:r>
              <a:rPr sz="800">
                <a:solidFill>
                  <a:srgbClr val="D8A0C0"/>
                </a:solidFill>
                <a:latin typeface="Consolas"/>
              </a:rPr>
              <a:t>"director"</a:t>
            </a:r>
            <a:r>
              <a:rPr sz="800">
                <a:solidFill>
                  <a:srgbClr val="CCCCCC"/>
                </a:solidFill>
                <a:latin typeface="Consolas"/>
              </a:rPr>
              <a:t>) irr::IEventReceiver;</a:t>
            </a:r>
          </a:p>
          <a:p>
            <a:pPr>
              <a:spcAft>
                <a:spcPts val="0"/>
              </a:spcAft>
            </a:pPr>
            <a:r>
              <a:rPr sz="800">
                <a:solidFill>
                  <a:srgbClr val="CCCCCC"/>
                </a:solidFill>
                <a:latin typeface="Consolas"/>
              </a:rPr>
              <a:t>%include </a:t>
            </a:r>
            <a:r>
              <a:rPr sz="800">
                <a:solidFill>
                  <a:srgbClr val="D8A0C0"/>
                </a:solidFill>
                <a:latin typeface="Consolas"/>
              </a:rPr>
              <a:t>"IEventReceiver.h"</a:t>
            </a:r>
          </a:p>
          <a:p>
            <a:pPr>
              <a:spcAft>
                <a:spcPts val="0"/>
              </a:spcAft>
            </a:pPr>
            <a:r>
              <a:rPr sz="800">
                <a:solidFill>
                  <a:srgbClr val="CCCCCC"/>
                </a:solidFill>
                <a:latin typeface="Consolas"/>
              </a:rPr>
              <a:t> </a:t>
            </a:r>
          </a:p>
          <a:p>
            <a:pPr>
              <a:spcAft>
                <a:spcPts val="0"/>
              </a:spcAft>
            </a:pPr>
            <a:r>
              <a:rPr sz="800">
                <a:solidFill>
                  <a:srgbClr val="7FAF7F"/>
                </a:solidFill>
                <a:latin typeface="Consolas"/>
              </a:rPr>
              <a:t># The module ALREADY compiles with directors enabled:</a:t>
            </a:r>
          </a:p>
          <a:p>
            <a:pPr>
              <a:spcAft>
                <a:spcPts val="0"/>
              </a:spcAft>
            </a:pPr>
            <a:r>
              <a:rPr sz="800">
                <a:solidFill>
                  <a:srgbClr val="7FAF7F"/>
                </a:solidFill>
                <a:latin typeface="Consolas"/>
              </a:rPr>
              <a:t>#     %module(directors="1", threads="1") irrlicht</a:t>
            </a:r>
          </a:p>
          <a:p>
            <a:pPr>
              <a:spcAft>
                <a:spcPts val="0"/>
              </a:spcAft>
            </a:pPr>
            <a:r>
              <a:rPr sz="800">
                <a:solidFill>
                  <a:srgbClr val="7FAF7F"/>
                </a:solidFill>
                <a:latin typeface="Consolas"/>
              </a:rPr>
              <a:t># and AddUserEventReceiver is ALREADY bound. Without the</a:t>
            </a:r>
          </a:p>
          <a:p>
            <a:pPr>
              <a:spcAft>
                <a:spcPts val="0"/>
              </a:spcAft>
            </a:pPr>
            <a:r>
              <a:rPr sz="800">
                <a:solidFill>
                  <a:srgbClr val="7FAF7F"/>
                </a:solidFill>
                <a:latin typeface="Consolas"/>
              </a:rPr>
              <a:t># director, though, Python gets an abstract class:</a:t>
            </a:r>
          </a:p>
          <a:p>
            <a:pPr>
              <a:spcAft>
                <a:spcPts val="0"/>
              </a:spcAft>
            </a:pPr>
            <a:r>
              <a:rPr sz="800">
                <a:solidFill>
                  <a:srgbClr val="7FAF7F"/>
                </a:solidFill>
                <a:latin typeface="Consolas"/>
              </a:rPr>
              <a:t>#     &gt;&gt;&gt; ci.IEventReceiver()</a:t>
            </a:r>
          </a:p>
          <a:p>
            <a:pPr>
              <a:spcAft>
                <a:spcPts val="0"/>
              </a:spcAft>
            </a:pPr>
            <a:r>
              <a:rPr sz="800">
                <a:solidFill>
                  <a:srgbClr val="7FAF7F"/>
                </a:solidFill>
                <a:latin typeface="Consolas"/>
              </a:rPr>
              <a:t>#     AttributeError: No constructor defined - class is abstract</a:t>
            </a:r>
          </a:p>
          <a:p>
            <a:pPr>
              <a:spcAft>
                <a:spcPts val="0"/>
              </a:spcAft>
            </a:pPr>
            <a:r>
              <a:rPr sz="800">
                <a:solidFill>
                  <a:srgbClr val="7FAF7F"/>
                </a:solidFill>
                <a:latin typeface="Consolas"/>
              </a:rPr>
              <a:t># so there is a socket, and nothing you can plug into it.</a:t>
            </a:r>
          </a:p>
          <a:p>
            <a:pPr>
              <a:spcAft>
                <a:spcPts val="0"/>
              </a:spcAft>
            </a:pPr>
            <a:r>
              <a:rPr sz="800">
                <a:solidFill>
                  <a:srgbClr val="CCCCCC"/>
                </a:solidFill>
                <a:latin typeface="Consolas"/>
              </a:rPr>
              <a:t> </a:t>
            </a:r>
          </a:p>
          <a:p>
            <a:pPr>
              <a:spcAft>
                <a:spcPts val="0"/>
              </a:spcAft>
            </a:pPr>
            <a:r>
              <a:rPr sz="800">
                <a:solidFill>
                  <a:srgbClr val="CCCCCC"/>
                </a:solidFill>
                <a:latin typeface="Consolas"/>
              </a:rPr>
              <a:t>class </a:t>
            </a:r>
            <a:r>
              <a:rPr sz="800">
                <a:solidFill>
                  <a:srgbClr val="7FC7E8"/>
                </a:solidFill>
                <a:latin typeface="Consolas"/>
              </a:rPr>
              <a:t>MouseReceiver</a:t>
            </a:r>
            <a:r>
              <a:rPr sz="800">
                <a:solidFill>
                  <a:srgbClr val="CCCCCC"/>
                </a:solidFill>
                <a:latin typeface="Consolas"/>
              </a:rPr>
              <a:t>(irr.IEventReceiver):</a:t>
            </a:r>
          </a:p>
          <a:p>
            <a:pPr>
              <a:spcAft>
                <a:spcPts val="0"/>
              </a:spcAft>
            </a:pPr>
            <a:r>
              <a:rPr sz="800">
                <a:solidFill>
                  <a:srgbClr val="CCCCCC"/>
                </a:solidFill>
                <a:latin typeface="Consolas"/>
              </a:rPr>
              <a:t>    </a:t>
            </a:r>
            <a:r>
              <a:rPr sz="800">
                <a:solidFill>
                  <a:srgbClr val="D8A0C0"/>
                </a:solidFill>
                <a:latin typeface="Consolas"/>
              </a:rPr>
              <a:t>""</a:t>
            </a:r>
            <a:r>
              <a:rPr sz="800">
                <a:solidFill>
                  <a:srgbClr val="D8A0C0"/>
                </a:solidFill>
                <a:latin typeface="Consolas"/>
              </a:rPr>
              <a:t>"No Quartz, no CGWindowList, no NSEvent. No macOS. Just Irrlicht."</a:t>
            </a:r>
            <a:r>
              <a:rPr sz="800">
                <a:solidFill>
                  <a:srgbClr val="D8A0C0"/>
                </a:solidFill>
                <a:latin typeface="Consolas"/>
              </a:rPr>
              <a:t>""</a:t>
            </a:r>
          </a:p>
          <a:p>
            <a:pPr>
              <a:spcAft>
                <a:spcPts val="0"/>
              </a:spcAft>
            </a:pPr>
            <a:r>
              <a:rPr sz="800">
                <a:solidFill>
                  <a:srgbClr val="CCCCCC"/>
                </a:solidFill>
                <a:latin typeface="Consolas"/>
              </a:rPr>
              <a:t> </a:t>
            </a:r>
          </a:p>
          <a:p>
            <a:pPr>
              <a:spcAft>
                <a:spcPts val="0"/>
              </a:spcAft>
            </a:pPr>
            <a:r>
              <a:rPr sz="800">
                <a:solidFill>
                  <a:srgbClr val="CCCCCC"/>
                </a:solidFill>
                <a:latin typeface="Consolas"/>
              </a:rPr>
              <a:t>    def </a:t>
            </a:r>
            <a:r>
              <a:rPr sz="800">
                <a:solidFill>
                  <a:srgbClr val="7FC7E8"/>
                </a:solidFill>
                <a:latin typeface="Consolas"/>
              </a:rPr>
              <a:t>__init__</a:t>
            </a:r>
            <a:r>
              <a:rPr sz="800">
                <a:solidFill>
                  <a:srgbClr val="CCCCCC"/>
                </a:solidFill>
                <a:latin typeface="Consolas"/>
              </a:rPr>
              <a:t>(self):</a:t>
            </a:r>
          </a:p>
          <a:p>
            <a:pPr>
              <a:spcAft>
                <a:spcPts val="0"/>
              </a:spcAft>
            </a:pPr>
            <a:r>
              <a:rPr sz="800">
                <a:solidFill>
                  <a:srgbClr val="CCCCCC"/>
                </a:solidFill>
                <a:latin typeface="Consolas"/>
              </a:rPr>
              <a:t>        </a:t>
            </a:r>
            <a:r>
              <a:rPr sz="800">
                <a:solidFill>
                  <a:srgbClr val="7FC7E8"/>
                </a:solidFill>
                <a:latin typeface="Consolas"/>
              </a:rPr>
              <a:t>super</a:t>
            </a:r>
            <a:r>
              <a:rPr sz="800">
                <a:solidFill>
                  <a:srgbClr val="CCCCCC"/>
                </a:solidFill>
                <a:latin typeface="Consolas"/>
              </a:rPr>
              <a:t>().</a:t>
            </a:r>
            <a:r>
              <a:rPr sz="800">
                <a:solidFill>
                  <a:srgbClr val="7FC7E8"/>
                </a:solidFill>
                <a:latin typeface="Consolas"/>
              </a:rPr>
              <a:t>__init__</a:t>
            </a:r>
            <a:r>
              <a:rPr sz="800">
                <a:solidFill>
                  <a:srgbClr val="CCCCCC"/>
                </a:solidFill>
                <a:latin typeface="Consolas"/>
              </a:rPr>
              <a:t>()</a:t>
            </a:r>
          </a:p>
          <a:p>
            <a:pPr>
              <a:spcAft>
                <a:spcPts val="0"/>
              </a:spcAft>
            </a:pPr>
            <a:r>
              <a:rPr sz="800">
                <a:solidFill>
                  <a:srgbClr val="CCCCCC"/>
                </a:solidFill>
                <a:latin typeface="Consolas"/>
              </a:rPr>
              <a:t>        self.x = self.y = 0</a:t>
            </a:r>
          </a:p>
          <a:p>
            <a:pPr>
              <a:spcAft>
                <a:spcPts val="0"/>
              </a:spcAft>
            </a:pPr>
            <a:r>
              <a:rPr sz="800">
                <a:solidFill>
                  <a:srgbClr val="CCCCCC"/>
                </a:solidFill>
                <a:latin typeface="Consolas"/>
              </a:rPr>
              <a:t>        self.down = False</a:t>
            </a:r>
          </a:p>
          <a:p>
            <a:pPr>
              <a:spcAft>
                <a:spcPts val="0"/>
              </a:spcAft>
            </a:pPr>
            <a:r>
              <a:rPr sz="800">
                <a:solidFill>
                  <a:srgbClr val="CCCCCC"/>
                </a:solidFill>
                <a:latin typeface="Consolas"/>
              </a:rPr>
              <a:t>        self.pressed = False          </a:t>
            </a:r>
            <a:r>
              <a:rPr sz="800">
                <a:solidFill>
                  <a:srgbClr val="7FAF7F"/>
                </a:solidFill>
                <a:latin typeface="Consolas"/>
              </a:rPr>
              <a:t># edge, consumed by the loop</a:t>
            </a:r>
          </a:p>
          <a:p>
            <a:pPr>
              <a:spcAft>
                <a:spcPts val="0"/>
              </a:spcAft>
            </a:pPr>
            <a:r>
              <a:rPr sz="800">
                <a:solidFill>
                  <a:srgbClr val="CCCCCC"/>
                </a:solidFill>
                <a:latin typeface="Consolas"/>
              </a:rPr>
              <a:t>        self.keys = </a:t>
            </a:r>
            <a:r>
              <a:rPr sz="800">
                <a:solidFill>
                  <a:srgbClr val="7FC7E8"/>
                </a:solidFill>
                <a:latin typeface="Consolas"/>
              </a:rPr>
              <a:t>set</a:t>
            </a:r>
            <a:r>
              <a:rPr sz="800">
                <a:solidFill>
                  <a:srgbClr val="CCCCCC"/>
                </a:solidFill>
                <a:latin typeface="Consolas"/>
              </a:rPr>
              <a:t>()</a:t>
            </a:r>
          </a:p>
          <a:p>
            <a:pPr>
              <a:spcAft>
                <a:spcPts val="0"/>
              </a:spcAft>
            </a:pPr>
            <a:r>
              <a:rPr sz="800">
                <a:solidFill>
                  <a:srgbClr val="CCCCCC"/>
                </a:solidFill>
                <a:latin typeface="Consolas"/>
              </a:rPr>
              <a:t> </a:t>
            </a:r>
          </a:p>
          <a:p>
            <a:pPr>
              <a:spcAft>
                <a:spcPts val="0"/>
              </a:spcAft>
            </a:pPr>
            <a:r>
              <a:rPr sz="800">
                <a:solidFill>
                  <a:srgbClr val="CCCCCC"/>
                </a:solidFill>
                <a:latin typeface="Consolas"/>
              </a:rPr>
              <a:t>    def </a:t>
            </a:r>
            <a:r>
              <a:rPr sz="800">
                <a:solidFill>
                  <a:srgbClr val="7FC7E8"/>
                </a:solidFill>
                <a:latin typeface="Consolas"/>
              </a:rPr>
              <a:t>OnEvent</a:t>
            </a:r>
            <a:r>
              <a:rPr sz="800">
                <a:solidFill>
                  <a:srgbClr val="CCCCCC"/>
                </a:solidFill>
                <a:latin typeface="Consolas"/>
              </a:rPr>
              <a:t>(self, ev):</a:t>
            </a:r>
          </a:p>
          <a:p>
            <a:pPr>
              <a:spcAft>
                <a:spcPts val="0"/>
              </a:spcAft>
            </a:pPr>
            <a:r>
              <a:rPr sz="800">
                <a:solidFill>
                  <a:srgbClr val="CCCCCC"/>
                </a:solidFill>
                <a:latin typeface="Consolas"/>
              </a:rPr>
              <a:t>        if ev.EventType == irr.EET_MOUSE_INPUT_EVENT:</a:t>
            </a:r>
          </a:p>
          <a:p>
            <a:pPr>
              <a:spcAft>
                <a:spcPts val="0"/>
              </a:spcAft>
            </a:pPr>
            <a:r>
              <a:rPr sz="800">
                <a:solidFill>
                  <a:srgbClr val="CCCCCC"/>
                </a:solidFill>
                <a:latin typeface="Consolas"/>
              </a:rPr>
              <a:t>            self.x, self.y = ev.MouseInput.X, ev.MouseInput.Y</a:t>
            </a:r>
          </a:p>
          <a:p>
            <a:pPr>
              <a:spcAft>
                <a:spcPts val="0"/>
              </a:spcAft>
            </a:pPr>
            <a:r>
              <a:rPr sz="800">
                <a:solidFill>
                  <a:srgbClr val="CCCCCC"/>
                </a:solidFill>
                <a:latin typeface="Consolas"/>
              </a:rPr>
              <a:t>            if ev.MouseInput.Event == irr.EMIE_LMOUSE_PRESSED_DOWN:</a:t>
            </a:r>
          </a:p>
          <a:p>
            <a:pPr>
              <a:spcAft>
                <a:spcPts val="0"/>
              </a:spcAft>
            </a:pPr>
            <a:r>
              <a:rPr sz="800">
                <a:solidFill>
                  <a:srgbClr val="CCCCCC"/>
                </a:solidFill>
                <a:latin typeface="Consolas"/>
              </a:rPr>
              <a:t>                self.down = self.pressed = True</a:t>
            </a:r>
          </a:p>
          <a:p>
            <a:pPr>
              <a:spcAft>
                <a:spcPts val="0"/>
              </a:spcAft>
            </a:pPr>
            <a:r>
              <a:rPr sz="800">
                <a:solidFill>
                  <a:srgbClr val="CCCCCC"/>
                </a:solidFill>
                <a:latin typeface="Consolas"/>
              </a:rPr>
              <a:t>            elif ev.MouseInput.Event == irr.EMIE_LMOUSE_LEFT_UP:</a:t>
            </a:r>
          </a:p>
          <a:p>
            <a:pPr>
              <a:spcAft>
                <a:spcPts val="0"/>
              </a:spcAft>
            </a:pPr>
            <a:r>
              <a:rPr sz="800">
                <a:solidFill>
                  <a:srgbClr val="CCCCCC"/>
                </a:solidFill>
                <a:latin typeface="Consolas"/>
              </a:rPr>
              <a:t>                self.down = False</a:t>
            </a:r>
          </a:p>
        </p:txBody>
      </p:sp>
      <p:sp>
        <p:nvSpPr>
          <p:cNvPr id="4" name="NoteBox"/>
          <p:cNvSpPr txBox="1"/>
          <p:nvPr/>
        </p:nvSpPr>
        <p:spPr>
          <a:xfrm>
            <a:off x="402336" y="5274056"/>
            <a:ext cx="11393424" cy="987551"/>
          </a:xfrm>
          <a:prstGeom prst="rect">
            <a:avLst/>
          </a:prstGeom>
          <a:noFill/>
        </p:spPr>
        <p:txBody>
          <a:bodyPr wrap="square">
            <a:spAutoFit/>
          </a:bodyPr>
          <a:lstStyle/>
          <a:p>
            <a:pPr>
              <a:spcAft>
                <a:spcPts val="400"/>
              </a:spcAft>
            </a:pPr>
            <a:r>
              <a:rPr sz="1600"/>
              <a:t>Without it, reading the mouse means going around Chrono to the operating system: </a:t>
            </a:r>
            <a:r>
              <a:rPr sz="1400">
                <a:latin typeface="Consolas"/>
              </a:rPr>
              <a:t>135 lines</a:t>
            </a:r>
            <a:r>
              <a:rPr sz="1600"/>
              <a:t>, macOS only, and it breaks when another window takes focus.</a:t>
            </a:r>
          </a:p>
          <a:p>
            <a:pPr>
              <a:spcAft>
                <a:spcPts val="400"/>
              </a:spcAft>
            </a:pPr>
            <a:r>
              <a:rPr sz="1600"/>
              <a:t>With it, the same capability is </a:t>
            </a:r>
            <a:r>
              <a:rPr sz="1400">
                <a:latin typeface="Consolas"/>
              </a:rPr>
              <a:t>56 lines</a:t>
            </a:r>
            <a:r>
              <a:rPr sz="1600"/>
              <a:t> of ordinary PyChrono. Upstream PR to follow this talk.</a:t>
            </a:r>
          </a:p>
        </p:txBody>
      </p:sp>
      <p:sp>
        <p:nvSpPr>
          <p:cNvPr id="5"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6" name="PageNo"/>
          <p:cNvSpPr txBox="1"/>
          <p:nvPr/>
        </p:nvSpPr>
        <p:spPr>
          <a:xfrm>
            <a:off x="10250424" y="6647688"/>
            <a:ext cx="1709928" cy="192024"/>
          </a:xfrm>
          <a:prstGeom prst="rect">
            <a:avLst/>
          </a:prstGeom>
          <a:noFill/>
        </p:spPr>
        <p:txBody>
          <a:bodyPr wrap="none">
            <a:spAutoFit/>
          </a:bodyPr>
          <a:lstStyle/>
          <a:p>
            <a:pPr algn="r"/>
            <a:r>
              <a:rPr sz="1000"/>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Turning a click into a body: the ray-cast surface</a:t>
            </a:r>
          </a:p>
        </p:txBody>
      </p:sp>
      <p:sp>
        <p:nvSpPr>
          <p:cNvPr id="3" name="CodeBox"/>
          <p:cNvSpPr txBox="1"/>
          <p:nvPr/>
        </p:nvSpPr>
        <p:spPr>
          <a:xfrm>
            <a:off x="0" y="1207008"/>
            <a:ext cx="12188952" cy="4389119"/>
          </a:xfrm>
          <a:prstGeom prst="rect">
            <a:avLst/>
          </a:prstGeom>
          <a:solidFill>
            <a:srgbClr val="000000"/>
          </a:solidFill>
        </p:spPr>
        <p:txBody>
          <a:bodyPr wrap="none" lIns="320040" tIns="91440">
            <a:spAutoFit/>
          </a:bodyPr>
          <a:lstStyle/>
          <a:p>
            <a:pPr>
              <a:spcAft>
                <a:spcPts val="0"/>
              </a:spcAft>
            </a:pPr>
            <a:r>
              <a:rPr sz="900">
                <a:solidFill>
                  <a:srgbClr val="7FAF7F"/>
                </a:solidFill>
                <a:latin typeface="Consolas"/>
              </a:rPr>
              <a:t>// chrono/collision/ChCollisionSystem.h</a:t>
            </a:r>
          </a:p>
          <a:p>
            <a:pPr>
              <a:spcAft>
                <a:spcPts val="0"/>
              </a:spcAft>
            </a:pPr>
            <a:r>
              <a:rPr sz="900">
                <a:solidFill>
                  <a:srgbClr val="CCCCCC"/>
                </a:solidFill>
                <a:latin typeface="Consolas"/>
              </a:rPr>
              <a:t>struct </a:t>
            </a:r>
            <a:r>
              <a:rPr sz="900">
                <a:solidFill>
                  <a:srgbClr val="F0A040"/>
                </a:solidFill>
                <a:latin typeface="Consolas"/>
              </a:rPr>
              <a:t>ChRayhitResult</a:t>
            </a:r>
            <a:r>
              <a:rPr sz="900">
                <a:solidFill>
                  <a:srgbClr val="CCCCCC"/>
                </a:solidFill>
                <a:latin typeface="Consolas"/>
              </a:rPr>
              <a:t> {</a:t>
            </a:r>
          </a:p>
          <a:p>
            <a:pPr>
              <a:spcAft>
                <a:spcPts val="0"/>
              </a:spcAft>
            </a:pPr>
            <a:r>
              <a:rPr sz="900">
                <a:solidFill>
                  <a:srgbClr val="CCCCCC"/>
                </a:solidFill>
                <a:latin typeface="Consolas"/>
              </a:rPr>
              <a:t>    bool hit;</a:t>
            </a:r>
          </a:p>
          <a:p>
            <a:pPr>
              <a:spcAft>
                <a:spcPts val="0"/>
              </a:spcAft>
            </a:pPr>
            <a:r>
              <a:rPr sz="900">
                <a:solidFill>
                  <a:srgbClr val="CCCCCC"/>
                </a:solidFill>
                <a:latin typeface="Consolas"/>
              </a:rPr>
              <a:t>    </a:t>
            </a:r>
            <a:r>
              <a:rPr sz="900">
                <a:solidFill>
                  <a:srgbClr val="F0A040"/>
                </a:solidFill>
                <a:latin typeface="Consolas"/>
              </a:rPr>
              <a:t>ChVector3d</a:t>
            </a:r>
            <a:r>
              <a:rPr sz="900">
                <a:solidFill>
                  <a:srgbClr val="CCCCCC"/>
                </a:solidFill>
                <a:latin typeface="Consolas"/>
              </a:rPr>
              <a:t> abs_hitPoint;     </a:t>
            </a:r>
            <a:r>
              <a:rPr sz="900">
                <a:solidFill>
                  <a:srgbClr val="7FAF7F"/>
                </a:solidFill>
                <a:latin typeface="Consolas"/>
              </a:rPr>
              <a:t>// where, in world coordinates</a:t>
            </a:r>
          </a:p>
          <a:p>
            <a:pPr>
              <a:spcAft>
                <a:spcPts val="0"/>
              </a:spcAft>
            </a:pPr>
            <a:r>
              <a:rPr sz="900">
                <a:solidFill>
                  <a:srgbClr val="CCCCCC"/>
                </a:solidFill>
                <a:latin typeface="Consolas"/>
              </a:rPr>
              <a:t>    </a:t>
            </a:r>
            <a:r>
              <a:rPr sz="900">
                <a:solidFill>
                  <a:srgbClr val="F0A040"/>
                </a:solidFill>
                <a:latin typeface="Consolas"/>
              </a:rPr>
              <a:t>ChVector3d</a:t>
            </a:r>
            <a:r>
              <a:rPr sz="900">
                <a:solidFill>
                  <a:srgbClr val="CCCCCC"/>
                </a:solidFill>
                <a:latin typeface="Consolas"/>
              </a:rPr>
              <a:t> abs_hitNormal;    </a:t>
            </a:r>
            <a:r>
              <a:rPr sz="900">
                <a:solidFill>
                  <a:srgbClr val="7FAF7F"/>
                </a:solidFill>
                <a:latin typeface="Consolas"/>
              </a:rPr>
              <a:t>// the surface normal there</a:t>
            </a:r>
          </a:p>
          <a:p>
            <a:pPr>
              <a:spcAft>
                <a:spcPts val="0"/>
              </a:spcAft>
            </a:pPr>
            <a:r>
              <a:rPr sz="900">
                <a:solidFill>
                  <a:srgbClr val="CCCCCC"/>
                </a:solidFill>
                <a:latin typeface="Consolas"/>
              </a:rPr>
              <a:t>    double dist_factor;          </a:t>
            </a:r>
            <a:r>
              <a:rPr sz="900">
                <a:solidFill>
                  <a:srgbClr val="7FAF7F"/>
                </a:solidFill>
                <a:latin typeface="Consolas"/>
              </a:rPr>
              <a:t>// 0 .. 1 along the segment</a:t>
            </a:r>
          </a:p>
          <a:p>
            <a:pPr>
              <a:spcAft>
                <a:spcPts val="0"/>
              </a:spcAft>
            </a:pPr>
            <a:r>
              <a:rPr sz="900">
                <a:solidFill>
                  <a:srgbClr val="CCCCCC"/>
                </a:solidFill>
                <a:latin typeface="Consolas"/>
              </a:rPr>
              <a:t>    </a:t>
            </a:r>
            <a:r>
              <a:rPr sz="900">
                <a:solidFill>
                  <a:srgbClr val="F0A040"/>
                </a:solidFill>
                <a:latin typeface="Consolas"/>
              </a:rPr>
              <a:t>ChCollisionModel</a:t>
            </a:r>
            <a:r>
              <a:rPr sz="900">
                <a:solidFill>
                  <a:srgbClr val="CCCCCC"/>
                </a:solidFill>
                <a:latin typeface="Consolas"/>
              </a:rPr>
              <a:t>* hitModel;  </a:t>
            </a:r>
            <a:r>
              <a:rPr sz="900">
                <a:solidFill>
                  <a:srgbClr val="7FAF7F"/>
                </a:solidFill>
                <a:latin typeface="Consolas"/>
              </a:rPr>
              <a:t>// -&gt; CastToChBody() for the body</a:t>
            </a:r>
          </a:p>
          <a:p>
            <a:pPr>
              <a:spcAft>
                <a:spcPts val="0"/>
              </a:spcAft>
            </a:pPr>
            <a:r>
              <a:rPr sz="900">
                <a:solidFill>
                  <a:srgbClr val="CCCCCC"/>
                </a:solidFill>
                <a:latin typeface="Consolas"/>
              </a:rPr>
              <a:t>};</a:t>
            </a:r>
          </a:p>
          <a:p>
            <a:pPr>
              <a:spcAft>
                <a:spcPts val="0"/>
              </a:spcAft>
            </a:pPr>
            <a:r>
              <a:rPr sz="900">
                <a:solidFill>
                  <a:srgbClr val="CCCCCC"/>
                </a:solidFill>
                <a:latin typeface="Consolas"/>
              </a:rPr>
              <a:t> </a:t>
            </a:r>
          </a:p>
          <a:p>
            <a:pPr>
              <a:spcAft>
                <a:spcPts val="0"/>
              </a:spcAft>
            </a:pPr>
            <a:r>
              <a:rPr sz="900">
                <a:solidFill>
                  <a:srgbClr val="CCCCCC"/>
                </a:solidFill>
                <a:latin typeface="Consolas"/>
              </a:rPr>
              <a:t>virtual bool </a:t>
            </a:r>
            <a:r>
              <a:rPr sz="900">
                <a:solidFill>
                  <a:srgbClr val="7FC7E8"/>
                </a:solidFill>
                <a:latin typeface="Consolas"/>
              </a:rPr>
              <a:t>RayHit</a:t>
            </a:r>
            <a:r>
              <a:rPr sz="900">
                <a:solidFill>
                  <a:srgbClr val="CCCCCC"/>
                </a:solidFill>
                <a:latin typeface="Consolas"/>
              </a:rPr>
              <a:t>(const </a:t>
            </a:r>
            <a:r>
              <a:rPr sz="900">
                <a:solidFill>
                  <a:srgbClr val="F0A040"/>
                </a:solidFill>
                <a:latin typeface="Consolas"/>
              </a:rPr>
              <a:t>ChVector3d</a:t>
            </a:r>
            <a:r>
              <a:rPr sz="900">
                <a:solidFill>
                  <a:srgbClr val="CCCCCC"/>
                </a:solidFill>
                <a:latin typeface="Consolas"/>
              </a:rPr>
              <a:t>&amp; from,</a:t>
            </a:r>
          </a:p>
          <a:p>
            <a:pPr>
              <a:spcAft>
                <a:spcPts val="0"/>
              </a:spcAft>
            </a:pPr>
            <a:r>
              <a:rPr sz="900">
                <a:solidFill>
                  <a:srgbClr val="CCCCCC"/>
                </a:solidFill>
                <a:latin typeface="Consolas"/>
              </a:rPr>
              <a:t>                    const </a:t>
            </a:r>
            <a:r>
              <a:rPr sz="900">
                <a:solidFill>
                  <a:srgbClr val="F0A040"/>
                </a:solidFill>
                <a:latin typeface="Consolas"/>
              </a:rPr>
              <a:t>ChVector3d</a:t>
            </a:r>
            <a:r>
              <a:rPr sz="900">
                <a:solidFill>
                  <a:srgbClr val="CCCCCC"/>
                </a:solidFill>
                <a:latin typeface="Consolas"/>
              </a:rPr>
              <a:t>&amp; to,</a:t>
            </a:r>
          </a:p>
          <a:p>
            <a:pPr>
              <a:spcAft>
                <a:spcPts val="0"/>
              </a:spcAft>
            </a:pPr>
            <a:r>
              <a:rPr sz="900">
                <a:solidFill>
                  <a:srgbClr val="CCCCCC"/>
                </a:solidFill>
                <a:latin typeface="Consolas"/>
              </a:rPr>
              <a:t>                    </a:t>
            </a:r>
            <a:r>
              <a:rPr sz="900">
                <a:solidFill>
                  <a:srgbClr val="F0A040"/>
                </a:solidFill>
                <a:latin typeface="Consolas"/>
              </a:rPr>
              <a:t>ChRayhitResult</a:t>
            </a:r>
            <a:r>
              <a:rPr sz="900">
                <a:solidFill>
                  <a:srgbClr val="CCCCCC"/>
                </a:solidFill>
                <a:latin typeface="Consolas"/>
              </a:rPr>
              <a:t>&amp; result) const;</a:t>
            </a:r>
          </a:p>
          <a:p>
            <a:pPr>
              <a:spcAft>
                <a:spcPts val="0"/>
              </a:spcAft>
            </a:pPr>
            <a:r>
              <a:rPr sz="900">
                <a:solidFill>
                  <a:srgbClr val="CCCCCC"/>
                </a:solidFill>
                <a:latin typeface="Consolas"/>
              </a:rPr>
              <a:t> </a:t>
            </a:r>
          </a:p>
          <a:p>
            <a:pPr>
              <a:spcAft>
                <a:spcPts val="0"/>
              </a:spcAft>
            </a:pPr>
            <a:r>
              <a:rPr sz="900">
                <a:solidFill>
                  <a:srgbClr val="7FAF7F"/>
                </a:solidFill>
                <a:latin typeface="Consolas"/>
              </a:rPr>
              <a:t>// A ray sees COLLISION geometry, never visual geometry. A link you</a:t>
            </a:r>
          </a:p>
          <a:p>
            <a:pPr>
              <a:spcAft>
                <a:spcPts val="0"/>
              </a:spcAft>
            </a:pPr>
            <a:r>
              <a:rPr sz="900">
                <a:solidFill>
                  <a:srgbClr val="7FAF7F"/>
                </a:solidFill>
                <a:latin typeface="Consolas"/>
              </a:rPr>
              <a:t>// can see but whose collision is off is invisible to every click.</a:t>
            </a:r>
          </a:p>
          <a:p>
            <a:pPr>
              <a:spcAft>
                <a:spcPts val="0"/>
              </a:spcAft>
            </a:pPr>
            <a:r>
              <a:rPr sz="900">
                <a:solidFill>
                  <a:srgbClr val="7FAF7F"/>
                </a:solidFill>
                <a:latin typeface="Consolas"/>
              </a:rPr>
              <a:t>// That one sentence accounted for every 'it will not pick' bug here.</a:t>
            </a:r>
          </a:p>
          <a:p>
            <a:pPr>
              <a:spcAft>
                <a:spcPts val="0"/>
              </a:spcAft>
            </a:pPr>
            <a:r>
              <a:rPr sz="900">
                <a:solidFill>
                  <a:srgbClr val="CCCCCC"/>
                </a:solidFill>
                <a:latin typeface="Consolas"/>
              </a:rPr>
              <a:t> </a:t>
            </a:r>
          </a:p>
          <a:p>
            <a:pPr>
              <a:spcAft>
                <a:spcPts val="0"/>
              </a:spcAft>
            </a:pPr>
            <a:r>
              <a:rPr sz="900">
                <a:solidFill>
                  <a:srgbClr val="7FAF7F"/>
                </a:solidFill>
                <a:latin typeface="Consolas"/>
              </a:rPr>
              <a:t># ---- and how this tutorial calls it (hil_manipulate.py, lines 338 to 349) ------</a:t>
            </a:r>
          </a:p>
          <a:p>
            <a:pPr>
              <a:spcAft>
                <a:spcPts val="0"/>
              </a:spcAft>
            </a:pPr>
            <a:r>
              <a:rPr sz="900">
                <a:solidFill>
                  <a:srgbClr val="CCCCCC"/>
                </a:solidFill>
                <a:latin typeface="Consolas"/>
              </a:rPr>
              <a:t>def </a:t>
            </a:r>
            <a:r>
              <a:rPr sz="900">
                <a:solidFill>
                  <a:srgbClr val="7FC7E8"/>
                </a:solidFill>
                <a:latin typeface="Consolas"/>
              </a:rPr>
              <a:t>pick_along_ray</a:t>
            </a:r>
            <a:r>
              <a:rPr sz="900">
                <a:solidFill>
                  <a:srgbClr val="CCCCCC"/>
                </a:solidFill>
                <a:latin typeface="Consolas"/>
              </a:rPr>
              <a:t>(system, start, end):</a:t>
            </a:r>
          </a:p>
          <a:p>
            <a:pPr>
              <a:spcAft>
                <a:spcPts val="0"/>
              </a:spcAft>
            </a:pPr>
            <a:r>
              <a:rPr sz="900">
                <a:solidFill>
                  <a:srgbClr val="CCCCCC"/>
                </a:solidFill>
                <a:latin typeface="Consolas"/>
              </a:rPr>
              <a:t>    </a:t>
            </a:r>
            <a:r>
              <a:rPr sz="900">
                <a:solidFill>
                  <a:srgbClr val="D8A0C0"/>
                </a:solidFill>
                <a:latin typeface="Consolas"/>
              </a:rPr>
              <a:t>""</a:t>
            </a:r>
            <a:r>
              <a:rPr sz="900">
                <a:solidFill>
                  <a:srgbClr val="D8A0C0"/>
                </a:solidFill>
                <a:latin typeface="Consolas"/>
              </a:rPr>
              <a:t>"The primitive a mouse click would use. Returns (body, world_point) or None."</a:t>
            </a:r>
            <a:r>
              <a:rPr sz="900">
                <a:solidFill>
                  <a:srgbClr val="D8A0C0"/>
                </a:solidFill>
                <a:latin typeface="Consolas"/>
              </a:rPr>
              <a:t>""</a:t>
            </a:r>
          </a:p>
          <a:p>
            <a:pPr>
              <a:spcAft>
                <a:spcPts val="0"/>
              </a:spcAft>
            </a:pPr>
            <a:r>
              <a:rPr sz="900">
                <a:solidFill>
                  <a:srgbClr val="CCCCCC"/>
                </a:solidFill>
                <a:latin typeface="Consolas"/>
              </a:rPr>
              <a:t>    res = chrono.</a:t>
            </a:r>
            <a:r>
              <a:rPr sz="900">
                <a:solidFill>
                  <a:srgbClr val="F0A040"/>
                </a:solidFill>
                <a:latin typeface="Consolas"/>
              </a:rPr>
              <a:t>ChRayhitResult</a:t>
            </a:r>
            <a:r>
              <a:rPr sz="900">
                <a:solidFill>
                  <a:srgbClr val="CCCCCC"/>
                </a:solidFill>
                <a:latin typeface="Consolas"/>
              </a:rPr>
              <a:t>()</a:t>
            </a:r>
          </a:p>
          <a:p>
            <a:pPr>
              <a:spcAft>
                <a:spcPts val="0"/>
              </a:spcAft>
            </a:pPr>
            <a:r>
              <a:rPr sz="900">
                <a:solidFill>
                  <a:srgbClr val="CCCCCC"/>
                </a:solidFill>
                <a:latin typeface="Consolas"/>
              </a:rPr>
              <a:t>    system.</a:t>
            </a:r>
            <a:r>
              <a:rPr sz="900">
                <a:solidFill>
                  <a:srgbClr val="7FC7E8"/>
                </a:solidFill>
                <a:latin typeface="Consolas"/>
              </a:rPr>
              <a:t>GetCollisionSystem</a:t>
            </a:r>
            <a:r>
              <a:rPr sz="900">
                <a:solidFill>
                  <a:srgbClr val="CCCCCC"/>
                </a:solidFill>
                <a:latin typeface="Consolas"/>
              </a:rPr>
              <a:t>().</a:t>
            </a:r>
            <a:r>
              <a:rPr sz="900">
                <a:solidFill>
                  <a:srgbClr val="7FC7E8"/>
                </a:solidFill>
                <a:latin typeface="Consolas"/>
              </a:rPr>
              <a:t>RayHit</a:t>
            </a:r>
            <a:r>
              <a:rPr sz="900">
                <a:solidFill>
                  <a:srgbClr val="CCCCCC"/>
                </a:solidFill>
                <a:latin typeface="Consolas"/>
              </a:rPr>
              <a:t>(start, end, res)</a:t>
            </a:r>
          </a:p>
          <a:p>
            <a:pPr>
              <a:spcAft>
                <a:spcPts val="0"/>
              </a:spcAft>
            </a:pPr>
            <a:r>
              <a:rPr sz="900">
                <a:solidFill>
                  <a:srgbClr val="CCCCCC"/>
                </a:solidFill>
                <a:latin typeface="Consolas"/>
              </a:rPr>
              <a:t>    if not res.hit:</a:t>
            </a:r>
          </a:p>
          <a:p>
            <a:pPr>
              <a:spcAft>
                <a:spcPts val="0"/>
              </a:spcAft>
            </a:pPr>
            <a:r>
              <a:rPr sz="900">
                <a:solidFill>
                  <a:srgbClr val="CCCCCC"/>
                </a:solidFill>
                <a:latin typeface="Consolas"/>
              </a:rPr>
              <a:t>        return None</a:t>
            </a:r>
          </a:p>
          <a:p>
            <a:pPr>
              <a:spcAft>
                <a:spcPts val="0"/>
              </a:spcAft>
            </a:pPr>
            <a:r>
              <a:rPr sz="900">
                <a:solidFill>
                  <a:srgbClr val="CCCCCC"/>
                </a:solidFill>
                <a:latin typeface="Consolas"/>
              </a:rPr>
              <a:t>    body = chrono.</a:t>
            </a:r>
            <a:r>
              <a:rPr sz="900">
                <a:solidFill>
                  <a:srgbClr val="7FC7E8"/>
                </a:solidFill>
                <a:latin typeface="Consolas"/>
              </a:rPr>
              <a:t>CastToChBody</a:t>
            </a:r>
            <a:r>
              <a:rPr sz="900">
                <a:solidFill>
                  <a:srgbClr val="CCCCCC"/>
                </a:solidFill>
                <a:latin typeface="Consolas"/>
              </a:rPr>
              <a:t>(res.hitModel.</a:t>
            </a:r>
            <a:r>
              <a:rPr sz="900">
                <a:solidFill>
                  <a:srgbClr val="7FC7E8"/>
                </a:solidFill>
                <a:latin typeface="Consolas"/>
              </a:rPr>
              <a:t>GetContactable</a:t>
            </a:r>
            <a:r>
              <a:rPr sz="900">
                <a:solidFill>
                  <a:srgbClr val="CCCCCC"/>
                </a:solidFill>
                <a:latin typeface="Consolas"/>
              </a:rPr>
              <a:t>())</a:t>
            </a:r>
          </a:p>
          <a:p>
            <a:pPr>
              <a:spcAft>
                <a:spcPts val="0"/>
              </a:spcAft>
            </a:pPr>
            <a:r>
              <a:rPr sz="900">
                <a:solidFill>
                  <a:srgbClr val="CCCCCC"/>
                </a:solidFill>
                <a:latin typeface="Consolas"/>
              </a:rPr>
              <a:t>    if body is None:</a:t>
            </a:r>
          </a:p>
          <a:p>
            <a:pPr>
              <a:spcAft>
                <a:spcPts val="0"/>
              </a:spcAft>
            </a:pPr>
            <a:r>
              <a:rPr sz="900">
                <a:solidFill>
                  <a:srgbClr val="CCCCCC"/>
                </a:solidFill>
                <a:latin typeface="Consolas"/>
              </a:rPr>
              <a:t>        return None</a:t>
            </a:r>
          </a:p>
          <a:p>
            <a:pPr>
              <a:spcAft>
                <a:spcPts val="0"/>
              </a:spcAft>
            </a:pPr>
            <a:r>
              <a:rPr sz="900">
                <a:solidFill>
                  <a:srgbClr val="CCCCCC"/>
                </a:solidFill>
                <a:latin typeface="Consolas"/>
              </a:rPr>
              <a:t>    p, nrm = res.abs_hitPoint, res.abs_hitNormal</a:t>
            </a:r>
          </a:p>
          <a:p>
            <a:pPr>
              <a:spcAft>
                <a:spcPts val="0"/>
              </a:spcAft>
            </a:pPr>
            <a:r>
              <a:rPr sz="900">
                <a:solidFill>
                  <a:srgbClr val="CCCCCC"/>
                </a:solidFill>
                <a:latin typeface="Consolas"/>
              </a:rPr>
              <a:t>    </a:t>
            </a:r>
            <a:r>
              <a:rPr sz="900">
                <a:solidFill>
                  <a:srgbClr val="7FC7E8"/>
                </a:solidFill>
                <a:latin typeface="Consolas"/>
              </a:rPr>
              <a:t>return</a:t>
            </a:r>
            <a:r>
              <a:rPr sz="900">
                <a:solidFill>
                  <a:srgbClr val="CCCCCC"/>
                </a:solidFill>
                <a:latin typeface="Consolas"/>
              </a:rPr>
              <a:t> (body, chrono.</a:t>
            </a:r>
            <a:r>
              <a:rPr sz="900">
                <a:solidFill>
                  <a:srgbClr val="F0A040"/>
                </a:solidFill>
                <a:latin typeface="Consolas"/>
              </a:rPr>
              <a:t>ChVector3d</a:t>
            </a:r>
            <a:r>
              <a:rPr sz="900">
                <a:solidFill>
                  <a:srgbClr val="CCCCCC"/>
                </a:solidFill>
                <a:latin typeface="Consolas"/>
              </a:rPr>
              <a:t>(p.x, p.y, p.z),</a:t>
            </a:r>
          </a:p>
          <a:p>
            <a:pPr>
              <a:spcAft>
                <a:spcPts val="0"/>
              </a:spcAft>
            </a:pPr>
            <a:r>
              <a:rPr sz="900">
                <a:solidFill>
                  <a:srgbClr val="CCCCCC"/>
                </a:solidFill>
                <a:latin typeface="Consolas"/>
              </a:rPr>
              <a:t>            chrono.</a:t>
            </a:r>
            <a:r>
              <a:rPr sz="900">
                <a:solidFill>
                  <a:srgbClr val="F0A040"/>
                </a:solidFill>
                <a:latin typeface="Consolas"/>
              </a:rPr>
              <a:t>ChVector3d</a:t>
            </a:r>
            <a:r>
              <a:rPr sz="900">
                <a:solidFill>
                  <a:srgbClr val="CCCCCC"/>
                </a:solidFill>
                <a:latin typeface="Consolas"/>
              </a:rPr>
              <a:t>(nrm.x, nrm.y, nrm.z))</a:t>
            </a:r>
          </a:p>
        </p:txBody>
      </p:sp>
      <p:sp>
        <p:nvSpPr>
          <p:cNvPr id="4" name="NoteBox"/>
          <p:cNvSpPr txBox="1"/>
          <p:nvPr/>
        </p:nvSpPr>
        <p:spPr>
          <a:xfrm>
            <a:off x="402336" y="5705855"/>
            <a:ext cx="11393424" cy="713232"/>
          </a:xfrm>
          <a:prstGeom prst="rect">
            <a:avLst/>
          </a:prstGeom>
          <a:noFill/>
        </p:spPr>
        <p:txBody>
          <a:bodyPr wrap="square">
            <a:spAutoFit/>
          </a:bodyPr>
          <a:lstStyle/>
          <a:p>
            <a:pPr>
              <a:spcAft>
                <a:spcPts val="400"/>
              </a:spcAft>
            </a:pPr>
            <a:r>
              <a:rPr sz="1600"/>
              <a:t>Exposed in PyChrono already, and exact: the same primitive a native mouse handler would call. Screen pixel to ray is your arithmetic; ray to body is Chrono's.</a:t>
            </a:r>
          </a:p>
        </p:txBody>
      </p:sp>
      <p:sp>
        <p:nvSpPr>
          <p:cNvPr id="5"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6" name="PageNo"/>
          <p:cNvSpPr txBox="1"/>
          <p:nvPr/>
        </p:nvSpPr>
        <p:spPr>
          <a:xfrm>
            <a:off x="10250424" y="6647688"/>
            <a:ext cx="1709928" cy="192024"/>
          </a:xfrm>
          <a:prstGeom prst="rect">
            <a:avLst/>
          </a:prstGeom>
          <a:noFill/>
        </p:spPr>
        <p:txBody>
          <a:bodyPr wrap="none">
            <a:spAutoFit/>
          </a:bodyPr>
          <a:lstStyle/>
          <a:p>
            <a:pPr algn="r"/>
            <a:r>
              <a:rPr sz="1000"/>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Turning a pull into physics: force, or constraint</a:t>
            </a:r>
          </a:p>
        </p:txBody>
      </p:sp>
      <p:sp>
        <p:nvSpPr>
          <p:cNvPr id="3" name="CodeBox"/>
          <p:cNvSpPr txBox="1"/>
          <p:nvPr/>
        </p:nvSpPr>
        <p:spPr>
          <a:xfrm>
            <a:off x="0" y="1207008"/>
            <a:ext cx="12188952" cy="3719195"/>
          </a:xfrm>
          <a:prstGeom prst="rect">
            <a:avLst/>
          </a:prstGeom>
          <a:solidFill>
            <a:srgbClr val="000000"/>
          </a:solidFill>
        </p:spPr>
        <p:txBody>
          <a:bodyPr wrap="none" lIns="320040" tIns="91440">
            <a:spAutoFit/>
          </a:bodyPr>
          <a:lstStyle/>
          <a:p>
            <a:pPr>
              <a:spcAft>
                <a:spcPts val="0"/>
              </a:spcAft>
            </a:pPr>
            <a:r>
              <a:rPr sz="700">
                <a:solidFill>
                  <a:srgbClr val="7FAF7F"/>
                </a:solidFill>
                <a:latin typeface="Consolas"/>
              </a:rPr>
              <a:t>// A human pulling on something is one of exactly two things.</a:t>
            </a:r>
          </a:p>
          <a:p>
            <a:pPr>
              <a:spcAft>
                <a:spcPts val="0"/>
              </a:spcAft>
            </a:pPr>
            <a:r>
              <a:rPr sz="700">
                <a:solidFill>
                  <a:srgbClr val="CCCCCC"/>
                </a:solidFill>
                <a:latin typeface="Consolas"/>
              </a:rPr>
              <a:t> </a:t>
            </a:r>
          </a:p>
          <a:p>
            <a:pPr>
              <a:spcAft>
                <a:spcPts val="0"/>
              </a:spcAft>
            </a:pPr>
            <a:r>
              <a:rPr sz="700">
                <a:solidFill>
                  <a:srgbClr val="7FAF7F"/>
                </a:solidFill>
                <a:latin typeface="Consolas"/>
              </a:rPr>
              <a:t>// 1. A FORCE, when you want a push of known size (chrono/physics/ChBody.h)</a:t>
            </a:r>
          </a:p>
          <a:p>
            <a:pPr>
              <a:spcAft>
                <a:spcPts val="0"/>
              </a:spcAft>
            </a:pPr>
            <a:r>
              <a:rPr sz="700">
                <a:solidFill>
                  <a:srgbClr val="CCCCCC"/>
                </a:solidFill>
                <a:latin typeface="Consolas"/>
              </a:rPr>
              <a:t>unsigned int idx = body-&gt;</a:t>
            </a:r>
            <a:r>
              <a:rPr sz="700">
                <a:solidFill>
                  <a:srgbClr val="7FC7E8"/>
                </a:solidFill>
                <a:latin typeface="Consolas"/>
              </a:rPr>
              <a:t>AddAccumulator</a:t>
            </a:r>
            <a:r>
              <a:rPr sz="700">
                <a:solidFill>
                  <a:srgbClr val="CCCCCC"/>
                </a:solidFill>
                <a:latin typeface="Consolas"/>
              </a:rPr>
              <a:t>();       </a:t>
            </a:r>
            <a:r>
              <a:rPr sz="700">
                <a:solidFill>
                  <a:srgbClr val="7FAF7F"/>
                </a:solidFill>
                <a:latin typeface="Consolas"/>
              </a:rPr>
              <a:t>// ONCE per body</a:t>
            </a:r>
          </a:p>
          <a:p>
            <a:pPr>
              <a:spcAft>
                <a:spcPts val="0"/>
              </a:spcAft>
            </a:pPr>
            <a:r>
              <a:rPr sz="700">
                <a:solidFill>
                  <a:srgbClr val="CCCCCC"/>
                </a:solidFill>
                <a:latin typeface="Consolas"/>
              </a:rPr>
              <a:t>body-&gt;</a:t>
            </a:r>
            <a:r>
              <a:rPr sz="700">
                <a:solidFill>
                  <a:srgbClr val="7FC7E8"/>
                </a:solidFill>
                <a:latin typeface="Consolas"/>
              </a:rPr>
              <a:t>EmptyAccumulator</a:t>
            </a:r>
            <a:r>
              <a:rPr sz="700">
                <a:solidFill>
                  <a:srgbClr val="CCCCCC"/>
                </a:solidFill>
                <a:latin typeface="Consolas"/>
              </a:rPr>
              <a:t>(idx);                     </a:t>
            </a:r>
            <a:r>
              <a:rPr sz="700">
                <a:solidFill>
                  <a:srgbClr val="7FAF7F"/>
                </a:solidFill>
                <a:latin typeface="Consolas"/>
              </a:rPr>
              <a:t>// your job, EVERY step</a:t>
            </a:r>
          </a:p>
          <a:p>
            <a:pPr>
              <a:spcAft>
                <a:spcPts val="0"/>
              </a:spcAft>
            </a:pPr>
            <a:r>
              <a:rPr sz="700">
                <a:solidFill>
                  <a:srgbClr val="CCCCCC"/>
                </a:solidFill>
                <a:latin typeface="Consolas"/>
              </a:rPr>
              <a:t>body-&gt;</a:t>
            </a:r>
            <a:r>
              <a:rPr sz="700">
                <a:solidFill>
                  <a:srgbClr val="7FC7E8"/>
                </a:solidFill>
                <a:latin typeface="Consolas"/>
              </a:rPr>
              <a:t>AccumulateForce</a:t>
            </a:r>
            <a:r>
              <a:rPr sz="700">
                <a:solidFill>
                  <a:srgbClr val="CCCCCC"/>
                </a:solidFill>
                <a:latin typeface="Consolas"/>
              </a:rPr>
              <a:t>(idx, force, appl_point, local);</a:t>
            </a:r>
          </a:p>
          <a:p>
            <a:pPr>
              <a:spcAft>
                <a:spcPts val="0"/>
              </a:spcAft>
            </a:pPr>
            <a:r>
              <a:rPr sz="700">
                <a:solidFill>
                  <a:srgbClr val="CCCCCC"/>
                </a:solidFill>
                <a:latin typeface="Consolas"/>
              </a:rPr>
              <a:t>body-&gt;</a:t>
            </a:r>
            <a:r>
              <a:rPr sz="700">
                <a:solidFill>
                  <a:srgbClr val="7FC7E8"/>
                </a:solidFill>
                <a:latin typeface="Consolas"/>
              </a:rPr>
              <a:t>AccumulateTorque</a:t>
            </a:r>
            <a:r>
              <a:rPr sz="700">
                <a:solidFill>
                  <a:srgbClr val="CCCCCC"/>
                </a:solidFill>
                <a:latin typeface="Consolas"/>
              </a:rPr>
              <a:t>(idx, torque, local);</a:t>
            </a:r>
          </a:p>
          <a:p>
            <a:pPr>
              <a:spcAft>
                <a:spcPts val="0"/>
              </a:spcAft>
            </a:pPr>
            <a:r>
              <a:rPr sz="700">
                <a:solidFill>
                  <a:srgbClr val="CCCCCC"/>
                </a:solidFill>
                <a:latin typeface="Consolas"/>
              </a:rPr>
              <a:t> </a:t>
            </a:r>
          </a:p>
          <a:p>
            <a:pPr>
              <a:spcAft>
                <a:spcPts val="0"/>
              </a:spcAft>
            </a:pPr>
            <a:r>
              <a:rPr sz="700">
                <a:solidFill>
                  <a:srgbClr val="7FAF7F"/>
                </a:solidFill>
                <a:latin typeface="Consolas"/>
              </a:rPr>
              <a:t>// 2. A CONSTRAINT, when you want a hand (chrono/physics/ChLinkTSDA.h)</a:t>
            </a:r>
          </a:p>
          <a:p>
            <a:pPr>
              <a:spcAft>
                <a:spcPts val="0"/>
              </a:spcAft>
            </a:pPr>
            <a:r>
              <a:rPr sz="700">
                <a:solidFill>
                  <a:srgbClr val="CCCCCC"/>
                </a:solidFill>
                <a:latin typeface="Consolas"/>
              </a:rPr>
              <a:t>spring-&gt;</a:t>
            </a:r>
            <a:r>
              <a:rPr sz="700">
                <a:solidFill>
                  <a:srgbClr val="7FC7E8"/>
                </a:solidFill>
                <a:latin typeface="Consolas"/>
              </a:rPr>
              <a:t>Initialize</a:t>
            </a:r>
            <a:r>
              <a:rPr sz="700">
                <a:solidFill>
                  <a:srgbClr val="CCCCCC"/>
                </a:solidFill>
                <a:latin typeface="Consolas"/>
              </a:rPr>
              <a:t>(handle, body, local, point1, point2);</a:t>
            </a:r>
          </a:p>
          <a:p>
            <a:pPr>
              <a:spcAft>
                <a:spcPts val="0"/>
              </a:spcAft>
            </a:pPr>
            <a:r>
              <a:rPr sz="700">
                <a:solidFill>
                  <a:srgbClr val="CCCCCC"/>
                </a:solidFill>
                <a:latin typeface="Consolas"/>
              </a:rPr>
              <a:t>spring-&gt;</a:t>
            </a:r>
            <a:r>
              <a:rPr sz="700">
                <a:solidFill>
                  <a:srgbClr val="7FC7E8"/>
                </a:solidFill>
                <a:latin typeface="Consolas"/>
              </a:rPr>
              <a:t>SetRestLength</a:t>
            </a:r>
            <a:r>
              <a:rPr sz="700">
                <a:solidFill>
                  <a:srgbClr val="CCCCCC"/>
                </a:solidFill>
                <a:latin typeface="Consolas"/>
              </a:rPr>
              <a:t>(0.0);</a:t>
            </a:r>
          </a:p>
          <a:p>
            <a:pPr>
              <a:spcAft>
                <a:spcPts val="0"/>
              </a:spcAft>
            </a:pPr>
            <a:r>
              <a:rPr sz="700">
                <a:solidFill>
                  <a:srgbClr val="CCCCCC"/>
                </a:solidFill>
                <a:latin typeface="Consolas"/>
              </a:rPr>
              <a:t>spring-&gt;</a:t>
            </a:r>
            <a:r>
              <a:rPr sz="700">
                <a:solidFill>
                  <a:srgbClr val="7FC7E8"/>
                </a:solidFill>
                <a:latin typeface="Consolas"/>
              </a:rPr>
              <a:t>SetSpringCoefficient</a:t>
            </a:r>
            <a:r>
              <a:rPr sz="700">
                <a:solidFill>
                  <a:srgbClr val="CCCCCC"/>
                </a:solidFill>
                <a:latin typeface="Consolas"/>
              </a:rPr>
              <a:t>(k);   </a:t>
            </a:r>
            <a:r>
              <a:rPr sz="700">
                <a:solidFill>
                  <a:srgbClr val="7FAF7F"/>
                </a:solidFill>
                <a:latin typeface="Consolas"/>
              </a:rPr>
              <a:t>// k = m*w^2   scale with the MASS</a:t>
            </a:r>
          </a:p>
          <a:p>
            <a:pPr>
              <a:spcAft>
                <a:spcPts val="0"/>
              </a:spcAft>
            </a:pPr>
            <a:r>
              <a:rPr sz="700">
                <a:solidFill>
                  <a:srgbClr val="CCCCCC"/>
                </a:solidFill>
                <a:latin typeface="Consolas"/>
              </a:rPr>
              <a:t>spring-&gt;</a:t>
            </a:r>
            <a:r>
              <a:rPr sz="700">
                <a:solidFill>
                  <a:srgbClr val="7FC7E8"/>
                </a:solidFill>
                <a:latin typeface="Consolas"/>
              </a:rPr>
              <a:t>SetDampingCoefficient</a:t>
            </a:r>
            <a:r>
              <a:rPr sz="700">
                <a:solidFill>
                  <a:srgbClr val="CCCCCC"/>
                </a:solidFill>
                <a:latin typeface="Consolas"/>
              </a:rPr>
              <a:t>(c);  </a:t>
            </a:r>
            <a:r>
              <a:rPr sz="700">
                <a:solidFill>
                  <a:srgbClr val="7FAF7F"/>
                </a:solidFill>
                <a:latin typeface="Consolas"/>
              </a:rPr>
              <a:t>// c = 2*m*w    critically damped</a:t>
            </a:r>
          </a:p>
          <a:p>
            <a:pPr>
              <a:spcAft>
                <a:spcPts val="0"/>
              </a:spcAft>
            </a:pPr>
            <a:r>
              <a:rPr sz="700">
                <a:solidFill>
                  <a:srgbClr val="CCCCCC"/>
                </a:solidFill>
                <a:latin typeface="Consolas"/>
              </a:rPr>
              <a:t>sys.</a:t>
            </a:r>
            <a:r>
              <a:rPr sz="700">
                <a:solidFill>
                  <a:srgbClr val="7FC7E8"/>
                </a:solidFill>
                <a:latin typeface="Consolas"/>
              </a:rPr>
              <a:t>AddLink</a:t>
            </a:r>
            <a:r>
              <a:rPr sz="700">
                <a:solidFill>
                  <a:srgbClr val="CCCCCC"/>
                </a:solidFill>
                <a:latin typeface="Consolas"/>
              </a:rPr>
              <a:t>(spring);</a:t>
            </a:r>
          </a:p>
          <a:p>
            <a:pPr>
              <a:spcAft>
                <a:spcPts val="0"/>
              </a:spcAft>
            </a:pPr>
            <a:r>
              <a:rPr sz="700">
                <a:solidFill>
                  <a:srgbClr val="CCCCCC"/>
                </a:solidFill>
                <a:latin typeface="Consolas"/>
              </a:rPr>
              <a:t> </a:t>
            </a:r>
          </a:p>
          <a:p>
            <a:pPr>
              <a:spcAft>
                <a:spcPts val="0"/>
              </a:spcAft>
            </a:pPr>
            <a:r>
              <a:rPr sz="700">
                <a:solidFill>
                  <a:srgbClr val="7FAF7F"/>
                </a:solidFill>
                <a:latin typeface="Consolas"/>
              </a:rPr>
              <a:t># ---- and how this tutorial calls it (hil_manipulate.py, lines 488 to 502) ------</a:t>
            </a:r>
          </a:p>
          <a:p>
            <a:pPr>
              <a:spcAft>
                <a:spcPts val="0"/>
              </a:spcAft>
            </a:pPr>
            <a:r>
              <a:rPr sz="700">
                <a:solidFill>
                  <a:srgbClr val="CCCCCC"/>
                </a:solidFill>
                <a:latin typeface="Consolas"/>
              </a:rPr>
              <a:t>omega = </a:t>
            </a:r>
            <a:r>
              <a:rPr sz="700">
                <a:solidFill>
                  <a:srgbClr val="7FC7E8"/>
                </a:solidFill>
                <a:latin typeface="Consolas"/>
              </a:rPr>
              <a:t>getattr</a:t>
            </a:r>
            <a:r>
              <a:rPr sz="700">
                <a:solidFill>
                  <a:srgbClr val="CCCCCC"/>
                </a:solidFill>
                <a:latin typeface="Consolas"/>
              </a:rPr>
              <a:t>(self.system, </a:t>
            </a:r>
            <a:r>
              <a:rPr sz="700">
                <a:solidFill>
                  <a:srgbClr val="D8A0C0"/>
                </a:solidFill>
                <a:latin typeface="Consolas"/>
              </a:rPr>
              <a:t>"grab_omega"</a:t>
            </a:r>
            <a:r>
              <a:rPr sz="700">
                <a:solidFill>
                  <a:srgbClr val="CCCCCC"/>
                </a:solidFill>
                <a:latin typeface="Consolas"/>
              </a:rPr>
              <a:t>, GRAB_OMEGA)</a:t>
            </a:r>
          </a:p>
          <a:p>
            <a:pPr>
              <a:spcAft>
                <a:spcPts val="0"/>
              </a:spcAft>
            </a:pPr>
            <a:r>
              <a:rPr sz="700">
                <a:solidFill>
                  <a:srgbClr val="CCCCCC"/>
                </a:solidFill>
                <a:latin typeface="Consolas"/>
              </a:rPr>
              <a:t>m = </a:t>
            </a:r>
            <a:r>
              <a:rPr sz="700">
                <a:solidFill>
                  <a:srgbClr val="7FC7E8"/>
                </a:solidFill>
                <a:latin typeface="Consolas"/>
              </a:rPr>
              <a:t>max</a:t>
            </a:r>
            <a:r>
              <a:rPr sz="700">
                <a:solidFill>
                  <a:srgbClr val="CCCCCC"/>
                </a:solidFill>
                <a:latin typeface="Consolas"/>
              </a:rPr>
              <a:t>(body.</a:t>
            </a:r>
            <a:r>
              <a:rPr sz="700">
                <a:solidFill>
                  <a:srgbClr val="7FC7E8"/>
                </a:solidFill>
                <a:latin typeface="Consolas"/>
              </a:rPr>
              <a:t>GetMass</a:t>
            </a:r>
            <a:r>
              <a:rPr sz="700">
                <a:solidFill>
                  <a:srgbClr val="CCCCCC"/>
                </a:solidFill>
                <a:latin typeface="Consolas"/>
              </a:rPr>
              <a:t>(), 1e-3)</a:t>
            </a:r>
          </a:p>
          <a:p>
            <a:pPr>
              <a:spcAft>
                <a:spcPts val="0"/>
              </a:spcAft>
            </a:pPr>
            <a:r>
              <a:rPr sz="700">
                <a:solidFill>
                  <a:srgbClr val="CCCCCC"/>
                </a:solidFill>
                <a:latin typeface="Consolas"/>
              </a:rPr>
              <a:t>k = m * omega * omega</a:t>
            </a:r>
          </a:p>
          <a:p>
            <a:pPr>
              <a:spcAft>
                <a:spcPts val="0"/>
              </a:spcAft>
            </a:pPr>
            <a:r>
              <a:rPr sz="700">
                <a:solidFill>
                  <a:srgbClr val="CCCCCC"/>
                </a:solidFill>
                <a:latin typeface="Consolas"/>
              </a:rPr>
              <a:t>c = 2.0 * m * omega * GRAB_ZETA</a:t>
            </a:r>
          </a:p>
          <a:p>
            <a:pPr>
              <a:spcAft>
                <a:spcPts val="0"/>
              </a:spcAft>
            </a:pPr>
            <a:r>
              <a:rPr sz="700">
                <a:solidFill>
                  <a:srgbClr val="7FAF7F"/>
                </a:solidFill>
                <a:latin typeface="Consolas"/>
              </a:rPr>
              <a:t># Belt and braces against tunnelling: a grabbed body may not move faster</a:t>
            </a:r>
          </a:p>
          <a:p>
            <a:pPr>
              <a:spcAft>
                <a:spcPts val="0"/>
              </a:spcAft>
            </a:pPr>
            <a:r>
              <a:rPr sz="700">
                <a:solidFill>
                  <a:srgbClr val="7FAF7F"/>
                </a:solidFill>
                <a:latin typeface="Consolas"/>
              </a:rPr>
              <a:t># than contact detection can keep up with at this step size.</a:t>
            </a:r>
          </a:p>
          <a:p>
            <a:pPr>
              <a:spcAft>
                <a:spcPts val="0"/>
              </a:spcAft>
            </a:pPr>
            <a:r>
              <a:rPr sz="700">
                <a:solidFill>
                  <a:srgbClr val="CCCCCC"/>
                </a:solidFill>
                <a:latin typeface="Consolas"/>
              </a:rPr>
              <a:t>self._had_limit = body.</a:t>
            </a:r>
            <a:r>
              <a:rPr sz="700">
                <a:solidFill>
                  <a:srgbClr val="7FC7E8"/>
                </a:solidFill>
                <a:latin typeface="Consolas"/>
              </a:rPr>
              <a:t>GetLimitSpeed</a:t>
            </a:r>
            <a:r>
              <a:rPr sz="700">
                <a:solidFill>
                  <a:srgbClr val="CCCCCC"/>
                </a:solidFill>
                <a:latin typeface="Consolas"/>
              </a:rPr>
              <a:t>() if </a:t>
            </a:r>
            <a:r>
              <a:rPr sz="700">
                <a:solidFill>
                  <a:srgbClr val="7FC7E8"/>
                </a:solidFill>
                <a:latin typeface="Consolas"/>
              </a:rPr>
              <a:t>hasattr</a:t>
            </a:r>
            <a:r>
              <a:rPr sz="700">
                <a:solidFill>
                  <a:srgbClr val="CCCCCC"/>
                </a:solidFill>
                <a:latin typeface="Consolas"/>
              </a:rPr>
              <a:t>(body, </a:t>
            </a:r>
            <a:r>
              <a:rPr sz="700">
                <a:solidFill>
                  <a:srgbClr val="D8A0C0"/>
                </a:solidFill>
                <a:latin typeface="Consolas"/>
              </a:rPr>
              <a:t>"GetLimitSpeed"</a:t>
            </a:r>
            <a:r>
              <a:rPr sz="700">
                <a:solidFill>
                  <a:srgbClr val="CCCCCC"/>
                </a:solidFill>
                <a:latin typeface="Consolas"/>
              </a:rPr>
              <a:t>) else False</a:t>
            </a:r>
          </a:p>
          <a:p>
            <a:pPr>
              <a:spcAft>
                <a:spcPts val="0"/>
              </a:spcAft>
            </a:pPr>
            <a:r>
              <a:rPr sz="700">
                <a:solidFill>
                  <a:srgbClr val="CCCCCC"/>
                </a:solidFill>
                <a:latin typeface="Consolas"/>
              </a:rPr>
              <a:t>body.</a:t>
            </a:r>
            <a:r>
              <a:rPr sz="700">
                <a:solidFill>
                  <a:srgbClr val="7FC7E8"/>
                </a:solidFill>
                <a:latin typeface="Consolas"/>
              </a:rPr>
              <a:t>SetLimitSpeed</a:t>
            </a:r>
            <a:r>
              <a:rPr sz="700">
                <a:solidFill>
                  <a:srgbClr val="CCCCCC"/>
                </a:solidFill>
                <a:latin typeface="Consolas"/>
              </a:rPr>
              <a:t>(True)</a:t>
            </a:r>
          </a:p>
          <a:p>
            <a:pPr>
              <a:spcAft>
                <a:spcPts val="0"/>
              </a:spcAft>
            </a:pPr>
            <a:r>
              <a:rPr sz="700">
                <a:solidFill>
                  <a:srgbClr val="CCCCCC"/>
                </a:solidFill>
                <a:latin typeface="Consolas"/>
              </a:rPr>
              <a:t>body.</a:t>
            </a:r>
            <a:r>
              <a:rPr sz="700">
                <a:solidFill>
                  <a:srgbClr val="7FC7E8"/>
                </a:solidFill>
                <a:latin typeface="Consolas"/>
              </a:rPr>
              <a:t>SetMaxLinVel</a:t>
            </a:r>
            <a:r>
              <a:rPr sz="700">
                <a:solidFill>
                  <a:srgbClr val="CCCCCC"/>
                </a:solidFill>
                <a:latin typeface="Consolas"/>
              </a:rPr>
              <a:t>(GRAB_MAX_SPEED)</a:t>
            </a:r>
          </a:p>
          <a:p>
            <a:pPr>
              <a:spcAft>
                <a:spcPts val="0"/>
              </a:spcAft>
            </a:pPr>
            <a:r>
              <a:rPr sz="700">
                <a:solidFill>
                  <a:srgbClr val="CCCCCC"/>
                </a:solidFill>
                <a:latin typeface="Consolas"/>
              </a:rPr>
              <a:t>self.spring = chrono.</a:t>
            </a:r>
            <a:r>
              <a:rPr sz="700">
                <a:solidFill>
                  <a:srgbClr val="F0A040"/>
                </a:solidFill>
                <a:latin typeface="Consolas"/>
              </a:rPr>
              <a:t>ChLinkTSDA</a:t>
            </a:r>
            <a:r>
              <a:rPr sz="700">
                <a:solidFill>
                  <a:srgbClr val="CCCCCC"/>
                </a:solidFill>
                <a:latin typeface="Consolas"/>
              </a:rPr>
              <a:t>()</a:t>
            </a:r>
          </a:p>
          <a:p>
            <a:pPr>
              <a:spcAft>
                <a:spcPts val="0"/>
              </a:spcAft>
            </a:pPr>
            <a:r>
              <a:rPr sz="700">
                <a:solidFill>
                  <a:srgbClr val="CCCCCC"/>
                </a:solidFill>
                <a:latin typeface="Consolas"/>
              </a:rPr>
              <a:t>self.spring.</a:t>
            </a:r>
            <a:r>
              <a:rPr sz="700">
                <a:solidFill>
                  <a:srgbClr val="7FC7E8"/>
                </a:solidFill>
                <a:latin typeface="Consolas"/>
              </a:rPr>
              <a:t>Initialize</a:t>
            </a:r>
            <a:r>
              <a:rPr sz="700">
                <a:solidFill>
                  <a:srgbClr val="CCCCCC"/>
                </a:solidFill>
                <a:latin typeface="Consolas"/>
              </a:rPr>
              <a:t>(self.handle, body, False, point, point)</a:t>
            </a:r>
          </a:p>
          <a:p>
            <a:pPr>
              <a:spcAft>
                <a:spcPts val="0"/>
              </a:spcAft>
            </a:pPr>
            <a:r>
              <a:rPr sz="700">
                <a:solidFill>
                  <a:srgbClr val="CCCCCC"/>
                </a:solidFill>
                <a:latin typeface="Consolas"/>
              </a:rPr>
              <a:t>self.spring.</a:t>
            </a:r>
            <a:r>
              <a:rPr sz="700">
                <a:solidFill>
                  <a:srgbClr val="7FC7E8"/>
                </a:solidFill>
                <a:latin typeface="Consolas"/>
              </a:rPr>
              <a:t>SetRestLength</a:t>
            </a:r>
            <a:r>
              <a:rPr sz="700">
                <a:solidFill>
                  <a:srgbClr val="CCCCCC"/>
                </a:solidFill>
                <a:latin typeface="Consolas"/>
              </a:rPr>
              <a:t>(0.0)</a:t>
            </a:r>
          </a:p>
          <a:p>
            <a:pPr>
              <a:spcAft>
                <a:spcPts val="0"/>
              </a:spcAft>
            </a:pPr>
            <a:r>
              <a:rPr sz="700">
                <a:solidFill>
                  <a:srgbClr val="CCCCCC"/>
                </a:solidFill>
                <a:latin typeface="Consolas"/>
              </a:rPr>
              <a:t>self.spring.</a:t>
            </a:r>
            <a:r>
              <a:rPr sz="700">
                <a:solidFill>
                  <a:srgbClr val="7FC7E8"/>
                </a:solidFill>
                <a:latin typeface="Consolas"/>
              </a:rPr>
              <a:t>SetSpringCoefficient</a:t>
            </a:r>
            <a:r>
              <a:rPr sz="700">
                <a:solidFill>
                  <a:srgbClr val="CCCCCC"/>
                </a:solidFill>
                <a:latin typeface="Consolas"/>
              </a:rPr>
              <a:t>(k)</a:t>
            </a:r>
          </a:p>
          <a:p>
            <a:pPr>
              <a:spcAft>
                <a:spcPts val="0"/>
              </a:spcAft>
            </a:pPr>
            <a:r>
              <a:rPr sz="700">
                <a:solidFill>
                  <a:srgbClr val="CCCCCC"/>
                </a:solidFill>
                <a:latin typeface="Consolas"/>
              </a:rPr>
              <a:t>self.spring.</a:t>
            </a:r>
            <a:r>
              <a:rPr sz="700">
                <a:solidFill>
                  <a:srgbClr val="7FC7E8"/>
                </a:solidFill>
                <a:latin typeface="Consolas"/>
              </a:rPr>
              <a:t>SetDampingCoefficient</a:t>
            </a:r>
            <a:r>
              <a:rPr sz="700">
                <a:solidFill>
                  <a:srgbClr val="CCCCCC"/>
                </a:solidFill>
                <a:latin typeface="Consolas"/>
              </a:rPr>
              <a:t>(c)</a:t>
            </a:r>
          </a:p>
          <a:p>
            <a:pPr>
              <a:spcAft>
                <a:spcPts val="0"/>
              </a:spcAft>
            </a:pPr>
            <a:r>
              <a:rPr sz="700">
                <a:solidFill>
                  <a:srgbClr val="CCCCCC"/>
                </a:solidFill>
                <a:latin typeface="Consolas"/>
              </a:rPr>
              <a:t>self.system.</a:t>
            </a:r>
            <a:r>
              <a:rPr sz="700">
                <a:solidFill>
                  <a:srgbClr val="7FC7E8"/>
                </a:solidFill>
                <a:latin typeface="Consolas"/>
              </a:rPr>
              <a:t>AddLink</a:t>
            </a:r>
            <a:r>
              <a:rPr sz="700">
                <a:solidFill>
                  <a:srgbClr val="CCCCCC"/>
                </a:solidFill>
                <a:latin typeface="Consolas"/>
              </a:rPr>
              <a:t>(self.spring)</a:t>
            </a:r>
          </a:p>
        </p:txBody>
      </p:sp>
      <p:sp>
        <p:nvSpPr>
          <p:cNvPr id="4" name="NoteBox"/>
          <p:cNvSpPr txBox="1"/>
          <p:nvPr/>
        </p:nvSpPr>
        <p:spPr>
          <a:xfrm>
            <a:off x="402336" y="5035931"/>
            <a:ext cx="11393424" cy="1261872"/>
          </a:xfrm>
          <a:prstGeom prst="rect">
            <a:avLst/>
          </a:prstGeom>
          <a:noFill/>
        </p:spPr>
        <p:txBody>
          <a:bodyPr wrap="square">
            <a:spAutoFit/>
          </a:bodyPr>
          <a:lstStyle/>
          <a:p>
            <a:pPr>
              <a:spcAft>
                <a:spcPts val="400"/>
              </a:spcAft>
            </a:pPr>
            <a:r>
              <a:rPr sz="1600"/>
              <a:t>Chrono never clears an accumulator for you, and </a:t>
            </a:r>
            <a:r>
              <a:rPr sz="1400">
                <a:latin typeface="Consolas"/>
              </a:rPr>
              <a:t>AddAccumulator()</a:t>
            </a:r>
            <a:r>
              <a:rPr sz="1600"/>
              <a:t> appends, so calling it per push leaks a slot and every stale slot keeps contributing.</a:t>
            </a:r>
          </a:p>
          <a:p>
            <a:pPr>
              <a:spcAft>
                <a:spcPts val="400"/>
              </a:spcAft>
            </a:pPr>
            <a:r>
              <a:rPr sz="1600"/>
              <a:t>Gains must scale with what is being pulled. A stiffness tuned on a 0.154 kg Go2 calf gave a 2.7 kg Panda link </a:t>
            </a:r>
            <a:r>
              <a:rPr sz="1400">
                <a:latin typeface="Consolas"/>
              </a:rPr>
              <a:t>21,870 N/m</a:t>
            </a:r>
            <a:r>
              <a:rPr sz="1600"/>
              <a:t>, which is </a:t>
            </a:r>
            <a:r>
              <a:rPr sz="1400">
                <a:latin typeface="Consolas"/>
              </a:rPr>
              <a:t>24,300 m/s^2</a:t>
            </a:r>
            <a:r>
              <a:rPr sz="1600"/>
              <a:t>: through the floor in a single step.</a:t>
            </a:r>
          </a:p>
        </p:txBody>
      </p:sp>
      <p:sp>
        <p:nvSpPr>
          <p:cNvPr id="5"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6" name="PageNo"/>
          <p:cNvSpPr txBox="1"/>
          <p:nvPr/>
        </p:nvSpPr>
        <p:spPr>
          <a:xfrm>
            <a:off x="10250424" y="6647688"/>
            <a:ext cx="1709928" cy="192024"/>
          </a:xfrm>
          <a:prstGeom prst="rect">
            <a:avLst/>
          </a:prstGeom>
          <a:noFill/>
        </p:spPr>
        <p:txBody>
          <a:bodyPr wrap="none">
            <a:spAutoFit/>
          </a:bodyPr>
          <a:lstStyle/>
          <a:p>
            <a:pPr algn="r"/>
            <a:r>
              <a:rPr sz="1000"/>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Demo Time: reaching in and pulling on a robot</a:t>
            </a:r>
          </a:p>
        </p:txBody>
      </p:sp>
      <p:sp>
        <p:nvSpPr>
          <p:cNvPr id="3" name="Content Placeholder 2"/>
          <p:cNvSpPr>
            <a:spLocks noGrp="1"/>
          </p:cNvSpPr>
          <p:nvPr>
            <p:ph idx="1"/>
          </p:nvPr>
        </p:nvSpPr>
        <p:spPr>
          <a:xfrm>
            <a:off x="642552" y="1313782"/>
            <a:ext cx="10936224" cy="5203976"/>
          </a:xfrm>
        </p:spPr>
        <p:txBody>
          <a:bodyPr wrap="square"/>
          <a:lstStyle/>
          <a:p>
            <a:pPr>
              <a:spcAft>
                <a:spcPts val="900"/>
              </a:spcAft>
            </a:pPr>
            <a:r>
              <a:rPr sz="1800">
                <a:latin typeface="Consolas"/>
              </a:rPr>
              <a:t>WHAT</a:t>
            </a:r>
            <a:r>
              <a:rPr sz="2000"/>
              <a:t>  click a link and drag it while its controller keeps working</a:t>
            </a:r>
          </a:p>
          <a:p>
            <a:pPr>
              <a:spcAft>
                <a:spcPts val="900"/>
              </a:spcAft>
            </a:pPr>
            <a:r>
              <a:rPr sz="1800">
                <a:latin typeface="Consolas"/>
              </a:rPr>
              <a:t>WHY</a:t>
            </a:r>
            <a:r>
              <a:rPr sz="2000"/>
              <a:t>   human input as a FORCE rather than as driver inputs, which is how everything that is not a vehicle gets a person in its loop</a:t>
            </a:r>
          </a:p>
          <a:p>
            <a:pPr>
              <a:spcAft>
                <a:spcPts val="900"/>
              </a:spcAft>
            </a:pPr>
            <a:r>
              <a:rPr sz="1800">
                <a:latin typeface="Consolas"/>
              </a:rPr>
              <a:t>Go2</a:t>
            </a:r>
            <a:r>
              <a:rPr sz="2000"/>
              <a:t>, driven by a trained locomotion policy: pull on a leg and it steps to keep its feet.</a:t>
            </a:r>
          </a:p>
          <a:p>
            <a:pPr>
              <a:spcAft>
                <a:spcPts val="900"/>
              </a:spcAft>
            </a:pPr>
            <a:r>
              <a:rPr sz="1800">
                <a:latin typeface="Consolas"/>
              </a:rPr>
              <a:t>Franka</a:t>
            </a:r>
            <a:r>
              <a:rPr sz="2000"/>
              <a:t>, hand-guided: the motors hold position, and the arm follows your hand and returns when you let go.</a:t>
            </a:r>
          </a:p>
          <a:p>
            <a:pPr>
              <a:spcAft>
                <a:spcPts val="900"/>
              </a:spcAft>
            </a:pPr>
            <a:r>
              <a:rPr sz="1800">
                <a:latin typeface="Consolas"/>
              </a:rPr>
              <a:t>Franka</a:t>
            </a:r>
            <a:r>
              <a:rPr sz="2000"/>
              <a:t>, unactuated: the motors are off, so it collapses under gravity and you can pose the dead weight by hand.</a:t>
            </a:r>
          </a:p>
        </p:txBody>
      </p:sp>
      <p:pic>
        <p:nvPicPr>
          <p:cNvPr id="4" name="Picture 3" descr="demo_go2.png"/>
          <p:cNvPicPr>
            <a:picLocks noChangeAspect="1"/>
          </p:cNvPicPr>
          <p:nvPr/>
        </p:nvPicPr>
        <p:blipFill>
          <a:blip r:embed="rId2"/>
          <a:stretch>
            <a:fillRect/>
          </a:stretch>
        </p:blipFill>
        <p:spPr>
          <a:xfrm>
            <a:off x="4360205" y="5020055"/>
            <a:ext cx="1783461" cy="1380744"/>
          </a:xfrm>
          <a:prstGeom prst="rect">
            <a:avLst/>
          </a:prstGeom>
        </p:spPr>
      </p:pic>
      <p:pic>
        <p:nvPicPr>
          <p:cNvPr id="5" name="Picture 4" descr="demo_arm.png"/>
          <p:cNvPicPr>
            <a:picLocks noChangeAspect="1"/>
          </p:cNvPicPr>
          <p:nvPr/>
        </p:nvPicPr>
        <p:blipFill>
          <a:blip r:embed="rId3"/>
          <a:stretch>
            <a:fillRect/>
          </a:stretch>
        </p:blipFill>
        <p:spPr>
          <a:xfrm>
            <a:off x="6417986" y="5020055"/>
            <a:ext cx="1410760" cy="1380744"/>
          </a:xfrm>
          <a:prstGeom prst="rect">
            <a:avLst/>
          </a:prstGeom>
        </p:spPr>
      </p:pic>
      <p:sp>
        <p:nvSpPr>
          <p:cNvPr id="6"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7" name="PageNo"/>
          <p:cNvSpPr txBox="1"/>
          <p:nvPr/>
        </p:nvSpPr>
        <p:spPr>
          <a:xfrm>
            <a:off x="10250424" y="6647688"/>
            <a:ext cx="1709928" cy="192024"/>
          </a:xfrm>
          <a:prstGeom prst="rect">
            <a:avLst/>
          </a:prstGeom>
          <a:noFill/>
        </p:spPr>
        <p:txBody>
          <a:bodyPr wrap="none">
            <a:spAutoFit/>
          </a:bodyPr>
          <a:lstStyle/>
          <a:p>
            <a:pPr algn="r"/>
            <a:r>
              <a:rPr sz="1000"/>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Taking the human out of the part that must repeat</a:t>
            </a:r>
          </a:p>
        </p:txBody>
      </p:sp>
      <p:sp>
        <p:nvSpPr>
          <p:cNvPr id="3" name="CodeBox"/>
          <p:cNvSpPr txBox="1"/>
          <p:nvPr/>
        </p:nvSpPr>
        <p:spPr>
          <a:xfrm>
            <a:off x="0" y="1207008"/>
            <a:ext cx="12188952" cy="4389119"/>
          </a:xfrm>
          <a:prstGeom prst="rect">
            <a:avLst/>
          </a:prstGeom>
          <a:solidFill>
            <a:srgbClr val="000000"/>
          </a:solidFill>
        </p:spPr>
        <p:txBody>
          <a:bodyPr wrap="none" lIns="320040" tIns="91440">
            <a:spAutoFit/>
          </a:bodyPr>
          <a:lstStyle/>
          <a:p>
            <a:pPr>
              <a:spcAft>
                <a:spcPts val="0"/>
              </a:spcAft>
            </a:pPr>
            <a:r>
              <a:rPr sz="800">
                <a:solidFill>
                  <a:srgbClr val="7FAF7F"/>
                </a:solidFill>
                <a:latin typeface="Consolas"/>
              </a:rPr>
              <a:t># The pattern, not the API: decide which half of the human's input</a:t>
            </a:r>
          </a:p>
          <a:p>
            <a:pPr>
              <a:spcAft>
                <a:spcPts val="0"/>
              </a:spcAft>
            </a:pPr>
            <a:r>
              <a:rPr sz="800">
                <a:solidFill>
                  <a:srgbClr val="7FAF7F"/>
                </a:solidFill>
                <a:latin typeface="Consolas"/>
              </a:rPr>
              <a:t># has to be repeatable, and script only that half.</a:t>
            </a:r>
          </a:p>
          <a:p>
            <a:pPr>
              <a:spcAft>
                <a:spcPts val="0"/>
              </a:spcAft>
            </a:pPr>
            <a:r>
              <a:rPr sz="800">
                <a:solidFill>
                  <a:srgbClr val="7FAF7F"/>
                </a:solidFill>
                <a:latin typeface="Consolas"/>
              </a:rPr>
              <a:t>#</a:t>
            </a:r>
          </a:p>
          <a:p>
            <a:pPr>
              <a:spcAft>
                <a:spcPts val="0"/>
              </a:spcAft>
            </a:pPr>
            <a:r>
              <a:rPr sz="800">
                <a:solidFill>
                  <a:srgbClr val="7FAF7F"/>
                </a:solidFill>
                <a:latin typeface="Consolas"/>
              </a:rPr>
              <a:t>#   the person keeps:   WHERE on the body, and WHICH DIRECTION</a:t>
            </a:r>
          </a:p>
          <a:p>
            <a:pPr>
              <a:spcAft>
                <a:spcPts val="0"/>
              </a:spcAft>
            </a:pPr>
            <a:r>
              <a:rPr sz="800">
                <a:solidFill>
                  <a:srgbClr val="7FAF7F"/>
                </a:solidFill>
                <a:latin typeface="Consolas"/>
              </a:rPr>
              <a:t>#   the machine keeps:  a constant force F held for a fixed window dt</a:t>
            </a:r>
          </a:p>
          <a:p>
            <a:pPr>
              <a:spcAft>
                <a:spcPts val="0"/>
              </a:spcAft>
            </a:pPr>
            <a:r>
              <a:rPr sz="800">
                <a:solidFill>
                  <a:srgbClr val="7FAF7F"/>
                </a:solidFill>
                <a:latin typeface="Consolas"/>
              </a:rPr>
              <a:t>#</a:t>
            </a:r>
          </a:p>
          <a:p>
            <a:pPr>
              <a:spcAft>
                <a:spcPts val="0"/>
              </a:spcAft>
            </a:pPr>
            <a:r>
              <a:rPr sz="800">
                <a:solidFill>
                  <a:srgbClr val="7FAF7F"/>
                </a:solidFill>
                <a:latin typeface="Consolas"/>
              </a:rPr>
              <a:t>#   impulse  J = F * dt      both printed, both logged</a:t>
            </a:r>
          </a:p>
          <a:p>
            <a:pPr>
              <a:spcAft>
                <a:spcPts val="0"/>
              </a:spcAft>
            </a:pPr>
            <a:r>
              <a:rPr sz="800">
                <a:solidFill>
                  <a:srgbClr val="7FAF7F"/>
                </a:solidFill>
                <a:latin typeface="Consolas"/>
              </a:rPr>
              <a:t>#</a:t>
            </a:r>
          </a:p>
          <a:p>
            <a:pPr>
              <a:spcAft>
                <a:spcPts val="0"/>
              </a:spcAft>
            </a:pPr>
            <a:r>
              <a:rPr sz="800">
                <a:solidFill>
                  <a:srgbClr val="7FAF7F"/>
                </a:solidFill>
                <a:latin typeface="Consolas"/>
              </a:rPr>
              <a:t># A freehand drag cannot answer 'how hard can I shove it', because</a:t>
            </a:r>
          </a:p>
          <a:p>
            <a:pPr>
              <a:spcAft>
                <a:spcPts val="0"/>
              </a:spcAft>
            </a:pPr>
            <a:r>
              <a:rPr sz="800">
                <a:solidFill>
                  <a:srgbClr val="7FAF7F"/>
                </a:solidFill>
                <a:latin typeface="Consolas"/>
              </a:rPr>
              <a:t># no two drags are the same: the force depends on how fast a hand</a:t>
            </a:r>
          </a:p>
          <a:p>
            <a:pPr>
              <a:spcAft>
                <a:spcPts val="0"/>
              </a:spcAft>
            </a:pPr>
            <a:r>
              <a:rPr sz="800">
                <a:solidFill>
                  <a:srgbClr val="7FAF7F"/>
                </a:solidFill>
                <a:latin typeface="Consolas"/>
              </a:rPr>
              <a:t># moved and how long a button was held. There is no number at the end.</a:t>
            </a:r>
          </a:p>
          <a:p>
            <a:pPr>
              <a:spcAft>
                <a:spcPts val="0"/>
              </a:spcAft>
            </a:pPr>
            <a:r>
              <a:rPr sz="800">
                <a:solidFill>
                  <a:srgbClr val="7FAF7F"/>
                </a:solidFill>
                <a:latin typeface="Consolas"/>
              </a:rPr>
              <a:t># Script the magnitude and you get one you can put in a report.</a:t>
            </a:r>
          </a:p>
          <a:p>
            <a:pPr>
              <a:spcAft>
                <a:spcPts val="0"/>
              </a:spcAft>
            </a:pPr>
            <a:r>
              <a:rPr sz="800">
                <a:solidFill>
                  <a:srgbClr val="CCCCCC"/>
                </a:solidFill>
                <a:latin typeface="Consolas"/>
              </a:rPr>
              <a:t> </a:t>
            </a:r>
          </a:p>
          <a:p>
            <a:pPr>
              <a:spcAft>
                <a:spcPts val="0"/>
              </a:spcAft>
            </a:pPr>
            <a:r>
              <a:rPr sz="800">
                <a:solidFill>
                  <a:srgbClr val="7FAF7F"/>
                </a:solidFill>
                <a:latin typeface="Consolas"/>
              </a:rPr>
              <a:t># ---- and how this tutorial calls it (hil_push.py, lines 264 to 283) ------</a:t>
            </a:r>
          </a:p>
          <a:p>
            <a:pPr>
              <a:spcAft>
                <a:spcPts val="0"/>
              </a:spcAft>
            </a:pPr>
            <a:r>
              <a:rPr sz="800">
                <a:solidFill>
                  <a:srgbClr val="CCCCCC"/>
                </a:solidFill>
                <a:latin typeface="Consolas"/>
              </a:rPr>
              <a:t>def </a:t>
            </a:r>
            <a:r>
              <a:rPr sz="800">
                <a:solidFill>
                  <a:srgbClr val="7FC7E8"/>
                </a:solidFill>
                <a:latin typeface="Consolas"/>
              </a:rPr>
              <a:t>fire</a:t>
            </a:r>
            <a:r>
              <a:rPr sz="800">
                <a:solidFill>
                  <a:srgbClr val="CCCCCC"/>
                </a:solidFill>
                <a:latin typeface="Consolas"/>
              </a:rPr>
              <a:t>(self, cfg, t):</a:t>
            </a:r>
          </a:p>
          <a:p>
            <a:pPr>
              <a:spcAft>
                <a:spcPts val="0"/>
              </a:spcAft>
            </a:pPr>
            <a:r>
              <a:rPr sz="800">
                <a:solidFill>
                  <a:srgbClr val="CCCCCC"/>
                </a:solidFill>
                <a:latin typeface="Consolas"/>
              </a:rPr>
              <a:t>    body = cfg.body</a:t>
            </a:r>
          </a:p>
          <a:p>
            <a:pPr>
              <a:spcAft>
                <a:spcPts val="0"/>
              </a:spcAft>
            </a:pPr>
            <a:r>
              <a:rPr sz="800">
                <a:solidFill>
                  <a:srgbClr val="CCCCCC"/>
                </a:solidFill>
                <a:latin typeface="Consolas"/>
              </a:rPr>
              <a:t>    self.active = (body, cfg.</a:t>
            </a:r>
            <a:r>
              <a:rPr sz="800">
                <a:solidFill>
                  <a:srgbClr val="7FC7E8"/>
                </a:solidFill>
                <a:latin typeface="Consolas"/>
              </a:rPr>
              <a:t>force</a:t>
            </a:r>
            <a:r>
              <a:rPr sz="800">
                <a:solidFill>
                  <a:srgbClr val="CCCCCC"/>
                </a:solidFill>
                <a:latin typeface="Consolas"/>
              </a:rPr>
              <a:t>(), chrono.</a:t>
            </a:r>
            <a:r>
              <a:rPr sz="800">
                <a:solidFill>
                  <a:srgbClr val="F0A040"/>
                </a:solidFill>
                <a:latin typeface="Consolas"/>
              </a:rPr>
              <a:t>ChVector3d</a:t>
            </a:r>
            <a:r>
              <a:rPr sz="800">
                <a:solidFill>
                  <a:srgbClr val="CCCCCC"/>
                </a:solidFill>
                <a:latin typeface="Consolas"/>
              </a:rPr>
              <a:t>(cfg.local_point),</a:t>
            </a:r>
          </a:p>
          <a:p>
            <a:pPr>
              <a:spcAft>
                <a:spcPts val="0"/>
              </a:spcAft>
            </a:pPr>
            <a:r>
              <a:rPr sz="800">
                <a:solidFill>
                  <a:srgbClr val="CCCCCC"/>
                </a:solidFill>
                <a:latin typeface="Consolas"/>
              </a:rPr>
              <a:t>                   t + cfg.duration)</a:t>
            </a:r>
          </a:p>
          <a:p>
            <a:pPr>
              <a:spcAft>
                <a:spcPts val="0"/>
              </a:spcAft>
            </a:pPr>
            <a:r>
              <a:rPr sz="800">
                <a:solidFill>
                  <a:srgbClr val="CCCCCC"/>
                </a:solidFill>
                <a:latin typeface="Consolas"/>
              </a:rPr>
              <a:t>    self.fired_at = t</a:t>
            </a:r>
          </a:p>
          <a:p>
            <a:pPr>
              <a:spcAft>
                <a:spcPts val="0"/>
              </a:spcAft>
            </a:pPr>
            <a:r>
              <a:rPr sz="800">
                <a:solidFill>
                  <a:srgbClr val="CCCCCC"/>
                </a:solidFill>
                <a:latin typeface="Consolas"/>
              </a:rPr>
              <a:t>    return self.</a:t>
            </a:r>
            <a:r>
              <a:rPr sz="800">
                <a:solidFill>
                  <a:srgbClr val="7FC7E8"/>
                </a:solidFill>
                <a:latin typeface="Consolas"/>
              </a:rPr>
              <a:t>_slot</a:t>
            </a:r>
            <a:r>
              <a:rPr sz="800">
                <a:solidFill>
                  <a:srgbClr val="CCCCCC"/>
                </a:solidFill>
                <a:latin typeface="Consolas"/>
              </a:rPr>
              <a:t>(body)</a:t>
            </a:r>
          </a:p>
          <a:p>
            <a:pPr>
              <a:spcAft>
                <a:spcPts val="0"/>
              </a:spcAft>
            </a:pPr>
            <a:r>
              <a:rPr sz="800">
                <a:solidFill>
                  <a:srgbClr val="CCCCCC"/>
                </a:solidFill>
                <a:latin typeface="Consolas"/>
              </a:rPr>
              <a:t> </a:t>
            </a:r>
          </a:p>
          <a:p>
            <a:pPr>
              <a:spcAft>
                <a:spcPts val="0"/>
              </a:spcAft>
            </a:pPr>
            <a:r>
              <a:rPr sz="800">
                <a:solidFill>
                  <a:srgbClr val="CCCCCC"/>
                </a:solidFill>
                <a:latin typeface="Consolas"/>
              </a:rPr>
              <a:t>def </a:t>
            </a:r>
            <a:r>
              <a:rPr sz="800">
                <a:solidFill>
                  <a:srgbClr val="7FC7E8"/>
                </a:solidFill>
                <a:latin typeface="Consolas"/>
              </a:rPr>
              <a:t>update</a:t>
            </a:r>
            <a:r>
              <a:rPr sz="800">
                <a:solidFill>
                  <a:srgbClr val="CCCCCC"/>
                </a:solidFill>
                <a:latin typeface="Consolas"/>
              </a:rPr>
              <a:t>(self, t):</a:t>
            </a:r>
          </a:p>
          <a:p>
            <a:pPr>
              <a:spcAft>
                <a:spcPts val="0"/>
              </a:spcAft>
            </a:pPr>
            <a:r>
              <a:rPr sz="800">
                <a:solidFill>
                  <a:srgbClr val="CCCCCC"/>
                </a:solidFill>
                <a:latin typeface="Consolas"/>
              </a:rPr>
              <a:t>    </a:t>
            </a:r>
            <a:r>
              <a:rPr sz="800">
                <a:solidFill>
                  <a:srgbClr val="D8A0C0"/>
                </a:solidFill>
                <a:latin typeface="Consolas"/>
              </a:rPr>
              <a:t>""</a:t>
            </a:r>
            <a:r>
              <a:rPr sz="800">
                <a:solidFill>
                  <a:srgbClr val="D8A0C0"/>
                </a:solidFill>
                <a:latin typeface="Consolas"/>
              </a:rPr>
              <a:t>"Call every step, BEFORE DoStepDynamics. Returns True while pushing."</a:t>
            </a:r>
            <a:r>
              <a:rPr sz="800">
                <a:solidFill>
                  <a:srgbClr val="D8A0C0"/>
                </a:solidFill>
                <a:latin typeface="Consolas"/>
              </a:rPr>
              <a:t>""</a:t>
            </a:r>
          </a:p>
          <a:p>
            <a:pPr>
              <a:spcAft>
                <a:spcPts val="0"/>
              </a:spcAft>
            </a:pPr>
            <a:r>
              <a:rPr sz="800">
                <a:solidFill>
                  <a:srgbClr val="CCCCCC"/>
                </a:solidFill>
                <a:latin typeface="Consolas"/>
              </a:rPr>
              <a:t>    if self.active is None:</a:t>
            </a:r>
          </a:p>
          <a:p>
            <a:pPr>
              <a:spcAft>
                <a:spcPts val="0"/>
              </a:spcAft>
            </a:pPr>
            <a:r>
              <a:rPr sz="800">
                <a:solidFill>
                  <a:srgbClr val="CCCCCC"/>
                </a:solidFill>
                <a:latin typeface="Consolas"/>
              </a:rPr>
              <a:t>        return False</a:t>
            </a:r>
          </a:p>
          <a:p>
            <a:pPr>
              <a:spcAft>
                <a:spcPts val="0"/>
              </a:spcAft>
            </a:pPr>
            <a:r>
              <a:rPr sz="800">
                <a:solidFill>
                  <a:srgbClr val="CCCCCC"/>
                </a:solidFill>
                <a:latin typeface="Consolas"/>
              </a:rPr>
              <a:t>    body, force, local, t_end = self.active</a:t>
            </a:r>
          </a:p>
          <a:p>
            <a:pPr>
              <a:spcAft>
                <a:spcPts val="0"/>
              </a:spcAft>
            </a:pPr>
            <a:r>
              <a:rPr sz="800">
                <a:solidFill>
                  <a:srgbClr val="CCCCCC"/>
                </a:solidFill>
                <a:latin typeface="Consolas"/>
              </a:rPr>
              <a:t>    idx = self.</a:t>
            </a:r>
            <a:r>
              <a:rPr sz="800">
                <a:solidFill>
                  <a:srgbClr val="7FC7E8"/>
                </a:solidFill>
                <a:latin typeface="Consolas"/>
              </a:rPr>
              <a:t>_slot</a:t>
            </a:r>
            <a:r>
              <a:rPr sz="800">
                <a:solidFill>
                  <a:srgbClr val="CCCCCC"/>
                </a:solidFill>
                <a:latin typeface="Consolas"/>
              </a:rPr>
              <a:t>(body)</a:t>
            </a:r>
          </a:p>
          <a:p>
            <a:pPr>
              <a:spcAft>
                <a:spcPts val="0"/>
              </a:spcAft>
            </a:pPr>
            <a:r>
              <a:rPr sz="800">
                <a:solidFill>
                  <a:srgbClr val="CCCCCC"/>
                </a:solidFill>
                <a:latin typeface="Consolas"/>
              </a:rPr>
              <a:t>    body.</a:t>
            </a:r>
            <a:r>
              <a:rPr sz="800">
                <a:solidFill>
                  <a:srgbClr val="7FC7E8"/>
                </a:solidFill>
                <a:latin typeface="Consolas"/>
              </a:rPr>
              <a:t>EmptyAccumulator</a:t>
            </a:r>
            <a:r>
              <a:rPr sz="800">
                <a:solidFill>
                  <a:srgbClr val="CCCCCC"/>
                </a:solidFill>
                <a:latin typeface="Consolas"/>
              </a:rPr>
              <a:t>(idx)            </a:t>
            </a:r>
            <a:r>
              <a:rPr sz="800">
                <a:solidFill>
                  <a:srgbClr val="7FAF7F"/>
                </a:solidFill>
                <a:latin typeface="Consolas"/>
              </a:rPr>
              <a:t># Chrono never clears these for you</a:t>
            </a:r>
          </a:p>
          <a:p>
            <a:pPr>
              <a:spcAft>
                <a:spcPts val="0"/>
              </a:spcAft>
            </a:pPr>
            <a:r>
              <a:rPr sz="800">
                <a:solidFill>
                  <a:srgbClr val="CCCCCC"/>
                </a:solidFill>
                <a:latin typeface="Consolas"/>
              </a:rPr>
              <a:t>    if t &gt;= t_end:</a:t>
            </a:r>
          </a:p>
          <a:p>
            <a:pPr>
              <a:spcAft>
                <a:spcPts val="0"/>
              </a:spcAft>
            </a:pPr>
            <a:r>
              <a:rPr sz="800">
                <a:solidFill>
                  <a:srgbClr val="CCCCCC"/>
                </a:solidFill>
                <a:latin typeface="Consolas"/>
              </a:rPr>
              <a:t>        self.active = None</a:t>
            </a:r>
          </a:p>
          <a:p>
            <a:pPr>
              <a:spcAft>
                <a:spcPts val="0"/>
              </a:spcAft>
            </a:pPr>
            <a:r>
              <a:rPr sz="800">
                <a:solidFill>
                  <a:srgbClr val="CCCCCC"/>
                </a:solidFill>
                <a:latin typeface="Consolas"/>
              </a:rPr>
              <a:t>        return False</a:t>
            </a:r>
          </a:p>
          <a:p>
            <a:pPr>
              <a:spcAft>
                <a:spcPts val="0"/>
              </a:spcAft>
            </a:pPr>
            <a:r>
              <a:rPr sz="800">
                <a:solidFill>
                  <a:srgbClr val="CCCCCC"/>
                </a:solidFill>
                <a:latin typeface="Consolas"/>
              </a:rPr>
              <a:t>    </a:t>
            </a:r>
            <a:r>
              <a:rPr sz="800">
                <a:solidFill>
                  <a:srgbClr val="7FAF7F"/>
                </a:solidFill>
                <a:latin typeface="Consolas"/>
              </a:rPr>
              <a:t># The point travels with the link: a shove on the shoulder stays on the</a:t>
            </a:r>
          </a:p>
          <a:p>
            <a:pPr>
              <a:spcAft>
                <a:spcPts val="0"/>
              </a:spcAft>
            </a:pPr>
            <a:r>
              <a:rPr sz="800">
                <a:solidFill>
                  <a:srgbClr val="CCCCCC"/>
                </a:solidFill>
                <a:latin typeface="Consolas"/>
              </a:rPr>
              <a:t>    </a:t>
            </a:r>
            <a:r>
              <a:rPr sz="800">
                <a:solidFill>
                  <a:srgbClr val="7FAF7F"/>
                </a:solidFill>
                <a:latin typeface="Consolas"/>
              </a:rPr>
              <a:t># shoulder even as the shoulder is being shoved away.</a:t>
            </a:r>
          </a:p>
          <a:p>
            <a:pPr>
              <a:spcAft>
                <a:spcPts val="0"/>
              </a:spcAft>
            </a:pPr>
            <a:r>
              <a:rPr sz="800">
                <a:solidFill>
                  <a:srgbClr val="CCCCCC"/>
                </a:solidFill>
                <a:latin typeface="Consolas"/>
              </a:rPr>
              <a:t>    body.</a:t>
            </a:r>
            <a:r>
              <a:rPr sz="800">
                <a:solidFill>
                  <a:srgbClr val="7FC7E8"/>
                </a:solidFill>
                <a:latin typeface="Consolas"/>
              </a:rPr>
              <a:t>AccumulateForce</a:t>
            </a:r>
            <a:r>
              <a:rPr sz="800">
                <a:solidFill>
                  <a:srgbClr val="CCCCCC"/>
                </a:solidFill>
                <a:latin typeface="Consolas"/>
              </a:rPr>
              <a:t>(idx, force, body.</a:t>
            </a:r>
            <a:r>
              <a:rPr sz="800">
                <a:solidFill>
                  <a:srgbClr val="7FC7E8"/>
                </a:solidFill>
                <a:latin typeface="Consolas"/>
              </a:rPr>
              <a:t>TransformPointLocalToParent</a:t>
            </a:r>
            <a:r>
              <a:rPr sz="800">
                <a:solidFill>
                  <a:srgbClr val="CCCCCC"/>
                </a:solidFill>
                <a:latin typeface="Consolas"/>
              </a:rPr>
              <a:t>(local),</a:t>
            </a:r>
          </a:p>
        </p:txBody>
      </p:sp>
      <p:sp>
        <p:nvSpPr>
          <p:cNvPr id="4" name="NoteBox"/>
          <p:cNvSpPr txBox="1"/>
          <p:nvPr/>
        </p:nvSpPr>
        <p:spPr>
          <a:xfrm>
            <a:off x="402336" y="5705855"/>
            <a:ext cx="11393424" cy="713232"/>
          </a:xfrm>
          <a:prstGeom prst="rect">
            <a:avLst/>
          </a:prstGeom>
          <a:noFill/>
        </p:spPr>
        <p:txBody>
          <a:bodyPr wrap="square">
            <a:spAutoFit/>
          </a:bodyPr>
          <a:lstStyle/>
          <a:p>
            <a:pPr>
              <a:spcAft>
                <a:spcPts val="400"/>
              </a:spcAft>
            </a:pPr>
            <a:r>
              <a:rPr sz="1600"/>
              <a:t>This is the human-ON-the-loop half of the taxonomy: the person sets up the experiment and reads the verdict, and is deliberately not in the inner loop, because being in it would destroy repeatability.</a:t>
            </a:r>
          </a:p>
        </p:txBody>
      </p:sp>
      <p:sp>
        <p:nvSpPr>
          <p:cNvPr id="5"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6" name="PageNo"/>
          <p:cNvSpPr txBox="1"/>
          <p:nvPr/>
        </p:nvSpPr>
        <p:spPr>
          <a:xfrm>
            <a:off x="10250424" y="6647688"/>
            <a:ext cx="1709928" cy="192024"/>
          </a:xfrm>
          <a:prstGeom prst="rect">
            <a:avLst/>
          </a:prstGeom>
          <a:noFill/>
        </p:spPr>
        <p:txBody>
          <a:bodyPr wrap="none">
            <a:spAutoFit/>
          </a:bodyPr>
          <a:lstStyle/>
          <a:p>
            <a:pPr algn="r"/>
            <a:r>
              <a:rPr sz="1000"/>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Demo Time: how hard can you shove it</a:t>
            </a:r>
          </a:p>
        </p:txBody>
      </p:sp>
      <p:sp>
        <p:nvSpPr>
          <p:cNvPr id="3" name="Content Placeholder 2"/>
          <p:cNvSpPr>
            <a:spLocks noGrp="1"/>
          </p:cNvSpPr>
          <p:nvPr>
            <p:ph idx="1"/>
          </p:nvPr>
        </p:nvSpPr>
        <p:spPr>
          <a:xfrm>
            <a:off x="642552" y="1313782"/>
            <a:ext cx="6446520" cy="5203976"/>
          </a:xfrm>
        </p:spPr>
        <p:txBody>
          <a:bodyPr wrap="square"/>
          <a:lstStyle/>
          <a:p>
            <a:pPr>
              <a:spcAft>
                <a:spcPts val="500"/>
              </a:spcAft>
            </a:pPr>
            <a:r>
              <a:rPr sz="1500">
                <a:latin typeface="Consolas"/>
              </a:rPr>
              <a:t>WHAT</a:t>
            </a:r>
            <a:r>
              <a:rPr sz="1700"/>
              <a:t>  click a point on the robot, set a direction and a magnitude, and fire an impulse of fixed duration</a:t>
            </a:r>
          </a:p>
          <a:p>
            <a:pPr>
              <a:spcAft>
                <a:spcPts val="500"/>
              </a:spcAft>
            </a:pPr>
            <a:r>
              <a:rPr sz="1500">
                <a:latin typeface="Consolas"/>
              </a:rPr>
              <a:t>WHY</a:t>
            </a:r>
            <a:r>
              <a:rPr sz="1700"/>
              <a:t>   it turns 'is this controller robust' into a number, which is something you can put in a report and somebody else can reproduce</a:t>
            </a:r>
          </a:p>
          <a:p>
            <a:pPr>
              <a:spcAft>
                <a:spcPts val="500"/>
              </a:spcAft>
            </a:pPr>
            <a:r>
              <a:rPr sz="1700"/>
              <a:t>The panel reports the impulse, the peak tilt, how far the robot was carried, and how long it took to settle.</a:t>
            </a:r>
          </a:p>
          <a:p>
            <a:pPr>
              <a:spcAft>
                <a:spcPts val="500"/>
              </a:spcAft>
            </a:pPr>
            <a:r>
              <a:rPr sz="1700"/>
              <a:t>Sweep the magnitude and it finds the threshold. With the locomotion policy driving: </a:t>
            </a:r>
            <a:r>
              <a:rPr sz="1500">
                <a:latin typeface="Consolas"/>
              </a:rPr>
              <a:t>1850 N</a:t>
            </a:r>
            <a:r>
              <a:rPr sz="1700"/>
              <a:t> recovers, </a:t>
            </a:r>
            <a:r>
              <a:rPr sz="1500">
                <a:latin typeface="Consolas"/>
              </a:rPr>
              <a:t>1900 N</a:t>
            </a:r>
            <a:r>
              <a:rPr sz="1700"/>
              <a:t> does not. Sideways is weaker, at </a:t>
            </a:r>
            <a:r>
              <a:rPr sz="1500">
                <a:latin typeface="Consolas"/>
              </a:rPr>
              <a:t>1100 N</a:t>
            </a:r>
            <a:r>
              <a:rPr sz="1700"/>
              <a:t>/</a:t>
            </a:r>
            <a:r>
              <a:rPr sz="1500">
                <a:latin typeface="Consolas"/>
              </a:rPr>
              <a:t>1200 N</a:t>
            </a:r>
            <a:r>
              <a:rPr sz="1700"/>
              <a:t>.</a:t>
            </a:r>
          </a:p>
          <a:p>
            <a:pPr>
              <a:spcAft>
                <a:spcPts val="500"/>
              </a:spcAft>
            </a:pPr>
            <a:r>
              <a:rPr sz="1700"/>
              <a:t>Change the controller and the threshold moves. The same robot held by a PD stance instead tips at </a:t>
            </a:r>
            <a:r>
              <a:rPr sz="1500">
                <a:latin typeface="Consolas"/>
              </a:rPr>
              <a:t>325 N</a:t>
            </a:r>
            <a:r>
              <a:rPr sz="1700"/>
              <a:t>, because a stance can only stiffen while the policy steps into the push.</a:t>
            </a:r>
          </a:p>
          <a:p>
            <a:pPr>
              <a:spcAft>
                <a:spcPts val="500"/>
              </a:spcAft>
            </a:pPr>
            <a:r>
              <a:rPr sz="1700"/>
              <a:t>Where you click matters too: the same impulse 5 cm higher up the torso can flip the verdict.</a:t>
            </a:r>
          </a:p>
        </p:txBody>
      </p:sp>
      <p:pic>
        <p:nvPicPr>
          <p:cNvPr id="4" name="Picture 3" descr="demo_push.png"/>
          <p:cNvPicPr>
            <a:picLocks noChangeAspect="1"/>
          </p:cNvPicPr>
          <p:nvPr/>
        </p:nvPicPr>
        <p:blipFill>
          <a:blip r:embed="rId2"/>
          <a:stretch>
            <a:fillRect/>
          </a:stretch>
        </p:blipFill>
        <p:spPr>
          <a:xfrm>
            <a:off x="7269480" y="2166095"/>
            <a:ext cx="4526280" cy="3504216"/>
          </a:xfrm>
          <a:prstGeom prst="rect">
            <a:avLst/>
          </a:prstGeom>
        </p:spPr>
      </p:pic>
      <p:sp>
        <p:nvSpPr>
          <p:cNvPr id="5"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6" name="PageNo"/>
          <p:cNvSpPr txBox="1"/>
          <p:nvPr/>
        </p:nvSpPr>
        <p:spPr>
          <a:xfrm>
            <a:off x="10250424" y="6647688"/>
            <a:ext cx="1709928" cy="192024"/>
          </a:xfrm>
          <a:prstGeom prst="rect">
            <a:avLst/>
          </a:prstGeom>
          <a:noFill/>
        </p:spPr>
        <p:txBody>
          <a:bodyPr wrap="none">
            <a:spAutoFit/>
          </a:bodyPr>
          <a:lstStyle/>
          <a:p>
            <a:pPr algn="r"/>
            <a:r>
              <a:rPr sz="1000"/>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Where to go next</a:t>
            </a:r>
          </a:p>
        </p:txBody>
      </p:sp>
      <p:sp>
        <p:nvSpPr>
          <p:cNvPr id="3" name="Content Placeholder 2"/>
          <p:cNvSpPr>
            <a:spLocks noGrp="1"/>
          </p:cNvSpPr>
          <p:nvPr>
            <p:ph idx="1"/>
          </p:nvPr>
        </p:nvSpPr>
        <p:spPr>
          <a:xfrm>
            <a:off x="642552" y="1313782"/>
            <a:ext cx="10936224" cy="5203976"/>
          </a:xfrm>
        </p:spPr>
        <p:txBody>
          <a:bodyPr wrap="square"/>
          <a:lstStyle/>
          <a:p>
            <a:pPr>
              <a:spcAft>
                <a:spcPts val="900"/>
              </a:spcAft>
            </a:pPr>
            <a:r>
              <a:rPr sz="2000"/>
              <a:t>This tutorial   </a:t>
            </a:r>
            <a:r>
              <a:rPr sz="1800">
                <a:latin typeface="Consolas"/>
              </a:rPr>
              <a:t>github.com/ksha23/chrono-hil-tutorial</a:t>
            </a:r>
          </a:p>
          <a:p>
            <a:pPr lvl="1">
              <a:spcAft>
                <a:spcPts val="900"/>
              </a:spcAft>
            </a:pPr>
            <a:r>
              <a:rPr sz="1800"/>
              <a:t>every part, the demos, and the SWIG director patch under </a:t>
            </a:r>
            <a:r>
              <a:rPr sz="1600">
                <a:latin typeface="Consolas"/>
              </a:rPr>
              <a:t>experimental/</a:t>
            </a:r>
          </a:p>
          <a:p>
            <a:pPr>
              <a:spcAft>
                <a:spcPts val="900"/>
              </a:spcAft>
            </a:pPr>
            <a:r>
              <a:rPr sz="2000"/>
              <a:t>Chrono   </a:t>
            </a:r>
            <a:r>
              <a:rPr sz="1800">
                <a:latin typeface="Consolas"/>
              </a:rPr>
              <a:t>projectchrono.org</a:t>
            </a:r>
            <a:r>
              <a:rPr sz="2000"/>
              <a:t>   </a:t>
            </a:r>
            <a:r>
              <a:rPr sz="1800">
                <a:latin typeface="Consolas"/>
              </a:rPr>
              <a:t>github.com/projectchrono/chrono</a:t>
            </a:r>
          </a:p>
          <a:p>
            <a:pPr lvl="1">
              <a:spcAft>
                <a:spcPts val="900"/>
              </a:spcAft>
            </a:pPr>
            <a:r>
              <a:rPr sz="1600">
                <a:latin typeface="Consolas"/>
              </a:rPr>
              <a:t>conda install -c projectchrono pychrono</a:t>
            </a:r>
          </a:p>
          <a:p>
            <a:pPr>
              <a:spcAft>
                <a:spcPts val="900"/>
              </a:spcAft>
            </a:pPr>
            <a:r>
              <a:rPr sz="2000"/>
              <a:t>Chrono::HIL   </a:t>
            </a:r>
            <a:r>
              <a:rPr sz="1800">
                <a:latin typeface="Consolas"/>
              </a:rPr>
              <a:t>github.com/zzhou292/chrono-HIL</a:t>
            </a:r>
          </a:p>
          <a:p>
            <a:pPr lvl="1">
              <a:spcAft>
                <a:spcPts val="900"/>
              </a:spcAft>
            </a:pPr>
            <a:r>
              <a:rPr sz="1800"/>
              <a:t>driving rigs, steering wheels, multi-user sessions, the same three floats</a:t>
            </a:r>
          </a:p>
          <a:p>
            <a:pPr>
              <a:spcAft>
                <a:spcPts val="900"/>
              </a:spcAft>
            </a:pPr>
            <a:r>
              <a:rPr sz="2000"/>
              <a:t>Joystick and wheel mappings   </a:t>
            </a:r>
            <a:r>
              <a:rPr sz="1800">
                <a:latin typeface="Consolas"/>
              </a:rPr>
              <a:t>data/vehicle/joystick/</a:t>
            </a:r>
          </a:p>
          <a:p>
            <a:pPr lvl="1">
              <a:spcAft>
                <a:spcPts val="900"/>
              </a:spcAft>
            </a:pPr>
            <a:r>
              <a:rPr sz="1800"/>
              <a:t>copy the nearest config, change the axis and button numbers</a:t>
            </a:r>
          </a:p>
          <a:p>
            <a:pPr>
              <a:spcAft>
                <a:spcPts val="900"/>
              </a:spcAft>
            </a:pPr>
            <a:r>
              <a:rPr sz="2000"/>
              <a:t>The gap this talk found is small and specific, which is the good kind: one line to let Python receive the event, and a utility on top of primitives Chrono already exposes. Upstream PR to follow.</a:t>
            </a:r>
          </a:p>
        </p:txBody>
      </p:sp>
      <p:sp>
        <p:nvSpPr>
          <p:cNvPr id="4"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5" name="PageNo"/>
          <p:cNvSpPr txBox="1"/>
          <p:nvPr/>
        </p:nvSpPr>
        <p:spPr>
          <a:xfrm>
            <a:off x="10250424" y="6647688"/>
            <a:ext cx="1709928" cy="192024"/>
          </a:xfrm>
          <a:prstGeom prst="rect">
            <a:avLst/>
          </a:prstGeom>
          <a:noFill/>
        </p:spPr>
        <p:txBody>
          <a:bodyPr wrap="none">
            <a:spAutoFit/>
          </a:bodyPr>
          <a:lstStyle/>
          <a:p>
            <a:pPr algn="r"/>
            <a:r>
              <a:rPr sz="1000"/>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2651760"/>
            <a:ext cx="9966960" cy="1463040"/>
          </a:xfrm>
          <a:prstGeom prst="rect">
            <a:avLst/>
          </a:prstGeom>
          <a:noFill/>
        </p:spPr>
        <p:txBody>
          <a:bodyPr wrap="none">
            <a:spAutoFit/>
          </a:bodyPr>
          <a:lstStyle/>
          <a:p>
            <a:pPr algn="ctr"/>
            <a:r>
              <a:rPr sz="4400"/>
              <a:t>Thank you.</a:t>
            </a:r>
          </a:p>
          <a:p>
            <a:pPr algn="ctr"/>
            <a:r>
              <a:rPr sz="2000">
                <a:latin typeface="Consolas"/>
              </a:rPr>
              <a:t>github.com/ksha23/chrono-hil-tutorial</a:t>
            </a:r>
          </a:p>
        </p:txBody>
      </p:sp>
      <p:sp>
        <p:nvSpPr>
          <p:cNvPr id="3" name="Footer"/>
          <p:cNvSpPr txBox="1"/>
          <p:nvPr/>
        </p:nvSpPr>
        <p:spPr>
          <a:xfrm>
            <a:off x="310896" y="6647688"/>
            <a:ext cx="11640312" cy="192024"/>
          </a:xfrm>
          <a:prstGeom prst="rect">
            <a:avLst/>
          </a:prstGeom>
          <a:noFill/>
        </p:spPr>
        <p:txBody>
          <a:bodyPr wrap="none">
            <a:spAutoFit/>
          </a:bodyPr>
          <a:lstStyle/>
          <a:p>
            <a:r>
              <a:rPr sz="1000"/>
              <a:t>University of Wisconsin - Madison</a:t>
            </a:r>
          </a:p>
        </p:txBody>
      </p:sp>
      <p:sp>
        <p:nvSpPr>
          <p:cNvPr id="4" name="PageNo"/>
          <p:cNvSpPr txBox="1"/>
          <p:nvPr/>
        </p:nvSpPr>
        <p:spPr>
          <a:xfrm>
            <a:off x="10250424" y="6647688"/>
            <a:ext cx="1709928" cy="192024"/>
          </a:xfrm>
          <a:prstGeom prst="rect">
            <a:avLst/>
          </a:prstGeom>
          <a:noFill/>
        </p:spPr>
        <p:txBody>
          <a:bodyPr wrap="none">
            <a:spAutoFit/>
          </a:bodyPr>
          <a:lstStyle/>
          <a:p>
            <a:pPr algn="r"/>
            <a:r>
              <a:rPr sz="1000"/>
              <a:t>33</a:t>
            </a:r>
          </a:p>
        </p:txBody>
      </p:sp>
    </p:spTree>
  </p:cSld>
  <p:clrMapOvr>
    <a:masterClrMapping/>
  </p:clrMapOvr>
</p:sld>
</file>

<file path=ppt/theme/theme1.xml><?xml version="1.0" encoding="utf-8"?>
<a:theme xmlns:a="http://schemas.openxmlformats.org/drawingml/2006/main" name="1_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ACC63D00-1EE0-4159-BF5A-6FF02000B7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25</Slides>
  <ScaleCrop>false</ScaleCrop>
  <Company>Simulation-Based Engineering Lab, University of Wisconsin-Madison</Company>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Chrono support for human-in-the-loop simulation</dc:title>
  <dc:creator>Kyle Sha</dc:creator>
  <cp:lastModifiedBy>Kyle Sha</cp:lastModifiedBy>
  <cp:revision>1</cp:revision>
  <dcterms:created xsi:type="dcterms:W3CDTF">2026-09-14T00:00:00Z</dcterms:created>
  <dcterms:modified xsi:type="dcterms:W3CDTF">2026-09-14T00:00:00Z</dcterms:modified>
  <dc:description/>
  <cp:category/>
  <cp:keywords/>
  <dc:subject/>
</cp:coreProperties>
</file>