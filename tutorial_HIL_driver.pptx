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Nothing in that definition mentions vehicles. That is the whole point of the tutorial: a car, a crane, a gearbox and a quadruped's leg all satisfy it, and they satisfy it the same way.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Why a person at all</a:t>
            </a:r>
          </a:p>
        </p:txBody>
      </p:sp>
      <p:sp>
        <p:nvSpPr>
          <p:cNvPr id="3" name="Content Placeholder 2"/>
          <p:cNvSpPr>
            <a:spLocks noGrp="1"/>
          </p:cNvSpPr>
          <p:nvPr>
            <p:ph idx="1"/>
          </p:nvPr>
        </p:nvSpPr>
        <p:spPr/>
        <p:txBody>
          <a:bodyPr wrap="square"/>
          <a:lstStyle/>
          <a:p>
            <a:pPr>
              <a:spcAft>
                <a:spcPts val="900"/>
              </a:spcAft>
            </a:pPr>
            <a:r>
              <a:rPr sz="2000"/>
              <a:t>A gantry crane. Four bodies, two speed motors, one distance constraint. No vehicle, no terrain, no tires.</a:t>
            </a:r>
          </a:p>
          <a:p>
            <a:pPr>
              <a:spcAft>
                <a:spcPts val="900"/>
              </a:spcAft>
            </a:pPr>
            <a:r>
              <a:rPr sz="2000"/>
              <a:t>The payload hangs free and NOTHING damps the swing but the operator.</a:t>
            </a:r>
          </a:p>
          <a:p>
            <a:pPr lvl="1">
              <a:spcAft>
                <a:spcPts val="900"/>
              </a:spcAft>
            </a:pPr>
            <a:r>
              <a:rPr sz="1800"/>
              <a:t>accelerate hard and the load swings</a:t>
            </a:r>
          </a:p>
          <a:p>
            <a:pPr lvl="1">
              <a:spcAft>
                <a:spcPts val="900"/>
              </a:spcAft>
            </a:pPr>
            <a:r>
              <a:rPr sz="1800"/>
              <a:t>it keeps swinging until someone drives the trolley back under it</a:t>
            </a:r>
          </a:p>
          <a:p>
            <a:pPr>
              <a:spcAft>
                <a:spcPts val="900"/>
              </a:spcAft>
            </a:pPr>
            <a:r>
              <a:rPr sz="1800">
                <a:latin typeface="Consolas"/>
              </a:rPr>
              <a:t>status()</a:t>
            </a:r>
            <a:r>
              <a:rPr sz="2000"/>
              <a:t> reports the swing angle, so the console scores how badly you are doing without your having to watch the window.</a:t>
            </a:r>
          </a:p>
        </p:txBody>
      </p:sp>
      <p:sp>
        <p:nvSpPr>
          <p:cNvPr id="4" name="NoteBox"/>
          <p:cNvSpPr txBox="1"/>
          <p:nvPr/>
        </p:nvSpPr>
        <p:spPr>
          <a:xfrm>
            <a:off x="402336" y="5532120"/>
            <a:ext cx="11393424" cy="987551"/>
          </a:xfrm>
          <a:prstGeom prst="rect">
            <a:avLst/>
          </a:prstGeom>
          <a:noFill/>
        </p:spPr>
        <p:txBody>
          <a:bodyPr wrap="square">
            <a:spAutoFit/>
          </a:bodyPr>
          <a:lstStyle/>
          <a:p>
            <a:pPr>
              <a:spcAft>
                <a:spcPts val="400"/>
              </a:spcAft>
            </a:pPr>
            <a:r>
              <a:rPr sz="1600"/>
              <a:t>No controller in this tutorial can land that load, which is the cleanest answer to 'why not just automate it'. It also settles the generality question early: if the pattern reaches a crane, it is not a Chrono::Vehicle feature.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Worth saying out loud, because 'interactive' and 'in the loop' get used interchangeably and only one of them has a clock in it. All three are useful. Only the first two are what the phrase means.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Unpaced, a box being dragged by hand travelled 88.7 m in one wall-clock second instead of 1.8 m. The physics was right both times. Only one of them was usable by a person.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a:t>
            </a:r>
          </a:p>
        </p:txBody>
      </p:sp>
      <p:sp>
        <p:nvSpPr>
          <p:cNvPr id="3" name="Content Placeholder 2"/>
          <p:cNvSpPr>
            <a:spLocks noGrp="1"/>
          </p:cNvSpPr>
          <p:nvPr>
            <p:ph idx="1"/>
          </p:nvPr>
        </p:nvSpPr>
        <p:spPr/>
        <p:txBody>
          <a:bodyPr wrap="square"/>
          <a:lstStyle/>
          <a:p>
            <a:pPr>
              <a:spcAft>
                <a:spcPts val="1000"/>
              </a:spcAft>
            </a:pPr>
            <a:r>
              <a:rPr sz="1800">
                <a:latin typeface="Consolas"/>
              </a:rPr>
              <a:t>REALTIME = "none"</a:t>
            </a:r>
            <a:r>
              <a:rPr sz="2000"/>
              <a:t>: watch the drift column run away</a:t>
            </a:r>
          </a:p>
          <a:p>
            <a:pPr>
              <a:spcAft>
                <a:spcPts val="1000"/>
              </a:spcAft>
            </a:pPr>
            <a:r>
              <a:rPr sz="1800">
                <a:latin typeface="Consolas"/>
              </a:rPr>
              <a:t>REALTIME = "vehicle"</a:t>
            </a:r>
            <a:r>
              <a:rPr sz="2000"/>
              <a:t>: drift pinned near zero, RTF at 1</a:t>
            </a:r>
          </a:p>
          <a:p>
            <a:pPr>
              <a:spcAft>
                <a:spcPts val="1000"/>
              </a:spcAft>
            </a:pPr>
            <a:r>
              <a:rPr sz="2000"/>
              <a:t>Same physics in both runs. The only difference is whether the process sleeps.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drift column is the honest one. RTF can look fine on average while the sim has already lost a second of wall clock.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Reach for them in this order. People tend to start at the solver, which is near the bottom of the list and the easiest place to spend an afternoon for nothing.</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p:txBody>
          <a:bodyPr wrap="square"/>
          <a:lstStyle/>
          <a:p>
            <a:pPr>
              <a:spcAft>
                <a:spcPts val="500"/>
              </a:spcAft>
            </a:pPr>
            <a:r>
              <a:rPr sz="1500"/>
              <a:t>1.  </a:t>
            </a:r>
            <a:r>
              <a:rPr sz="1300">
                <a:latin typeface="Consolas"/>
              </a:rPr>
              <a:t>Step size</a:t>
            </a:r>
            <a:r>
              <a:rPr sz="1500"/>
              <a:t>. Everything scales with steps per second. The largest step that stays stable is the single biggest lever there is.</a:t>
            </a:r>
          </a:p>
          <a:p>
            <a:pPr>
              <a:spcAft>
                <a:spcPts val="500"/>
              </a:spcAft>
            </a:pPr>
            <a:r>
              <a:rPr sz="1500"/>
              <a:t>2.  </a:t>
            </a:r>
            <a:r>
              <a:rPr sz="1300">
                <a:latin typeface="Consolas"/>
              </a:rPr>
              <a:t>Collision geometry</a:t>
            </a:r>
            <a:r>
              <a:rPr sz="1500"/>
              <a:t>. Primitives beat convex hulls beat triangle meshes, by a lot. Most imported assets arrive as the slowest option.</a:t>
            </a:r>
          </a:p>
          <a:p>
            <a:pPr>
              <a:spcAft>
                <a:spcPts val="500"/>
              </a:spcAft>
            </a:pPr>
            <a:r>
              <a:rPr sz="1500"/>
              <a:t>3.  </a:t>
            </a:r>
            <a:r>
              <a:rPr sz="1300">
                <a:latin typeface="Consolas"/>
              </a:rPr>
              <a:t>Which pairs are tested at all</a:t>
            </a:r>
            <a:r>
              <a:rPr sz="1500"/>
              <a:t>. Families and masks remove whole classes of pair from the broadphase, including self-collision.</a:t>
            </a:r>
          </a:p>
          <a:p>
            <a:pPr>
              <a:spcAft>
                <a:spcPts val="500"/>
              </a:spcAft>
            </a:pPr>
            <a:r>
              <a:rPr sz="1500"/>
              <a:t>4.  </a:t>
            </a:r>
            <a:r>
              <a:rPr sz="1300">
                <a:latin typeface="Consolas"/>
              </a:rPr>
              <a:t>Active domains</a:t>
            </a:r>
            <a:r>
              <a:rPr sz="1500"/>
              <a:t>. Let the expensive physics happen only where it matters: deformable terrain near the wheels, fluid near the hull.</a:t>
            </a:r>
          </a:p>
          <a:p>
            <a:pPr>
              <a:spcAft>
                <a:spcPts val="500"/>
              </a:spcAft>
            </a:pPr>
            <a:r>
              <a:rPr sz="1500"/>
              <a:t>5.  </a:t>
            </a:r>
            <a:r>
              <a:rPr sz="1300">
                <a:latin typeface="Consolas"/>
              </a:rPr>
              <a:t>Solver type and iteration cap</a:t>
            </a:r>
            <a:r>
              <a:rPr sz="1500"/>
              <a:t>. Iterations buy convergence and cost time, and you pay out of the same step you wanted to sleep in.</a:t>
            </a:r>
          </a:p>
          <a:p>
            <a:pPr>
              <a:spcAft>
                <a:spcPts val="500"/>
              </a:spcAft>
            </a:pPr>
            <a:r>
              <a:rPr sz="1500"/>
              <a:t>6.  </a:t>
            </a:r>
            <a:r>
              <a:rPr sz="1300">
                <a:latin typeface="Consolas"/>
              </a:rPr>
              <a:t>Threads</a:t>
            </a:r>
            <a:r>
              <a:rPr sz="1500"/>
              <a:t>, </a:t>
            </a:r>
            <a:r>
              <a:rPr sz="1300">
                <a:latin typeface="Consolas"/>
              </a:rPr>
              <a:t>sleeping bodies</a:t>
            </a:r>
            <a:r>
              <a:rPr sz="1500"/>
              <a:t>, and </a:t>
            </a:r>
            <a:r>
              <a:rPr sz="1300">
                <a:latin typeface="Consolas"/>
              </a:rPr>
              <a:t>model reduction</a:t>
            </a:r>
            <a:r>
              <a:rPr sz="1500"/>
              <a:t> for elastic subassemblies.</a:t>
            </a:r>
          </a:p>
          <a:p>
            <a:pPr>
              <a:spcAft>
                <a:spcPts val="500"/>
              </a:spcAft>
            </a:pPr>
            <a:r>
              <a:rPr sz="1500"/>
              <a:t>7.  </a:t>
            </a:r>
            <a:r>
              <a:rPr sz="1300">
                <a:latin typeface="Consolas"/>
              </a:rPr>
              <a:t>Render less often than you step</a:t>
            </a:r>
            <a:r>
              <a:rPr sz="1500"/>
              <a:t>. Drawing is not free, and the eye does not need 500 Hz.</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None of this is specific to having a human in the loop. It becomes urgent when there is one, because a batch job that runs at 0.6x real time is merely slow, and an interactive one is broken.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583 to 585)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p:txBody>
          <a:bodyPr wrap="square"/>
          <a:lstStyle/>
          <a:p>
            <a:pPr>
              <a:spcAft>
                <a:spcPts val="900"/>
              </a:spcAft>
            </a:pPr>
            <a:r>
              <a:rPr sz="1600">
                <a:latin typeface="Consolas"/>
              </a:rPr>
              <a:t>ChInteractiveDriver</a:t>
            </a:r>
            <a:r>
              <a:rPr sz="1800"/>
              <a:t> covers two CLASSES of device, not two devices:</a:t>
            </a:r>
          </a:p>
          <a:p>
            <a:pPr lvl="1">
              <a:spcAft>
                <a:spcPts val="900"/>
              </a:spcAft>
            </a:pPr>
            <a:r>
              <a:rPr sz="1400">
                <a:latin typeface="Consolas"/>
              </a:rPr>
              <a:t>InputMode_KEYBOARD</a:t>
            </a:r>
            <a:r>
              <a:rPr sz="1600"/>
              <a:t>  -  with </a:t>
            </a:r>
            <a:r>
              <a:rPr sz="1400">
                <a:latin typeface="Consolas"/>
              </a:rPr>
              <a:t>KeyboardMode_HELD</a:t>
            </a:r>
            <a:r>
              <a:rPr sz="1600"/>
              <a:t> or </a:t>
            </a:r>
            <a:r>
              <a:rPr sz="1400">
                <a:latin typeface="Consolas"/>
              </a:rPr>
              <a:t>_CUMULATIVE</a:t>
            </a:r>
          </a:p>
          <a:p>
            <a:pPr lvl="1">
              <a:spcAft>
                <a:spcPts val="900"/>
              </a:spcAft>
            </a:pPr>
            <a:r>
              <a:rPr sz="1400">
                <a:latin typeface="Consolas"/>
              </a:rPr>
              <a:t>InputMode_JOYSTICK</a:t>
            </a:r>
            <a:r>
              <a:rPr sz="1600"/>
              <a:t>  -  anything the windowing layer enumerates as one</a:t>
            </a:r>
          </a:p>
          <a:p>
            <a:pPr>
              <a:spcAft>
                <a:spcPts val="900"/>
              </a:spcAft>
            </a:pPr>
            <a:r>
              <a:rPr sz="1800"/>
              <a:t>A joystick is mapped by a JSON file, not by code: </a:t>
            </a:r>
            <a:r>
              <a:rPr sz="1600">
                <a:latin typeface="Consolas"/>
              </a:rPr>
              <a:t>SetJoystickConfigFile(path)</a:t>
            </a:r>
          </a:p>
          <a:p>
            <a:pPr lvl="1">
              <a:spcAft>
                <a:spcPts val="900"/>
              </a:spcAft>
            </a:pPr>
            <a:r>
              <a:rPr sz="1600"/>
              <a:t>mapped axes: steering, throttle, brake, CLUTCH</a:t>
            </a:r>
          </a:p>
          <a:p>
            <a:pPr lvl="1">
              <a:spcAft>
                <a:spcPts val="900"/>
              </a:spcAft>
            </a:pPr>
            <a:r>
              <a:rPr sz="1600"/>
              <a:t>mapped buttons: shift up/down, reverse, gears 1-9, manual-gearbox toggle, plus one user callback</a:t>
            </a:r>
          </a:p>
          <a:p>
            <a:pPr>
              <a:spcAft>
                <a:spcPts val="900"/>
              </a:spcAft>
            </a:pPr>
            <a:r>
              <a:rPr sz="1800"/>
              <a:t>Four configs ship in </a:t>
            </a:r>
            <a:r>
              <a:rPr sz="1600">
                <a:latin typeface="Consolas"/>
              </a:rPr>
              <a:t>data/vehicle/joystick/</a:t>
            </a:r>
            <a:r>
              <a:rPr sz="1800"/>
              <a:t>: Default, Logitech RumblePad 2, Xbox One, and Wheel+Pedals+Shifters</a:t>
            </a:r>
          </a:p>
          <a:p>
            <a:pPr>
              <a:spcAft>
                <a:spcPts val="900"/>
              </a:spcAft>
            </a:pPr>
            <a:r>
              <a:rPr sz="1800"/>
              <a:t>Each control names its own DEVICE, so a wheel, a pedal box and an H-shifter enumerating as three separate USB devices all map at once</a:t>
            </a:r>
          </a:p>
        </p:txBody>
      </p:sp>
      <p:sp>
        <p:nvSpPr>
          <p:cNvPr id="4" name="NoteBox"/>
          <p:cNvSpPr txBox="1"/>
          <p:nvPr/>
        </p:nvSpPr>
        <p:spPr>
          <a:xfrm>
            <a:off x="402336" y="5532120"/>
            <a:ext cx="11393424" cy="1261872"/>
          </a:xfrm>
          <a:prstGeom prst="rect">
            <a:avLst/>
          </a:prstGeom>
          <a:noFill/>
        </p:spPr>
        <p:txBody>
          <a:bodyPr wrap="square">
            <a:spAutoFit/>
          </a:bodyPr>
          <a:lstStyle/>
          <a:p>
            <a:pPr>
              <a:spcAft>
                <a:spcPts val="4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400"/>
              </a:spcAft>
            </a:pPr>
            <a:r>
              <a:rPr sz="1600"/>
              <a:t>All of it is exposed to PyChrono.</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tutorial ships one of these, an operator console on UDP, so a second machine can drive the simulation and watch telemetry come back.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a:t>
            </a:r>
          </a:p>
        </p:txBody>
      </p:sp>
      <p:sp>
        <p:nvSpPr>
          <p:cNvPr id="3" name="Content Placeholder 2"/>
          <p:cNvSpPr>
            <a:spLocks noGrp="1"/>
          </p:cNvSpPr>
          <p:nvPr>
            <p:ph idx="1"/>
          </p:nvPr>
        </p:nvSpPr>
        <p:spPr/>
        <p:txBody>
          <a:bodyPr wrap="square"/>
          <a:lstStyle/>
          <a:p>
            <a:pPr>
              <a:spcAft>
                <a:spcPts val="1000"/>
              </a:spcAft>
            </a:pPr>
            <a:r>
              <a:rPr sz="1800">
                <a:latin typeface="Consolas"/>
              </a:rPr>
              <a:t>INPUT_SOURCE = "keyboard"</a:t>
            </a:r>
            <a:r>
              <a:rPr sz="2000"/>
              <a:t>, </a:t>
            </a:r>
            <a:r>
              <a:rPr sz="1800">
                <a:latin typeface="Consolas"/>
              </a:rPr>
              <a:t>KEYBOARD_MODE = "held"</a:t>
            </a:r>
          </a:p>
          <a:p>
            <a:pPr>
              <a:spcAft>
                <a:spcPts val="1000"/>
              </a:spcAft>
            </a:pPr>
            <a:r>
              <a:rPr sz="2000"/>
              <a:t>W/A/S/D drive. The arrow keys are the chase camera, not the car.</a:t>
            </a:r>
          </a:p>
          <a:p>
            <a:pPr>
              <a:spcAft>
                <a:spcPts val="1000"/>
              </a:spcAft>
            </a:pPr>
            <a:r>
              <a:rPr sz="2000"/>
              <a:t>Try </a:t>
            </a:r>
            <a:r>
              <a:rPr sz="1800">
                <a:latin typeface="Consolas"/>
              </a:rPr>
              <a:t>"cumulative"</a:t>
            </a:r>
            <a:r>
              <a:rPr sz="2000"/>
              <a:t> and feel the difference a key-state API makes.</a:t>
            </a:r>
          </a:p>
        </p:txBody>
      </p:sp>
      <p:pic>
        <p:nvPicPr>
          <p:cNvPr id="4" name="Picture 3" descr="hmmwv.png"/>
          <p:cNvPicPr>
            <a:picLocks noChangeAspect="1"/>
          </p:cNvPicPr>
          <p:nvPr/>
        </p:nvPicPr>
        <p:blipFill>
          <a:blip r:embed="rId2"/>
          <a:stretch>
            <a:fillRect/>
          </a:stretch>
        </p:blipFill>
        <p:spPr>
          <a:xfrm>
            <a:off x="4569714" y="2880360"/>
            <a:ext cx="3049524" cy="2331720"/>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whole definition satisfied in one window: input reaches the state, the state comes back on screen, and the timer holds the pace.</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gap this tutorial walks into. Everything needed to build one is already exposed; what is missing is the ability to receive the mouse event in the first place.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a:t>
            </a:r>
          </a:p>
        </p:txBody>
      </p:sp>
      <p:sp>
        <p:nvSpPr>
          <p:cNvPr id="3" name="Content Placeholder 2"/>
          <p:cNvSpPr>
            <a:spLocks noGrp="1"/>
          </p:cNvSpPr>
          <p:nvPr>
            <p:ph idx="1"/>
          </p:nvPr>
        </p:nvSpPr>
        <p:spPr/>
        <p:txBody>
          <a:bodyPr wrap="square"/>
          <a:lstStyle/>
          <a:p>
            <a:pPr>
              <a:spcAft>
                <a:spcPts val="1000"/>
              </a:spcAft>
            </a:pPr>
            <a:r>
              <a:rPr sz="2000"/>
              <a:t>Drag a leg while the stance controller fights back</a:t>
            </a:r>
          </a:p>
          <a:p>
            <a:pPr>
              <a:spcAft>
                <a:spcPts val="1000"/>
              </a:spcAft>
            </a:pPr>
            <a:r>
              <a:rPr sz="2000"/>
              <a:t>Drag a Franka link, hand-guided or fully unactuated</a:t>
            </a:r>
          </a:p>
          <a:p>
            <a:pPr>
              <a:spcAft>
                <a:spcPts val="1000"/>
              </a:spcAft>
            </a:pPr>
            <a:r>
              <a:rPr sz="2000"/>
              <a:t>Yanking a link into the floor: </a:t>
            </a:r>
            <a:r>
              <a:rPr sz="1800">
                <a:latin typeface="Consolas"/>
              </a:rPr>
              <a:t>35.14 m/s</a:t>
            </a:r>
            <a:r>
              <a:rPr sz="2000"/>
              <a:t> before the gains were bounded, </a:t>
            </a:r>
            <a:r>
              <a:rPr sz="1800">
                <a:latin typeface="Consolas"/>
              </a:rPr>
              <a:t>3.25 m/s</a:t>
            </a:r>
            <a:r>
              <a:rPr sz="2000"/>
              <a:t> after</a:t>
            </a:r>
          </a:p>
        </p:txBody>
      </p:sp>
      <p:pic>
        <p:nvPicPr>
          <p:cNvPr id="4" name="Picture 3" descr="demo_go2.png"/>
          <p:cNvPicPr>
            <a:picLocks noChangeAspect="1"/>
          </p:cNvPicPr>
          <p:nvPr/>
        </p:nvPicPr>
        <p:blipFill>
          <a:blip r:embed="rId2"/>
          <a:stretch>
            <a:fillRect/>
          </a:stretch>
        </p:blipFill>
        <p:spPr>
          <a:xfrm>
            <a:off x="3260208" y="2880360"/>
            <a:ext cx="3011805" cy="2331720"/>
          </a:xfrm>
          <a:prstGeom prst="rect">
            <a:avLst/>
          </a:prstGeom>
        </p:spPr>
      </p:pic>
      <p:pic>
        <p:nvPicPr>
          <p:cNvPr id="5" name="Picture 4" descr="demo_arm.png"/>
          <p:cNvPicPr>
            <a:picLocks noChangeAspect="1"/>
          </p:cNvPicPr>
          <p:nvPr/>
        </p:nvPicPr>
        <p:blipFill>
          <a:blip r:embed="rId3"/>
          <a:stretch>
            <a:fillRect/>
          </a:stretch>
        </p:blipFill>
        <p:spPr>
          <a:xfrm>
            <a:off x="6546333" y="2880360"/>
            <a:ext cx="2382409" cy="2331720"/>
          </a:xfrm>
          <a:prstGeom prst="rect">
            <a:avLst/>
          </a:prstGeom>
        </p:spPr>
      </p:pic>
      <p:sp>
        <p:nvSpPr>
          <p:cNvPr id="6"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clearest case of the definition on the whole deck: you pull, the controller resists, you feel it resist, and you pull differently.</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a:t>
            </a:r>
          </a:p>
        </p:txBody>
      </p:sp>
      <p:sp>
        <p:nvSpPr>
          <p:cNvPr id="3" name="Content Placeholder 2"/>
          <p:cNvSpPr>
            <a:spLocks noGrp="1"/>
          </p:cNvSpPr>
          <p:nvPr>
            <p:ph idx="1"/>
          </p:nvPr>
        </p:nvSpPr>
        <p:spPr/>
        <p:txBody>
          <a:bodyPr wrap="square"/>
          <a:lstStyle/>
          <a:p>
            <a:pPr>
              <a:spcAft>
                <a:spcPts val="1000"/>
              </a:spcAft>
            </a:pPr>
            <a:r>
              <a:rPr sz="2000"/>
              <a:t>Forward at the base COM: </a:t>
            </a:r>
            <a:r>
              <a:rPr sz="1800">
                <a:latin typeface="Consolas"/>
              </a:rPr>
              <a:t>325 N</a:t>
            </a:r>
            <a:r>
              <a:rPr sz="2000"/>
              <a:t> recovers, </a:t>
            </a:r>
            <a:r>
              <a:rPr sz="1800">
                <a:latin typeface="Consolas"/>
              </a:rPr>
              <a:t>330 N</a:t>
            </a:r>
            <a:r>
              <a:rPr sz="2000"/>
              <a:t> does not</a:t>
            </a:r>
          </a:p>
          <a:p>
            <a:pPr>
              <a:spcAft>
                <a:spcPts val="1000"/>
              </a:spcAft>
            </a:pPr>
            <a:r>
              <a:rPr sz="2000"/>
              <a:t>Sideways: </a:t>
            </a:r>
            <a:r>
              <a:rPr sz="1800">
                <a:latin typeface="Consolas"/>
              </a:rPr>
              <a:t>280 N</a:t>
            </a:r>
            <a:r>
              <a:rPr sz="2000"/>
              <a:t> recovers, </a:t>
            </a:r>
            <a:r>
              <a:rPr sz="1800">
                <a:latin typeface="Consolas"/>
              </a:rPr>
              <a:t>290 N</a:t>
            </a:r>
            <a:r>
              <a:rPr sz="2000"/>
              <a:t> does not</a:t>
            </a:r>
          </a:p>
          <a:p>
            <a:pPr>
              <a:spcAft>
                <a:spcPts val="1000"/>
              </a:spcAft>
            </a:pPr>
            <a:r>
              <a:rPr sz="2000"/>
              <a:t>Same impulse, applied 5 cm higher up the torso: the verdict flips</a:t>
            </a:r>
          </a:p>
        </p:txBody>
      </p:sp>
      <p:pic>
        <p:nvPicPr>
          <p:cNvPr id="4" name="Picture 3" descr="demo_push.png"/>
          <p:cNvPicPr>
            <a:picLocks noChangeAspect="1"/>
          </p:cNvPicPr>
          <p:nvPr/>
        </p:nvPicPr>
        <p:blipFill>
          <a:blip r:embed="rId2"/>
          <a:stretch>
            <a:fillRect/>
          </a:stretch>
        </p:blipFill>
        <p:spPr>
          <a:xfrm>
            <a:off x="4588573" y="2880360"/>
            <a:ext cx="3011805" cy="2331720"/>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reason a human is still in this one. Where to push is a judgement call, and it changes the answer as much as how hard you push does.</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How far this goes</a:t>
            </a:r>
          </a:p>
        </p:txBody>
      </p:sp>
      <p:sp>
        <p:nvSpPr>
          <p:cNvPr id="3" name="Content Placeholder 2"/>
          <p:cNvSpPr>
            <a:spLocks noGrp="1"/>
          </p:cNvSpPr>
          <p:nvPr>
            <p:ph idx="1"/>
          </p:nvPr>
        </p:nvSpPr>
        <p:spPr/>
        <p:txBody>
          <a:bodyPr wrap="square"/>
          <a:lstStyle/>
          <a:p>
            <a:pPr>
              <a:spcAft>
                <a:spcPts val="900"/>
              </a:spcAft>
            </a:pPr>
            <a:r>
              <a:rPr sz="1800">
                <a:latin typeface="Consolas"/>
              </a:rPr>
              <a:t>PART 6</a:t>
            </a:r>
            <a:r>
              <a:rPr sz="2000"/>
              <a:t>  -  change gear. A gear is not a fourth float: it belongs to the transmission, and the human sets it through a different API.</a:t>
            </a:r>
          </a:p>
          <a:p>
            <a:pPr>
              <a:spcAft>
                <a:spcPts val="900"/>
              </a:spcAft>
            </a:pPr>
            <a:r>
              <a:rPr sz="1800">
                <a:latin typeface="Consolas"/>
              </a:rPr>
              <a:t>PART 7</a:t>
            </a:r>
            <a:r>
              <a:rPr sz="2000"/>
              <a:t>  -  drive somewhere real. </a:t>
            </a:r>
            <a:r>
              <a:rPr sz="1800">
                <a:latin typeface="Consolas"/>
              </a:rPr>
              <a:t>SCENE = "mcity"</a:t>
            </a:r>
            <a:r>
              <a:rPr sz="2000"/>
              <a:t> puts the car in the Mcity digital twin.</a:t>
            </a:r>
          </a:p>
          <a:p>
            <a:pPr>
              <a:spcAft>
                <a:spcPts val="900"/>
              </a:spcAft>
            </a:pPr>
            <a:r>
              <a:rPr sz="1800">
                <a:latin typeface="Consolas"/>
              </a:rPr>
              <a:t>PART 8</a:t>
            </a:r>
            <a:r>
              <a:rPr sz="2000"/>
              <a:t>  -  control something that is not a car. </a:t>
            </a:r>
            <a:r>
              <a:rPr sz="1800">
                <a:latin typeface="Consolas"/>
              </a:rPr>
              <a:t>PLANT = "rover"</a:t>
            </a:r>
            <a:r>
              <a:rPr sz="2000"/>
              <a:t> or </a:t>
            </a:r>
            <a:r>
              <a:rPr sz="1800">
                <a:latin typeface="Consolas"/>
              </a:rPr>
              <a:t>"crane"</a:t>
            </a:r>
            <a:r>
              <a:rPr sz="2000"/>
              <a:t>, same three floats, no vehicle class involved.</a:t>
            </a:r>
          </a:p>
          <a:p>
            <a:pPr>
              <a:spcAft>
                <a:spcPts val="900"/>
              </a:spcAft>
            </a:pPr>
            <a:r>
              <a:rPr sz="1800">
                <a:latin typeface="Consolas"/>
              </a:rPr>
              <a:t>PARTS 9-10</a:t>
            </a:r>
            <a:r>
              <a:rPr sz="2000"/>
              <a:t>  -  reach into the scene: drag a limb, push a robot, place a scene.</a:t>
            </a:r>
          </a:p>
        </p:txBody>
      </p:sp>
      <p:sp>
        <p:nvSpPr>
          <p:cNvPr id="4" name="NoteBox"/>
          <p:cNvSpPr txBox="1"/>
          <p:nvPr/>
        </p:nvSpPr>
        <p:spPr>
          <a:xfrm>
            <a:off x="402336" y="5532120"/>
            <a:ext cx="11393424" cy="438912"/>
          </a:xfrm>
          <a:prstGeom prst="rect">
            <a:avLst/>
          </a:prstGeom>
          <a:noFill/>
        </p:spPr>
        <p:txBody>
          <a:bodyPr wrap="square">
            <a:spAutoFit/>
          </a:bodyPr>
          <a:lstStyle/>
          <a:p>
            <a:pPr>
              <a:spcAft>
                <a:spcPts val="400"/>
              </a:spcAft>
            </a:pPr>
            <a:r>
              <a:rPr sz="1600"/>
              <a:t>The through-line: the loop never changed. What changed was where the human's numbers were injected.</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gap this talk found is small and specific, which is the good kind: one line to let Python receive the event, and a utility on top of primitives Chrono already exposes. Upstream PR to follow.</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