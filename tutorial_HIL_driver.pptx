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buying enough slack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and the code is all in one repository you can clone.</a:t>
            </a:r>
          </a:p>
          <a:p>
            <a:pPr>
              <a:spcAft>
                <a:spcPts val="900"/>
              </a:spcAft>
            </a:pPr>
            <a:r>
              <a:rPr sz="2000"/>
              <a:t>The order is deliberate. The clock comes before the input, because input into a simulation that cannot hold real time is not human-in-the-loop, whatever else it is.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Does the clock matter.</a:t>
            </a:r>
            <a:r>
              <a:rPr sz="2000"/>
              <a:t> The same drive twice, paced and unpaced.</a:t>
            </a:r>
          </a:p>
          <a:p>
            <a:pPr>
              <a:spcAft>
                <a:spcPts val="900"/>
              </a:spcAft>
            </a:pPr>
            <a:r>
              <a:rPr sz="2000"/>
              <a:t>2.  </a:t>
            </a:r>
            <a:r>
              <a:rPr sz="1800">
                <a:latin typeface="Consolas"/>
              </a:rPr>
              <a:t>A person driving.</a:t>
            </a:r>
            <a:r>
              <a:rPr sz="2000"/>
              <a:t> Keyboard into a vehicle, the textbook case.</a:t>
            </a:r>
          </a:p>
          <a:p>
            <a:pPr>
              <a:spcAft>
                <a:spcPts val="900"/>
              </a:spcAft>
            </a:pPr>
            <a:r>
              <a:rPr sz="2000"/>
              <a:t>3.  </a:t>
            </a:r>
            <a:r>
              <a:rPr sz="1800">
                <a:latin typeface="Consolas"/>
              </a:rPr>
              <a:t>Reaching in.</a:t>
            </a:r>
            <a:r>
              <a:rPr sz="2000"/>
              <a:t> Drag a quadruped's leg while its controller resists, and a Franka arm with the motors on or off.</a:t>
            </a:r>
          </a:p>
          <a:p>
            <a:pPr>
              <a:spcAft>
                <a:spcPts val="900"/>
              </a:spcAft>
            </a:pPr>
            <a:r>
              <a:rPr sz="2000"/>
              <a:t>4.  </a:t>
            </a:r>
            <a:r>
              <a:rPr sz="1800">
                <a:latin typeface="Consolas"/>
              </a:rPr>
              <a:t>How hard can you shove it.</a:t>
            </a:r>
            <a:r>
              <a:rPr sz="2000"/>
              <a:t> A measured impulse at a point you choose, and the magnitude where recovery stops.</a:t>
            </a:r>
          </a:p>
        </p:txBody>
      </p:sp>
      <p:pic>
        <p:nvPicPr>
          <p:cNvPr id="4" name="Picture 3" descr="hmmwv.png"/>
          <p:cNvPicPr>
            <a:picLocks noChangeAspect="1"/>
          </p:cNvPicPr>
          <p:nvPr/>
        </p:nvPicPr>
        <p:blipFill>
          <a:blip r:embed="rId2"/>
          <a:stretch>
            <a:fillRect/>
          </a:stretch>
        </p:blipFill>
        <p:spPr>
          <a:xfrm>
            <a:off x="425195" y="3953256"/>
            <a:ext cx="2799306" cy="2140399"/>
          </a:xfrm>
          <a:prstGeom prst="rect">
            <a:avLst/>
          </a:prstGeom>
        </p:spPr>
      </p:pic>
      <p:pic>
        <p:nvPicPr>
          <p:cNvPr id="5" name="Picture 4" descr="demo_go2.png"/>
          <p:cNvPicPr>
            <a:picLocks noChangeAspect="1"/>
          </p:cNvPicPr>
          <p:nvPr/>
        </p:nvPicPr>
        <p:blipFill>
          <a:blip r:embed="rId3"/>
          <a:stretch>
            <a:fillRect/>
          </a:stretch>
        </p:blipFill>
        <p:spPr>
          <a:xfrm>
            <a:off x="3498822" y="3953256"/>
            <a:ext cx="2764682" cy="2140399"/>
          </a:xfrm>
          <a:prstGeom prst="rect">
            <a:avLst/>
          </a:prstGeom>
        </p:spPr>
      </p:pic>
      <p:pic>
        <p:nvPicPr>
          <p:cNvPr id="6" name="Picture 5" descr="demo_arm.png"/>
          <p:cNvPicPr>
            <a:picLocks noChangeAspect="1"/>
          </p:cNvPicPr>
          <p:nvPr/>
        </p:nvPicPr>
        <p:blipFill>
          <a:blip r:embed="rId4"/>
          <a:stretch>
            <a:fillRect/>
          </a:stretch>
        </p:blipFill>
        <p:spPr>
          <a:xfrm>
            <a:off x="6537824" y="3953256"/>
            <a:ext cx="2186929" cy="2140399"/>
          </a:xfrm>
          <a:prstGeom prst="rect">
            <a:avLst/>
          </a:prstGeom>
        </p:spPr>
      </p:pic>
      <p:pic>
        <p:nvPicPr>
          <p:cNvPr id="7" name="Picture 6" descr="demo_push.png"/>
          <p:cNvPicPr>
            <a:picLocks noChangeAspect="1"/>
          </p:cNvPicPr>
          <p:nvPr/>
        </p:nvPicPr>
        <p:blipFill>
          <a:blip r:embed="rId5"/>
          <a:stretch>
            <a:fillRect/>
          </a:stretch>
        </p:blipFill>
        <p:spPr>
          <a:xfrm>
            <a:off x="8999073" y="3953256"/>
            <a:ext cx="2764682" cy="2140399"/>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what does an operator do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it decides whether the other two requirements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812 to 816)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third mode in this tutorial.</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Holding the clock is two problems, and only one of them is a call:</a:t>
            </a:r>
          </a:p>
          <a:p>
            <a:pPr lvl="1">
              <a:spcAft>
                <a:spcPts val="900"/>
              </a:spcAft>
            </a:pPr>
            <a:r>
              <a:rPr sz="1800"/>
              <a:t>do not run FAST  -  sleep off the slack</a:t>
            </a:r>
          </a:p>
          <a:p>
            <a:pPr lvl="1">
              <a:spcAft>
                <a:spcPts val="900"/>
              </a:spcAft>
            </a:pPr>
            <a:r>
              <a:rPr sz="1800"/>
              <a:t>do not run SLOW  -  make the step cheap enough to HAVE slack</a:t>
            </a:r>
          </a:p>
          <a:p>
            <a:pPr>
              <a:spcAft>
                <a:spcPts val="900"/>
              </a:spcAft>
            </a:pPr>
            <a:r>
              <a:rPr sz="2000"/>
              <a:t>The budget is fixed: one step of wall clock, minus what you spend drawing, minus what you leave as margin for a bad step.</a:t>
            </a:r>
          </a:p>
          <a:p>
            <a:pPr>
              <a:spcAft>
                <a:spcPts val="900"/>
              </a:spcAft>
            </a:pPr>
            <a:r>
              <a:rPr sz="2000"/>
              <a:t>What follows is the set of levers Chrono gives you for the second problem, in rough order of how much they usually buy.</a:t>
            </a:r>
          </a:p>
          <a:p>
            <a:pPr>
              <a:spcAft>
                <a:spcPts val="900"/>
              </a:spcAft>
            </a:pPr>
            <a:r>
              <a:rPr sz="2000"/>
              <a:t>Reach for them in this order. People tend to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t>1.  </a:t>
            </a:r>
            <a:r>
              <a:rPr sz="1600">
                <a:latin typeface="Consolas"/>
              </a:rPr>
              <a:t>Step size</a:t>
            </a:r>
            <a:r>
              <a:rPr sz="1800"/>
              <a:t>. Everything scales with steps per second. The largest step that stays stable is the single biggest lever there is.</a:t>
            </a:r>
          </a:p>
          <a:p>
            <a:pPr>
              <a:spcAft>
                <a:spcPts val="900"/>
              </a:spcAft>
            </a:pPr>
            <a:r>
              <a:rPr sz="1800"/>
              <a:t>2.  </a:t>
            </a:r>
            <a:r>
              <a:rPr sz="1600">
                <a:latin typeface="Consolas"/>
              </a:rPr>
              <a:t>Collision geometry</a:t>
            </a:r>
            <a:r>
              <a:rPr sz="1800"/>
              <a:t>. Primitives beat convex hulls beat triangle meshes, by a lot. Most imported assets arrive as the slowest option.</a:t>
            </a:r>
          </a:p>
          <a:p>
            <a:pPr>
              <a:spcAft>
                <a:spcPts val="900"/>
              </a:spcAft>
            </a:pPr>
            <a:r>
              <a:rPr sz="1800"/>
              <a:t>3.  </a:t>
            </a:r>
            <a:r>
              <a:rPr sz="1600">
                <a:latin typeface="Consolas"/>
              </a:rPr>
              <a:t>Which pairs are tested at all</a:t>
            </a:r>
            <a:r>
              <a:rPr sz="1800"/>
              <a:t>. Families and masks remove whole classes of pair from the broadphase, including self-collision.</a:t>
            </a:r>
          </a:p>
          <a:p>
            <a:pPr>
              <a:spcAft>
                <a:spcPts val="900"/>
              </a:spcAft>
            </a:pPr>
            <a:r>
              <a:rPr sz="1800"/>
              <a:t>4.  </a:t>
            </a:r>
            <a:r>
              <a:rPr sz="1600">
                <a:latin typeface="Consolas"/>
              </a:rPr>
              <a:t>Active domains</a:t>
            </a:r>
            <a:r>
              <a:rPr sz="1800"/>
              <a:t>. Let the expensive physics happen only where it matters: deformable terrain near the wheels, fluid near the hull.</a:t>
            </a:r>
          </a:p>
          <a:p>
            <a:pPr>
              <a:spcAft>
                <a:spcPts val="900"/>
              </a:spcAft>
            </a:pPr>
            <a:r>
              <a:rPr sz="1800"/>
              <a:t>5.  </a:t>
            </a:r>
            <a:r>
              <a:rPr sz="1600">
                <a:latin typeface="Consolas"/>
              </a:rPr>
              <a:t>Solver type and iteration cap</a:t>
            </a:r>
            <a:r>
              <a:rPr sz="1800"/>
              <a:t>. Iterations buy convergence and cost time, and you pay out of the same step you wanted to sleep in.</a:t>
            </a:r>
          </a:p>
          <a:p>
            <a:pPr>
              <a:spcAft>
                <a:spcPts val="900"/>
              </a:spcAft>
            </a:pPr>
            <a:r>
              <a:rPr sz="1800"/>
              <a:t>6.  </a:t>
            </a:r>
            <a:r>
              <a:rPr sz="1600">
                <a:latin typeface="Consolas"/>
              </a:rPr>
              <a:t>Threads</a:t>
            </a:r>
            <a:r>
              <a:rPr sz="1800"/>
              <a:t>, </a:t>
            </a:r>
            <a:r>
              <a:rPr sz="1600">
                <a:latin typeface="Consolas"/>
              </a:rPr>
              <a:t>sleeping bodies</a:t>
            </a:r>
            <a:r>
              <a:rPr sz="1800"/>
              <a:t>, and </a:t>
            </a:r>
            <a:r>
              <a:rPr sz="1600">
                <a:latin typeface="Consolas"/>
              </a:rPr>
              <a:t>model reduction</a:t>
            </a:r>
            <a:r>
              <a:rPr sz="1800"/>
              <a:t> for elastic subassemblies.</a:t>
            </a:r>
          </a:p>
          <a:p>
            <a:pPr>
              <a:spcAft>
                <a:spcPts val="900"/>
              </a:spcAft>
            </a:pPr>
            <a:r>
              <a:rPr sz="1800"/>
              <a:t>7.  </a:t>
            </a:r>
            <a:r>
              <a:rPr sz="1600">
                <a:latin typeface="Consolas"/>
              </a:rPr>
              <a:t>Render less often than you step</a:t>
            </a:r>
            <a:r>
              <a:rPr sz="1800"/>
              <a:t>. Drawing is not free, and the eye does not need 500 Hz.</a:t>
            </a:r>
          </a:p>
          <a:p>
            <a:pPr>
              <a:spcAft>
                <a:spcPts val="900"/>
              </a:spcAft>
            </a:pPr>
            <a:r>
              <a:rPr sz="18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1: a path into the state</a:t>
            </a:r>
          </a:p>
        </p:txBody>
      </p:sp>
      <p:sp>
        <p:nvSpPr>
          <p:cNvPr id="3" name="Text Placeholder 2"/>
          <p:cNvSpPr>
            <a:spLocks noGrp="1"/>
          </p:cNvSpPr>
          <p:nvPr>
            <p:ph type="body" idx="1"/>
          </p:nvPr>
        </p:nvSpPr>
        <p:spPr/>
        <p:txBody>
          <a:bodyPr/>
          <a:lstStyle/>
          <a:p>
            <a:r>
              <a:t>how a person's action actually reaches the equations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the vehicle demos  (Parts 2-4)</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the drag and push demos  (Parts 9-10)</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(tutorial_HIL_driver.py, lines 583 to 585)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400">
                <a:latin typeface="Consolas"/>
              </a:rPr>
              <a:t>ChInteractiveDriver</a:t>
            </a:r>
            <a:r>
              <a:rPr sz="1600"/>
              <a:t> covers two CLASSES of device, not two devices:</a:t>
            </a:r>
          </a:p>
          <a:p>
            <a:pPr lvl="1">
              <a:spcAft>
                <a:spcPts val="500"/>
              </a:spcAft>
            </a:pPr>
            <a:r>
              <a:rPr sz="1200">
                <a:latin typeface="Consolas"/>
              </a:rPr>
              <a:t>InputMode_KEYBOARD</a:t>
            </a:r>
            <a:r>
              <a:rPr sz="1400"/>
              <a:t>  -  with </a:t>
            </a:r>
            <a:r>
              <a:rPr sz="1200">
                <a:latin typeface="Consolas"/>
              </a:rPr>
              <a:t>KeyboardMode_HELD</a:t>
            </a:r>
            <a:r>
              <a:rPr sz="1400"/>
              <a:t> or </a:t>
            </a:r>
            <a:r>
              <a:rPr sz="1200">
                <a:latin typeface="Consolas"/>
              </a:rPr>
              <a:t>_CUMULATIVE</a:t>
            </a:r>
          </a:p>
          <a:p>
            <a:pPr lvl="1">
              <a:spcAft>
                <a:spcPts val="500"/>
              </a:spcAft>
            </a:pPr>
            <a:r>
              <a:rPr sz="1200">
                <a:latin typeface="Consolas"/>
              </a:rPr>
              <a:t>InputMode_JOYSTICK</a:t>
            </a:r>
            <a:r>
              <a:rPr sz="1400"/>
              <a:t>  -  anything the windowing layer enumerates as one</a:t>
            </a:r>
          </a:p>
          <a:p>
            <a:pPr>
              <a:spcAft>
                <a:spcPts val="500"/>
              </a:spcAft>
            </a:pPr>
            <a:r>
              <a:rPr sz="1600"/>
              <a:t>A joystick is mapped by a JSON file, not by code: </a:t>
            </a:r>
            <a:r>
              <a:rPr sz="1400">
                <a:latin typeface="Consolas"/>
              </a:rPr>
              <a:t>SetJoystickConfigFile(path)</a:t>
            </a:r>
          </a:p>
          <a:p>
            <a:pPr lvl="1">
              <a:spcAft>
                <a:spcPts val="500"/>
              </a:spcAft>
            </a:pPr>
            <a:r>
              <a:rPr sz="1400"/>
              <a:t>mapped axes: steering, throttle, brake, CLUTCH</a:t>
            </a:r>
          </a:p>
          <a:p>
            <a:pPr lvl="1">
              <a:spcAft>
                <a:spcPts val="500"/>
              </a:spcAft>
            </a:pPr>
            <a:r>
              <a:rPr sz="1400"/>
              <a:t>mapped buttons: shift up/down, reverse, gears 1-9, manual-gearbox toggle, plus one user callback</a:t>
            </a:r>
          </a:p>
          <a:p>
            <a:pPr>
              <a:spcAft>
                <a:spcPts val="500"/>
              </a:spcAft>
            </a:pPr>
            <a:r>
              <a:rPr sz="1600"/>
              <a:t>Four configs ship in </a:t>
            </a:r>
            <a:r>
              <a:rPr sz="1400">
                <a:latin typeface="Consolas"/>
              </a:rPr>
              <a:t>data/vehicle/joystick/</a:t>
            </a:r>
            <a:r>
              <a:rPr sz="1600"/>
              <a:t>: Default, Logitech RumblePad 2, Xbox One, and Wheel+Pedals+Shifters</a:t>
            </a:r>
          </a:p>
          <a:p>
            <a:pPr>
              <a:spcAft>
                <a:spcPts val="500"/>
              </a:spcAft>
            </a:pPr>
            <a:r>
              <a:rPr sz="1600"/>
              <a:t>Each control names its own DEVICE, so a wheel, a pedal box and an H-shifter enumerating as three separate USB devices all map at once</a:t>
            </a:r>
          </a:p>
          <a:p>
            <a:pPr>
              <a:spcAft>
                <a:spcPts val="500"/>
              </a:spcAft>
            </a:pPr>
            <a:r>
              <a:rPr sz="1600"/>
              <a:t>Not hypothetical: the remote-driving study on slide 5 ran on a Logitech G29 wheel and pedal set through this path</a:t>
            </a:r>
          </a:p>
          <a:p>
            <a:pPr>
              <a:spcAft>
                <a:spcPts val="500"/>
              </a:spcAft>
            </a:pPr>
            <a:r>
              <a:rPr sz="1600"/>
              <a:t>So a G923-class rig is a config file, not a port. The mapping and the semantics are Chrono's and cross-platform; enumerating the device is delegated to the windowing layer, so which platforms see your wheel follows that layer, and I have not tested it here.</a:t>
            </a:r>
          </a:p>
          <a:p>
            <a:pPr>
              <a:spcAft>
                <a:spcPts val="500"/>
              </a:spcAft>
            </a:pPr>
            <a:r>
              <a:rPr sz="1600"/>
              <a:t>All of it is exposed to PyChrono.</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This tutorial ships one of these, an operator console on UDP, so a second machine can drive the simulation and watch telemetry come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a:p>
            <a:pPr>
              <a:spcAft>
                <a:spcPts val="900"/>
              </a:spcAft>
            </a:pPr>
            <a:r>
              <a:rPr sz="2000"/>
              <a:t>This is 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7269480" y="2187767"/>
            <a:ext cx="4526280" cy="3460873"/>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what Chrono provides today,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That last line is the gap this tutorial walks into. Everything needed to build one is already exposed; what is missing is the ability to receive the mouse event in the first place.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9573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274056"/>
            <a:ext cx="11393424" cy="987551"/>
          </a:xfrm>
          <a:prstGeom prst="rect">
            <a:avLst/>
          </a:prstGeom>
          <a:noFill/>
        </p:spPr>
        <p:txBody>
          <a:bodyPr wrap="square">
            <a:spAutoFit/>
          </a:bodyPr>
          <a:lstStyle/>
          <a:p>
            <a:pPr>
              <a:spcAft>
                <a:spcPts val="400"/>
              </a:spcAft>
            </a:pPr>
            <a:r>
              <a:rPr sz="1600"/>
              <a:t>Without it, reading the mouse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(hil_manipulate.py, lines 338 to 349)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(hil_manipulate.py, lines 488 to 502)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tries to hold position</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2000"/>
              <a:t>Drag a leg while the stance controller fights back</a:t>
            </a:r>
          </a:p>
          <a:p>
            <a:pPr>
              <a:spcAft>
                <a:spcPts val="900"/>
              </a:spcAft>
            </a:pPr>
            <a:r>
              <a:rPr sz="2000"/>
              <a:t>Drag a Franka link, hand-guided or fully unactuated</a:t>
            </a:r>
          </a:p>
          <a:p>
            <a:pPr>
              <a:spcAft>
                <a:spcPts val="900"/>
              </a:spcAft>
            </a:pPr>
            <a:r>
              <a:rPr sz="2000"/>
              <a:t>The same drag works on a 0.15 kg shin and a 2.7 kg arm link, because the spring is built from the mass it is pulling</a:t>
            </a:r>
          </a:p>
          <a:p>
            <a:pPr>
              <a:spcAft>
                <a:spcPts val="900"/>
              </a:spcAft>
            </a:pPr>
            <a:r>
              <a:rPr sz="2000"/>
              <a:t>This is the clearest case of the definition on the whole deck: you pull, the controller resists, you feel it resist, and you pull differently.</a:t>
            </a:r>
          </a:p>
        </p:txBody>
      </p:sp>
      <p:pic>
        <p:nvPicPr>
          <p:cNvPr id="4" name="Picture 3" descr="demo_go2.png"/>
          <p:cNvPicPr>
            <a:picLocks noChangeAspect="1"/>
          </p:cNvPicPr>
          <p:nvPr/>
        </p:nvPicPr>
        <p:blipFill>
          <a:blip r:embed="rId2"/>
          <a:stretch>
            <a:fillRect/>
          </a:stretch>
        </p:blipFill>
        <p:spPr>
          <a:xfrm>
            <a:off x="4492416" y="5134355"/>
            <a:ext cx="1635823" cy="1266444"/>
          </a:xfrm>
          <a:prstGeom prst="rect">
            <a:avLst/>
          </a:prstGeom>
        </p:spPr>
      </p:pic>
      <p:pic>
        <p:nvPicPr>
          <p:cNvPr id="5" name="Picture 4" descr="demo_arm.png"/>
          <p:cNvPicPr>
            <a:picLocks noChangeAspect="1"/>
          </p:cNvPicPr>
          <p:nvPr/>
        </p:nvPicPr>
        <p:blipFill>
          <a:blip r:embed="rId3"/>
          <a:stretch>
            <a:fillRect/>
          </a:stretch>
        </p:blipFill>
        <p:spPr>
          <a:xfrm>
            <a:off x="6402560" y="5134355"/>
            <a:ext cx="1293975" cy="12664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The pattern, not the API: decide which half of the human's input</a:t>
            </a:r>
          </a:p>
          <a:p>
            <a:pPr>
              <a:spcAft>
                <a:spcPts val="0"/>
              </a:spcAft>
            </a:pPr>
            <a:r>
              <a:rPr sz="800">
                <a:solidFill>
                  <a:srgbClr val="7FAF7F"/>
                </a:solidFill>
                <a:latin typeface="Consolas"/>
              </a:rPr>
              <a:t># has to be repeatable, and script only that half.</a:t>
            </a:r>
          </a:p>
          <a:p>
            <a:pPr>
              <a:spcAft>
                <a:spcPts val="0"/>
              </a:spcAft>
            </a:pPr>
            <a:r>
              <a:rPr sz="800">
                <a:solidFill>
                  <a:srgbClr val="7FAF7F"/>
                </a:solidFill>
                <a:latin typeface="Consolas"/>
              </a:rPr>
              <a:t>#</a:t>
            </a:r>
          </a:p>
          <a:p>
            <a:pPr>
              <a:spcAft>
                <a:spcPts val="0"/>
              </a:spcAft>
            </a:pPr>
            <a:r>
              <a:rPr sz="800">
                <a:solidFill>
                  <a:srgbClr val="7FAF7F"/>
                </a:solidFill>
                <a:latin typeface="Consolas"/>
              </a:rPr>
              <a:t>#   the person keeps:   WHERE on the body, and WHICH DIRECTION</a:t>
            </a:r>
          </a:p>
          <a:p>
            <a:pPr>
              <a:spcAft>
                <a:spcPts val="0"/>
              </a:spcAft>
            </a:pPr>
            <a:r>
              <a:rPr sz="800">
                <a:solidFill>
                  <a:srgbClr val="7FAF7F"/>
                </a:solidFill>
                <a:latin typeface="Consolas"/>
              </a:rPr>
              <a:t>#   the machine keeps:  a constant force F held for a fixed window dt</a:t>
            </a:r>
          </a:p>
          <a:p>
            <a:pPr>
              <a:spcAft>
                <a:spcPts val="0"/>
              </a:spcAft>
            </a:pPr>
            <a:r>
              <a:rPr sz="800">
                <a:solidFill>
                  <a:srgbClr val="7FAF7F"/>
                </a:solidFill>
                <a:latin typeface="Consolas"/>
              </a:rPr>
              <a:t>#</a:t>
            </a:r>
          </a:p>
          <a:p>
            <a:pPr>
              <a:spcAft>
                <a:spcPts val="0"/>
              </a:spcAft>
            </a:pPr>
            <a:r>
              <a:rPr sz="800">
                <a:solidFill>
                  <a:srgbClr val="7FAF7F"/>
                </a:solidFill>
                <a:latin typeface="Consolas"/>
              </a:rPr>
              <a:t>#   impulse  J = F * dt      both printed, both logged</a:t>
            </a:r>
          </a:p>
          <a:p>
            <a:pPr>
              <a:spcAft>
                <a:spcPts val="0"/>
              </a:spcAft>
            </a:pPr>
            <a:r>
              <a:rPr sz="800">
                <a:solidFill>
                  <a:srgbClr val="7FAF7F"/>
                </a:solidFill>
                <a:latin typeface="Consolas"/>
              </a:rPr>
              <a:t>#</a:t>
            </a:r>
          </a:p>
          <a:p>
            <a:pPr>
              <a:spcAft>
                <a:spcPts val="0"/>
              </a:spcAft>
            </a:pPr>
            <a:r>
              <a:rPr sz="800">
                <a:solidFill>
                  <a:srgbClr val="7FAF7F"/>
                </a:solidFill>
                <a:latin typeface="Consolas"/>
              </a:rPr>
              <a:t># A freehand drag cannot answer 'how hard can I shove it', because</a:t>
            </a:r>
          </a:p>
          <a:p>
            <a:pPr>
              <a:spcAft>
                <a:spcPts val="0"/>
              </a:spcAft>
            </a:pPr>
            <a:r>
              <a:rPr sz="800">
                <a:solidFill>
                  <a:srgbClr val="7FAF7F"/>
                </a:solidFill>
                <a:latin typeface="Consolas"/>
              </a:rPr>
              <a:t># no two drags are the same: the force depends on how fast a hand</a:t>
            </a:r>
          </a:p>
          <a:p>
            <a:pPr>
              <a:spcAft>
                <a:spcPts val="0"/>
              </a:spcAft>
            </a:pPr>
            <a:r>
              <a:rPr sz="800">
                <a:solidFill>
                  <a:srgbClr val="7FAF7F"/>
                </a:solidFill>
                <a:latin typeface="Consolas"/>
              </a:rPr>
              <a:t># moved and how long a button was held. There is no number at the end.</a:t>
            </a:r>
          </a:p>
          <a:p>
            <a:pPr>
              <a:spcAft>
                <a:spcPts val="0"/>
              </a:spcAft>
            </a:pPr>
            <a:r>
              <a:rPr sz="800">
                <a:solidFill>
                  <a:srgbClr val="7FAF7F"/>
                </a:solidFill>
                <a:latin typeface="Consolas"/>
              </a:rPr>
              <a:t># Script the magnitude and you get one you can put in a report.</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(hil_push.py, lines 264 to 283) ------</a:t>
            </a:r>
          </a:p>
          <a:p>
            <a:pPr>
              <a:spcAft>
                <a:spcPts val="0"/>
              </a:spcAft>
            </a:pPr>
            <a:r>
              <a:rPr sz="800">
                <a:solidFill>
                  <a:srgbClr val="CCCCCC"/>
                </a:solidFill>
                <a:latin typeface="Consolas"/>
              </a:rPr>
              <a:t>def </a:t>
            </a:r>
            <a:r>
              <a:rPr sz="800">
                <a:solidFill>
                  <a:srgbClr val="7FC7E8"/>
                </a:solidFill>
                <a:latin typeface="Consolas"/>
              </a:rPr>
              <a:t>fire</a:t>
            </a:r>
            <a:r>
              <a:rPr sz="800">
                <a:solidFill>
                  <a:srgbClr val="CCCCCC"/>
                </a:solidFill>
                <a:latin typeface="Consolas"/>
              </a:rPr>
              <a:t>(self, cfg, t):</a:t>
            </a:r>
          </a:p>
          <a:p>
            <a:pPr>
              <a:spcAft>
                <a:spcPts val="0"/>
              </a:spcAft>
            </a:pPr>
            <a:r>
              <a:rPr sz="800">
                <a:solidFill>
                  <a:srgbClr val="CCCCCC"/>
                </a:solidFill>
                <a:latin typeface="Consolas"/>
              </a:rPr>
              <a:t>    body = cfg.body</a:t>
            </a:r>
          </a:p>
          <a:p>
            <a:pPr>
              <a:spcAft>
                <a:spcPts val="0"/>
              </a:spcAft>
            </a:pPr>
            <a:r>
              <a:rPr sz="800">
                <a:solidFill>
                  <a:srgbClr val="CCCCCC"/>
                </a:solidFill>
                <a:latin typeface="Consolas"/>
              </a:rPr>
              <a:t>    self.active = (body, cfg.</a:t>
            </a:r>
            <a:r>
              <a:rPr sz="800">
                <a:solidFill>
                  <a:srgbClr val="7FC7E8"/>
                </a:solidFill>
                <a:latin typeface="Consolas"/>
              </a:rPr>
              <a:t>force</a:t>
            </a:r>
            <a:r>
              <a:rPr sz="800">
                <a:solidFill>
                  <a:srgbClr val="CCCCCC"/>
                </a:solidFill>
                <a:latin typeface="Consolas"/>
              </a:rPr>
              <a:t>(), chrono.</a:t>
            </a:r>
            <a:r>
              <a:rPr sz="800">
                <a:solidFill>
                  <a:srgbClr val="F0A040"/>
                </a:solidFill>
                <a:latin typeface="Consolas"/>
              </a:rPr>
              <a:t>ChVector3d</a:t>
            </a:r>
            <a:r>
              <a:rPr sz="800">
                <a:solidFill>
                  <a:srgbClr val="CCCCCC"/>
                </a:solidFill>
                <a:latin typeface="Consolas"/>
              </a:rPr>
              <a:t>(cfg.local_point),</a:t>
            </a:r>
          </a:p>
          <a:p>
            <a:pPr>
              <a:spcAft>
                <a:spcPts val="0"/>
              </a:spcAft>
            </a:pPr>
            <a:r>
              <a:rPr sz="800">
                <a:solidFill>
                  <a:srgbClr val="CCCCCC"/>
                </a:solidFill>
                <a:latin typeface="Consolas"/>
              </a:rPr>
              <a:t>                   t + cfg.duration)</a:t>
            </a:r>
          </a:p>
          <a:p>
            <a:pPr>
              <a:spcAft>
                <a:spcPts val="0"/>
              </a:spcAft>
            </a:pPr>
            <a:r>
              <a:rPr sz="800">
                <a:solidFill>
                  <a:srgbClr val="CCCCCC"/>
                </a:solidFill>
                <a:latin typeface="Consolas"/>
              </a:rPr>
              <a:t>    self.fired_at = t</a:t>
            </a:r>
          </a:p>
          <a:p>
            <a:pPr>
              <a:spcAft>
                <a:spcPts val="0"/>
              </a:spcAft>
            </a:pPr>
            <a:r>
              <a:rPr sz="800">
                <a:solidFill>
                  <a:srgbClr val="CCCCCC"/>
                </a:solidFill>
                <a:latin typeface="Consolas"/>
              </a:rPr>
              <a:t>    return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a:t>
            </a:r>
          </a:p>
          <a:p>
            <a:pPr>
              <a:spcAft>
                <a:spcPts val="0"/>
              </a:spcAft>
            </a:pPr>
            <a:r>
              <a:rPr sz="800">
                <a:solidFill>
                  <a:srgbClr val="CCCCCC"/>
                </a:solidFill>
                <a:latin typeface="Consolas"/>
              </a:rPr>
              <a:t>def </a:t>
            </a:r>
            <a:r>
              <a:rPr sz="800">
                <a:solidFill>
                  <a:srgbClr val="7FC7E8"/>
                </a:solidFill>
                <a:latin typeface="Consolas"/>
              </a:rPr>
              <a:t>update</a:t>
            </a:r>
            <a:r>
              <a:rPr sz="800">
                <a:solidFill>
                  <a:srgbClr val="CCCCCC"/>
                </a:solidFill>
                <a:latin typeface="Consolas"/>
              </a:rPr>
              <a:t>(self, t):</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"Call every step, BEFORE DoStepDynamics. Returns True while pushing."</a:t>
            </a:r>
            <a:r>
              <a:rPr sz="800">
                <a:solidFill>
                  <a:srgbClr val="D8A0C0"/>
                </a:solidFill>
                <a:latin typeface="Consolas"/>
              </a:rPr>
              <a:t>""</a:t>
            </a:r>
          </a:p>
          <a:p>
            <a:pPr>
              <a:spcAft>
                <a:spcPts val="0"/>
              </a:spcAft>
            </a:pPr>
            <a:r>
              <a:rPr sz="800">
                <a:solidFill>
                  <a:srgbClr val="CCCCCC"/>
                </a:solidFill>
                <a:latin typeface="Consolas"/>
              </a:rPr>
              <a:t>    if self.active is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body, force, local, t_end = self.active</a:t>
            </a:r>
          </a:p>
          <a:p>
            <a:pPr>
              <a:spcAft>
                <a:spcPts val="0"/>
              </a:spcAft>
            </a:pPr>
            <a:r>
              <a:rPr sz="800">
                <a:solidFill>
                  <a:srgbClr val="CCCCCC"/>
                </a:solidFill>
                <a:latin typeface="Consolas"/>
              </a:rPr>
              <a:t>    idx =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body.</a:t>
            </a:r>
            <a:r>
              <a:rPr sz="800">
                <a:solidFill>
                  <a:srgbClr val="7FC7E8"/>
                </a:solidFill>
                <a:latin typeface="Consolas"/>
              </a:rPr>
              <a:t>EmptyAccumulator</a:t>
            </a:r>
            <a:r>
              <a:rPr sz="800">
                <a:solidFill>
                  <a:srgbClr val="CCCCCC"/>
                </a:solidFill>
                <a:latin typeface="Consolas"/>
              </a:rPr>
              <a:t>(idx)            </a:t>
            </a:r>
            <a:r>
              <a:rPr sz="800">
                <a:solidFill>
                  <a:srgbClr val="7FAF7F"/>
                </a:solidFill>
                <a:latin typeface="Consolas"/>
              </a:rPr>
              <a:t># Chrono never clears these for you</a:t>
            </a:r>
          </a:p>
          <a:p>
            <a:pPr>
              <a:spcAft>
                <a:spcPts val="0"/>
              </a:spcAft>
            </a:pPr>
            <a:r>
              <a:rPr sz="800">
                <a:solidFill>
                  <a:srgbClr val="CCCCCC"/>
                </a:solidFill>
                <a:latin typeface="Consolas"/>
              </a:rPr>
              <a:t>    if t &gt;= t_end:</a:t>
            </a:r>
          </a:p>
          <a:p>
            <a:pPr>
              <a:spcAft>
                <a:spcPts val="0"/>
              </a:spcAft>
            </a:pPr>
            <a:r>
              <a:rPr sz="800">
                <a:solidFill>
                  <a:srgbClr val="CCCCCC"/>
                </a:solidFill>
                <a:latin typeface="Consolas"/>
              </a:rPr>
              <a:t>        self.active =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a:t>
            </a:r>
            <a:r>
              <a:rPr sz="800">
                <a:solidFill>
                  <a:srgbClr val="7FAF7F"/>
                </a:solidFill>
                <a:latin typeface="Consolas"/>
              </a:rPr>
              <a:t># The point travels with the link: a shove on the shoulder stays on the</a:t>
            </a:r>
          </a:p>
          <a:p>
            <a:pPr>
              <a:spcAft>
                <a:spcPts val="0"/>
              </a:spcAft>
            </a:pPr>
            <a:r>
              <a:rPr sz="800">
                <a:solidFill>
                  <a:srgbClr val="CCCCCC"/>
                </a:solidFill>
                <a:latin typeface="Consolas"/>
              </a:rPr>
              <a:t>    </a:t>
            </a:r>
            <a:r>
              <a:rPr sz="800">
                <a:solidFill>
                  <a:srgbClr val="7FAF7F"/>
                </a:solidFill>
                <a:latin typeface="Consolas"/>
              </a:rPr>
              <a:t># shoulder even as the shoulder is being shoved away.</a:t>
            </a:r>
          </a:p>
          <a:p>
            <a:pPr>
              <a:spcAft>
                <a:spcPts val="0"/>
              </a:spcAft>
            </a:pPr>
            <a:r>
              <a:rPr sz="800">
                <a:solidFill>
                  <a:srgbClr val="CCCCCC"/>
                </a:solidFill>
                <a:latin typeface="Consolas"/>
              </a:rPr>
              <a:t>    body.</a:t>
            </a:r>
            <a:r>
              <a:rPr sz="800">
                <a:solidFill>
                  <a:srgbClr val="7FC7E8"/>
                </a:solidFill>
                <a:latin typeface="Consolas"/>
              </a:rPr>
              <a:t>AccumulateForce</a:t>
            </a:r>
            <a:r>
              <a:rPr sz="800">
                <a:solidFill>
                  <a:srgbClr val="CCCCCC"/>
                </a:solidFill>
                <a:latin typeface="Consolas"/>
              </a:rPr>
              <a:t>(idx, force, body.</a:t>
            </a:r>
            <a:r>
              <a:rPr sz="800">
                <a:solidFill>
                  <a:srgbClr val="7FC7E8"/>
                </a:solidFill>
                <a:latin typeface="Consolas"/>
              </a:rPr>
              <a:t>TransformPointLocalToParent</a:t>
            </a:r>
            <a:r>
              <a:rPr sz="800">
                <a:solidFill>
                  <a:srgbClr val="CCCCCC"/>
                </a:solidFill>
                <a:latin typeface="Consolas"/>
              </a:rPr>
              <a:t>(local),</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100">
                <a:latin typeface="Consolas"/>
              </a:rPr>
              <a:t>WHAT</a:t>
            </a:r>
            <a:r>
              <a:rPr sz="1300"/>
              <a:t>  click where the push lands, set direction and magnitude, fire a measured impulse, and see whether the controller holds</a:t>
            </a:r>
          </a:p>
          <a:p>
            <a:pPr>
              <a:spcAft>
                <a:spcPts val="500"/>
              </a:spcAft>
            </a:pPr>
            <a:r>
              <a:rPr sz="1100">
                <a:latin typeface="Consolas"/>
              </a:rPr>
              <a:t>WHY</a:t>
            </a:r>
            <a:r>
              <a:rPr sz="1300"/>
              <a:t>   robustness testing that produces a NUMBER, so the result can go in a report and somebody else can reproduce it</a:t>
            </a:r>
          </a:p>
          <a:p>
            <a:pPr>
              <a:spcAft>
                <a:spcPts val="500"/>
              </a:spcAft>
            </a:pPr>
            <a:r>
              <a:rPr sz="1300"/>
              <a:t>Forward at the base COM: </a:t>
            </a:r>
            <a:r>
              <a:rPr sz="1100">
                <a:latin typeface="Consolas"/>
              </a:rPr>
              <a:t>325 N</a:t>
            </a:r>
            <a:r>
              <a:rPr sz="1300"/>
              <a:t> recovers, </a:t>
            </a:r>
            <a:r>
              <a:rPr sz="1100">
                <a:latin typeface="Consolas"/>
              </a:rPr>
              <a:t>330 N</a:t>
            </a:r>
            <a:r>
              <a:rPr sz="1300"/>
              <a:t> does not</a:t>
            </a:r>
          </a:p>
          <a:p>
            <a:pPr>
              <a:spcAft>
                <a:spcPts val="500"/>
              </a:spcAft>
            </a:pPr>
            <a:r>
              <a:rPr sz="1300"/>
              <a:t>Sideways: </a:t>
            </a:r>
            <a:r>
              <a:rPr sz="1100">
                <a:latin typeface="Consolas"/>
              </a:rPr>
              <a:t>280 N</a:t>
            </a:r>
            <a:r>
              <a:rPr sz="1300"/>
              <a:t> recovers, </a:t>
            </a:r>
            <a:r>
              <a:rPr sz="1100">
                <a:latin typeface="Consolas"/>
              </a:rPr>
              <a:t>290 N</a:t>
            </a:r>
            <a:r>
              <a:rPr sz="1300"/>
              <a:t> does not</a:t>
            </a:r>
          </a:p>
          <a:p>
            <a:pPr>
              <a:spcAft>
                <a:spcPts val="500"/>
              </a:spcAft>
            </a:pPr>
            <a:r>
              <a:rPr sz="1300"/>
              <a:t>Same impulse, applied 5 cm higher up the torso: the verdict flips</a:t>
            </a:r>
          </a:p>
          <a:p>
            <a:pPr>
              <a:spcAft>
                <a:spcPts val="500"/>
              </a:spcAft>
            </a:pPr>
            <a:r>
              <a:rPr sz="1100">
                <a:latin typeface="Consolas"/>
              </a:rPr>
              <a:t>What is holding it up matters.</a:t>
            </a:r>
            <a:r>
              <a:rPr sz="1300"/>
              <a:t> Here it is a PD law holding a fixed stance, not a learned policy. It stiffens and resists, and it cannot take a step, so past the tipping point it simply topples.</a:t>
            </a:r>
          </a:p>
          <a:p>
            <a:pPr>
              <a:spcAft>
                <a:spcPts val="500"/>
              </a:spcAft>
            </a:pPr>
            <a:r>
              <a:rPr sz="1300"/>
              <a:t>That is a property of the CONTROLLER, not of the rig. Put a locomotion policy behind the same joints and the rig measures that instead, including whether it steps to catch itself.</a:t>
            </a:r>
          </a:p>
          <a:p>
            <a:pPr>
              <a:spcAft>
                <a:spcPts val="500"/>
              </a:spcAft>
            </a:pPr>
            <a:r>
              <a:rPr sz="1300"/>
              <a:t>That last line is the reason a human is still in this one. Where to push is a judgement call, and it changes the answer as much as how hard you push does.</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every part, the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