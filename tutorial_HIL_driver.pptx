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300" r:id="rId3"/>
    <p:sldId id="301" r:id="rId2"/>
    <p:sldId id="302" r:id="rId54"/>
    <p:sldId id="303" r:id="rId55"/>
    <p:sldId id="304" r:id="rId56"/>
    <p:sldId id="305" r:id="rId5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7" r:id="rId39"/>
    <p:sldId id="288" r:id="rId40"/>
    <p:sldId id="289" r:id="rId41"/>
    <p:sldId id="290" r:id="rId42"/>
    <p:sldId id="294" r:id="rId46"/>
    <p:sldId id="295" r:id="rId47"/>
    <p:sldId id="296" r:id="rId7"/>
    <p:sldId id="297" r:id="rId6"/>
    <p:sldId id="298" r:id="rId5"/>
    <p:sldId id="299" r:id="rId4"/>
    <p:sldId id="291" r:id="rId43"/>
    <p:sldId id="292" r:id="rId44"/>
    <p:sldId id="29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2.xml"/><Relationship Id="rId3" Type="http://schemas.openxmlformats.org/officeDocument/2006/relationships/slide" Target="slides/slide21.xml"/><Relationship Id="rId4" Type="http://schemas.openxmlformats.org/officeDocument/2006/relationships/slide" Target="slides/slide45.xml"/><Relationship Id="rId5" Type="http://schemas.openxmlformats.org/officeDocument/2006/relationships/slide" Target="slides/slide44.xml"/><Relationship Id="rId6" Type="http://schemas.openxmlformats.org/officeDocument/2006/relationships/slide" Target="slides/slide43.xml"/><Relationship Id="rId7" Type="http://schemas.openxmlformats.org/officeDocument/2006/relationships/slide" Target="slides/slide4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6.xml"/><Relationship Id="rId44" Type="http://schemas.openxmlformats.org/officeDocument/2006/relationships/slide" Target="slides/slide47.xml"/><Relationship Id="rId45" Type="http://schemas.openxmlformats.org/officeDocument/2006/relationships/slide" Target="slides/slide48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openxmlformats.org/officeDocument/2006/relationships/slide" Target="slides/slide23.xml"/><Relationship Id="rId55" Type="http://schemas.openxmlformats.org/officeDocument/2006/relationships/slide" Target="slides/slide24.xml"/><Relationship Id="rId56" Type="http://schemas.openxmlformats.org/officeDocument/2006/relationships/slide" Target="slides/slide25.xml"/><Relationship Id="rId57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Speaker: &lt;your name&gt;</a:t>
            </a:r>
          </a:p>
          <a:p>
            <a:r>
              <a:t>(Simulation-Based Engineering Lab)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Overview of the HIL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Human-in-the-loop = the simulation runs at wall-clock speed and a person closes the control loop</a:t>
            </a:r>
          </a:p>
          <a:p>
            <a:pPr/>
            <a:r>
              <a:rPr sz="2000"/>
              <a:t>In this tutorial, you will learn how to</a:t>
            </a:r>
          </a:p>
          <a:p>
            <a:pPr lvl="1"/>
            <a:r>
              <a:rPr sz="1800"/>
              <a:t>PART 1: Keep a Chrono::Vehicle simulation real-time and measure how well you did</a:t>
            </a:r>
          </a:p>
          <a:p>
            <a:pPr lvl="1"/>
            <a:r>
              <a:rPr sz="1800"/>
              <a:t>PART 2: Put a human on the keyboard with ChInteractiveDriver</a:t>
            </a:r>
          </a:p>
          <a:p>
            <a:pPr lvl="1"/>
            <a:r>
              <a:rPr sz="1800"/>
              <a:t>PART 3: Read a gamepad or wheel natively - no extra library needed</a:t>
            </a:r>
          </a:p>
          <a:p>
            <a:pPr lvl="1"/>
            <a:r>
              <a:rPr sz="1800"/>
              <a:t>PART 4: Bring a device Chrono doesn't know about, and close the loop back to it</a:t>
            </a:r>
          </a:p>
          <a:p>
            <a:pPr lvl="1"/>
            <a:r>
              <a:rPr sz="1800"/>
              <a:t>PART 5: Customize the built-in overlay and choose your car</a:t>
            </a:r>
          </a:p>
          <a:p>
            <a:pPr/>
            <a:r>
              <a:rPr sz="2000"/>
              <a:t>Everything runs in PyChrono; no special hardware is required (a gamepad/wheel is optional)</a:t>
            </a:r>
          </a:p>
          <a:p>
            <a:pPr/>
            <a:r>
              <a:rPr sz="2000"/>
              <a:t>The whole HIL contract is: spin once per step, three floats in, state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Create a conda environment with PyChrono and pygame</a:t>
            </a:r>
          </a:p>
          <a:p>
            <a:pPr lvl="1"/>
            <a:r>
              <a:rPr sz="18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8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2000"/>
              <a:t>Get the tutorial files: tutorial_HIL_driver.py, operator_console.py, probe_gamepad.py</a:t>
            </a:r>
          </a:p>
          <a:p>
            <a:pPr/>
            <a:r>
              <a:rPr sz="2000"/>
              <a:t>Check that </a:t>
            </a:r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</a:t>
            </a:r>
          </a:p>
          <a:p>
            <a:pPr/>
            <a:r>
              <a:rPr sz="2000"/>
              <a:t>All switches are in the CONFIGURATION section at the bottom of tutorial_HIL_driver.py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 (next slides):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Configuration: scripted driver, as fast as possible (Lines 381 to 399)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2570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Where do the driver inputs come from?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  "data"      PART 1 - scripted ChDataDriver, no human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  "keyboard"  PART 2 - ChInteractiveDriver, arrow keys in the Irrlicht window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  "udp"       PART 3 - operator_console.py sends packets over the network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  "gamepad"   PART 3 - gamepad / steering wheel through pygame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INPUT_SOURCE = "data"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How is real time enforced?  "none" | "per_step" | "vehicle" | "cumulative"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REALTIME = "none"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PART 4: send telemetry back to the operator (udp/gamepad sources only)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SEND_FEEDBACK = False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Simulation step sizes.  Make step_size smaller (e.g. 5e-4) to see RTF &gt; 1.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step_size = 3e-3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tire_step_size = 1e-3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Tire model (RIGID, FIALA, TMEASY, PAC89, PAC02)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tire_model = veh.TireModelType_TMEASY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407040"/>
            <a:ext cx="11392000" cy="1050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Start with INPUT_SOURCE = "data" and REALTIME = "none"</a:t>
            </a:r>
          </a:p>
          <a:p>
            <a:pPr/>
            <a:r>
              <a:rPr sz="1800"/>
              <a:t>A ChDataDriver replays a table of (time, steering, throttle, braking) - no human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A scripted ChDataDriver (Lines 252 to 262)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501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if INPUT_SOURCE == "data":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### PART 1: scripted inputs - no human in the loop ###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 (time,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data = veh.vector_Entry([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veh.DataDriverEntry(0.0, 0.0, 0.0,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veh.DataDriverEntry(0.5, 0.0,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veh.DataDriverEntry(4.0, 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veh.DataDriverEntry(8.0, -0.4,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veh.DataDriverEntry(12.0, 0.0, 0.0, 0.8),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])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driver = veh.ChDataDriver(vehicle, data)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00160"/>
            <a:ext cx="11392000" cy="275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ChDataDriver interpolates the entries in time</a:t>
            </a:r>
          </a:p>
          <a:p>
            <a:pPr/>
            <a:r>
              <a:rPr sz="1800"/>
              <a:t>Every driver in Chrono::Vehicle produces the same thing: DriverInputs = (steering, throttle, braking, clutch)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The simulation loop (Lines 325 to 353)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622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3: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Get driver inputs (three floats) - this is the whole HIL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hmmwv.Synchronize(sim_time, driver_inputs, terrain)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hmmwv.Advance(step_size)  # spins here if REALTIME == "vehicle"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772800"/>
            <a:ext cx="11392000" cy="68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Synchronize: every module reads what it needs from the others at time t</a:t>
            </a:r>
          </a:p>
          <a:p>
            <a:pPr/>
            <a:r>
              <a:rPr sz="1800"/>
              <a:t>Advance: every module integrates from t to t + step</a:t>
            </a:r>
          </a:p>
          <a:p>
            <a:pPr/>
            <a:r>
              <a:rPr sz="1800"/>
              <a:t>The driver is queried BEFORE Synchronize - inputs are sampled once and held for the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3: Measure it - sim time vs wall time (Lines 355 to 361)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print(f"{sim_time:7.2f} {wall:7.2f} {wall - sim_time:+7.3f} {vehicle.GetRTF():6.2f}"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{vehicle.GetSpeed():7.2f}  {driver_inputs.m_steering:6.2f}"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{driver_inputs.m_throttle:5.2f} {driver_inputs.m_braking:5.2f}")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846720"/>
            <a:ext cx="11392000" cy="3611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drift = wall time - simulation time: negative means the sim is ahead of the clock</a:t>
            </a:r>
          </a:p>
          <a:p>
            <a:pPr/>
            <a:r>
              <a:rPr sz="1800"/>
              <a:t>vehicle.GetRTF() is the true RTF of the last step, even when real time is enforced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REALTIME = "none": watch the drift column run away</a:t>
            </a:r>
          </a:p>
          <a:p>
            <a:pPr/>
            <a:r>
              <a:rPr sz="2000"/>
              <a:t>Change step_size to 5e-4 - RTF goes above 1 and the sim can never be real-time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Enforce real time, three ways (Lines 306 to 311)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-----------------------------------------------------------------------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vehicle.EnableRealtime(True)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"vehicle": ChVehicle::EnableRealtime(True) spins inside vehicle.Advance() using a ChRealtimeStepTimer</a:t>
            </a:r>
          </a:p>
          <a:p>
            <a:pPr/>
            <a:r>
              <a:rPr sz="1800"/>
              <a:t>"per_step": the same timer, called explicitly at the end of the loop (next slide)</a:t>
            </a:r>
          </a:p>
          <a:p>
            <a:pPr/>
            <a:r>
              <a:rPr sz="1800"/>
              <a:t>"cumulative": our own timer that compares total simulated time to total wall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Spin at the end of the loop (Lines 370 to 374)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1: spin in place for real time to catch up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"per_step":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rt_timer.Spin(step_size)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elif REALTIME == "cumulative":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cum_timer.spin(system.GetChTime())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ChRealtimeStepTimer.Spin(step): wait until at least </a:t>
            </a:r>
            <a:r>
              <a:rPr sz="1600">
                <a:latin typeface="Consolas"/>
              </a:rPr>
              <a:t>step</a:t>
            </a:r>
            <a:r>
              <a:rPr sz="1800"/>
              <a:t> seconds passed since the last Spin, then reset</a:t>
            </a:r>
          </a:p>
          <a:p>
            <a:pPr/>
            <a:r>
              <a:rPr sz="1800"/>
              <a:t>Per-step timers never recover lost time: a slow frame, a Python hiccup, a render - each one pushes drift up a little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A drift-free timer in 10 lines (Lines 53 to 71)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396748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self.reset()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117480"/>
            <a:ext cx="11392000" cy="134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Compare TOTAL simulated time with TOTAL wall time - lost time is caught up on the next fast steps</a:t>
            </a:r>
          </a:p>
          <a:p>
            <a:pPr/>
            <a:r>
              <a:rPr sz="1800"/>
              <a:t>This is how driving simulators (e.g. Chrono::HIL) keep their clock; the same idea also works across processes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REALTIME = "per_step" (Line 389), run for a while and note the drift</a:t>
            </a:r>
          </a:p>
          <a:p>
            <a:pPr/>
            <a:r>
              <a:rPr sz="2000"/>
              <a:t>Set REALTIME = "cumulative" and compare</a:t>
            </a:r>
          </a:p>
          <a:p>
            <a:pPr/>
            <a:r>
              <a:rPr sz="2000"/>
              <a:t>Keep REALTIME = "vehicle" for the rest of the tutorial - it is the simplest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ChInteractiveDriver (Lines 264 to 275)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806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Arrow keys steer/accelerate/brake, 'C' centers steering, 'R' releases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the pedals, 'L' locks the current inputs.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30640"/>
            <a:ext cx="11392000" cy="272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Arrow keys steer/accelerate/brake, C centers steering, R releases the pedals, L locks the inputs</a:t>
            </a:r>
          </a:p>
          <a:p>
            <a:pPr/>
            <a:r>
              <a:rPr sz="1800"/>
              <a:t>Each keypress moves a TARGET by "delta"; the applied input follows the target with a first-order lag (SetGains)</a:t>
            </a:r>
          </a:p>
          <a:p>
            <a:pPr/>
            <a:r>
              <a:rPr sz="1800"/>
              <a:t>delta = render_step / time-to-full-scale: full steering lock takes 1 s, full braking 0.3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Route the window events to the driver (Lines 300 to 304)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vis.AttachVehicle(vehicle)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INPUT_SOURCE == "keyboard":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vis.AttachDriver(driver)  # route Irrlicht key events to the driver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The Irrlicht visual system owns the keyboard; AttachDriver forwards key events to the driver</a:t>
            </a:r>
          </a:p>
          <a:p>
            <a:pPr/>
            <a:r>
              <a:rPr sz="1800"/>
              <a:t>Nothing else in the loop changes - the driver still just returns three floats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"keyboard" (Line 386)</a:t>
            </a:r>
          </a:p>
          <a:p>
            <a:pPr/>
            <a:r>
              <a:rPr sz="2000"/>
              <a:t>Set REALTIME = "vehicle" (Line 389) - without real time the car is undrivable (why?)</a:t>
            </a:r>
          </a:p>
          <a:p>
            <a:pPr/>
            <a:r>
              <a:rPr sz="2000"/>
              <a:t>Try SetGains(50, 50, 50) on Line 275 and feel what a step input does to the suspension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HMMWV. Everyone else: watch the Irrlicht HUD (speed, inputs, RTF)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3: A gamepad or wheel, read natively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No pygame, no custom class - Chrono reads the joystick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ChInteractiveDriver already knows how to read a joystick: </a:t>
            </a:r>
            <a:r>
              <a:rPr sz="1800">
                <a:latin typeface="Consolas"/>
              </a:rPr>
              <a:t>SetInputMode(JOYSTICK)</a:t>
            </a:r>
          </a:p>
          <a:p>
            <a:pPr/>
            <a:r>
              <a:rPr sz="2000"/>
              <a:t>A JSON config file maps device axes/buttons to steering/throttle/braking/clutch/shifting - four presets ship with Chrono in </a:t>
            </a:r>
            <a:r>
              <a:rPr sz="1800">
                <a:latin typeface="Consolas"/>
              </a:rPr>
              <a:t>data/vehicle/joystick/</a:t>
            </a:r>
          </a:p>
          <a:p>
            <a:pPr lvl="1"/>
            <a:r>
              <a:rPr sz="1800">
                <a:latin typeface="Consolas"/>
              </a:rPr>
              <a:t>controller_XboxOneForWindows.json</a:t>
            </a:r>
          </a:p>
          <a:p>
            <a:pPr lvl="1"/>
            <a:r>
              <a:rPr sz="1800">
                <a:latin typeface="Consolas"/>
              </a:rPr>
              <a:t>controller_LogitechRumblePad2.json</a:t>
            </a:r>
          </a:p>
          <a:p>
            <a:pPr lvl="1"/>
            <a:r>
              <a:rPr sz="1800">
                <a:latin typeface="Consolas"/>
              </a:rPr>
              <a:t>controller_WheelPedalsAndShifters.json</a:t>
            </a:r>
          </a:p>
          <a:p>
            <a:pPr lvl="1"/>
            <a:r>
              <a:rPr sz="1800">
                <a:latin typeface="Consolas"/>
              </a:rPr>
              <a:t>controller_Default.json</a:t>
            </a:r>
            <a:r>
              <a:rPr sz="2000"/>
              <a:t> - or write your own</a:t>
            </a:r>
          </a:p>
          <a:p>
            <a:pPr/>
            <a:r>
              <a:rPr sz="1800">
                <a:latin typeface="Consolas"/>
              </a:rPr>
              <a:t>SetJoystickDebug(True)</a:t>
            </a:r>
            <a:r>
              <a:rPr sz="2000"/>
              <a:t> prints live axis/button numbers twice a second - the same job probe_gamepad.py used to do, built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gamepad/wheel driver (Lines 309 to 316)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3: a gamepad or wheel - same driver class as keyboard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SetInputMode(JOYSTICK) switches ChInteractiveDriver from reading the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Irrlicht window's keyboard to reading the joystick vis configures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below.  Smoothing (SetGains) applies the same way either mode.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driver.SetGains(4.0, 4.0, 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driver.SetInputMode(driver.InputMode_JOYSTICK)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Same ChInteractiveDriver class as keyboard - just a different input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Wire up the joystick (Lines 341 to 345)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vis.SetJoystickConfigFile(JOYSTICK_CONFIG)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vis.SetJoystickDebug(JOYSTICK_DEBUG)  # prints live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JOYSTICK_CONFIG and JOYSTICK_DEBUG live in CONFIGURATION,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"gamepad" (Line 440), keep REALTIME = "vehicle"</a:t>
            </a:r>
          </a:p>
          <a:p>
            <a:pPr/>
            <a:r>
              <a:rPr sz="2000"/>
              <a:t>Plug in a gamepad or wheel; set JOYSTICK_CONFIG to the preset that matches it</a:t>
            </a:r>
          </a:p>
          <a:p>
            <a:pPr/>
            <a:r>
              <a:rPr sz="2000"/>
              <a:t>No matching preset? Set </a:t>
            </a:r>
            <a:r>
              <a:rPr sz="1800">
                <a:latin typeface="Consolas"/>
              </a:rPr>
              <a:t>JOYSTICK_DEBUG = True</a:t>
            </a:r>
            <a:r>
              <a:rPr sz="2000"/>
              <a:t> first and move one control at a time to read off the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 with a gamepad or wheel - no second terminal, no pygame window</a:t>
            </a:r>
          </a:p>
          <a:p>
            <a:pPr/>
            <a:r>
              <a:rPr sz="2000"/>
              <a:t>Compare the feel against Part 2's keyboard: same SetGains() smoothing, continuous analog input instead of discrete keypresses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4: A device Chrono doesn't know about, and closing the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UDP console, a gamepad, a steering wheel, a phone, another process...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The HIL contract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A driver is just three floats per step: steering [-1, 1], throttle [0, 1], braking [0, 1]</a:t>
            </a:r>
          </a:p>
          <a:p>
            <a:pPr/>
            <a:r>
              <a:rPr sz="1800">
                <a:latin typeface="Consolas"/>
              </a:rPr>
              <a:t>veh.ChDriver</a:t>
            </a:r>
            <a:r>
              <a:rPr sz="2000"/>
              <a:t> is the plain container: </a:t>
            </a:r>
            <a:r>
              <a:rPr sz="1800">
                <a:latin typeface="Consolas"/>
              </a:rPr>
              <a:t>SetSteering()</a:t>
            </a:r>
            <a:r>
              <a:rPr sz="2000"/>
              <a:t>, </a:t>
            </a:r>
            <a:r>
              <a:rPr sz="1800">
                <a:latin typeface="Consolas"/>
              </a:rPr>
              <a:t>SetThrottle()</a:t>
            </a:r>
            <a:r>
              <a:rPr sz="2000"/>
              <a:t>, </a:t>
            </a:r>
            <a:r>
              <a:rPr sz="1800">
                <a:latin typeface="Consolas"/>
              </a:rPr>
              <a:t>SetBraking()</a:t>
            </a:r>
          </a:p>
          <a:p>
            <a:pPr/>
            <a:r>
              <a:rPr sz="2000"/>
              <a:t>So the recipe for ANY device is:</a:t>
            </a:r>
          </a:p>
          <a:p>
            <a:pPr lvl="1"/>
            <a:r>
              <a:rPr sz="1800"/>
              <a:t>1. poll the device (never block the physics loop)</a:t>
            </a:r>
          </a:p>
          <a:p>
            <a:pPr lvl="1"/>
            <a:r>
              <a:rPr sz="1800"/>
              <a:t>2. rate-limit / smooth (a human arm is not a step function)</a:t>
            </a:r>
          </a:p>
          <a:p>
            <a:pPr lvl="1"/>
            <a:r>
              <a:rPr sz="1800"/>
              <a:t>3. write into the ChDriver once per step - zero-order hold until the next step</a:t>
            </a:r>
          </a:p>
          <a:p>
            <a:pPr/>
            <a:r>
              <a:rPr sz="2000"/>
              <a:t>Today: a UDP operator console everybody can run (two terminals)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Smooth - never teleport raw inputs into the model (Lines 100 to 133)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class SmoothedInputs: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"""First-order lag from a *target* input to the *applied* input.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Raw device values should not be teleported into the model: a keypress is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step function, and a step in steering excites the suspension and tires in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way no human arm ever would.  This mirrors the internal dynamics of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ChInteractiveDriver (see SetGains) so the behavior is the same whether the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inputs come from the Irrlicht keyboard handler or from our own device.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__init__(self, gain=4.0):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self.gain = gain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self.steering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self.throttle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self.braking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self.target = (0.0, 0.0,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set_target(self, steering, throttle, braking):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self.target = (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max(-1.0, min(1.0, steering)),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max(0.0, min(1.0, throttle)),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max(0.0, min(1.0, braking)),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advance(self, step):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s, t, b = self.target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self.steering += min(1.0, self.gain * step) * (s - self.steering)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self.throttle += min(1.0, self.gain * step) * (t - self.throttle)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self.braking += min(1.0, self.gain * step) * (b - self.braking)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apply_to(self, driver):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driver.SetSteering(self.steering)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driver.SetThrottle(self.throttle)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driver.SetBraking(self.braking)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Same first-order lag as ChInteractiveDriver::SetGains, in Python, so all devices behave alike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A UDP input source (Lines 136 to 169)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384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"""Receive 'steering,throttle,braking' text datagrams from an operator.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Run operator_console.py in another terminal (or on another machine) and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 with the arrow keys there.  The socket is non-blocking: the physics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loop never waits for the operator.  If no packet arrived since the last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step, the previous target is held (zero-order hold).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self.packets = 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print(f"[udp] listening on port {port} - start operator_console.py")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Drain everything that is queued and keep only the newest packet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s, t, b = (float(x) for x in data.decode().split(","))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self.last = (s, t, b)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self.operator_addr = addr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self.packets += 1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pass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return self.last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534800"/>
            <a:ext cx="11392000" cy="-7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Non-blocking socket, drained every step; the newest packet wins, an empty queue holds the last value</a:t>
            </a:r>
          </a:p>
          <a:p>
            <a:pPr/>
            <a:r>
              <a:rPr sz="1800"/>
              <a:t>The operator can be anywhere on the network - and the console has no Chrono dependency at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3: The operator side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42265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--- keyboard -&gt; target inputs 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keys = pygame.key.get_pressed()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keys[pygame.K_LEFT]: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min(1.0, steering + STEER_RATE * dt)     # +1 = left in Chrono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keys[pygame.K_RIGHT]: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max(-1.0, steering - STEER_RATE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  # self-center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-= max(-STEER_RETURN * dt, min(STEER_RETURN * dt, steering))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keys[pygame.K_UP]: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min(1.0, throttle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keys[pygame.K_DOWN]: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min(1.0, braking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max(0.0, throttle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max(0.0, braking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keys[pygame.K_SPACE]: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steering, throttle, braking = 0.0, 0.0,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--- send to the simulation ---------------------------------------------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sock.sendto(f"{steering:.3f},{throttle:.3f},{braking:.3f}".encode(), (SIM_HOST, SIM_PORT))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00" y="5376538"/>
            <a:ext cx="113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 pygame window: hold the arrow keys, send </a:t>
            </a:r>
            <a:r>
              <a:rPr sz="1600">
                <a:latin typeface="Consolas"/>
              </a:rPr>
              <a:t>steering,throttle,braking</a:t>
            </a:r>
            <a:r>
              <a:rPr sz="1800"/>
              <a:t> at 50 Hz</a:t>
            </a:r>
          </a:p>
          <a:p>
            <a:pPr/>
            <a:r>
              <a:rPr sz="1800"/>
              <a:t>Swap this for a web page, a ROS node, or a driving-simulator cockpit - the sim does not care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Plug the device into a plain ChDriver (Lines 318 to 327)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7635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4: a device Chrono doesn't know about writes into a plain ChDriver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INPUT_SOURCE == "udp":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device = UdpInput(port=UDP_PORT)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raise ValueError(f"unknown INPUT_SOURCE {INPUT_SOURCE!r}")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 = SmoothedInputs(gain=4.0)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driver.Initialize()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913520"/>
            <a:ext cx="11392000" cy="254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No AttachDriver here - the Irrlicht window keeps the keyboard, our device owns the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5: Sample once per step, then hold (Lines 384 to 393)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336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this is the whole HIL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486800"/>
            <a:ext cx="11392000" cy="297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poll -&gt; smooth -&gt; write, then GetInputs() as before; the physics loop never waits on the device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"udp" (Line 386), keep REALTIME = "vehicle"</a:t>
            </a:r>
          </a:p>
          <a:p>
            <a:pPr/>
            <a:r>
              <a:rPr sz="2000"/>
              <a:t>Terminal 1: </a:t>
            </a:r>
            <a:r>
              <a:rPr sz="1800">
                <a:latin typeface="Consolas"/>
              </a:rPr>
              <a:t>python tutorial_HIL_driver.py</a:t>
            </a:r>
          </a:p>
          <a:p>
            <a:pPr/>
            <a:r>
              <a:rPr sz="2000"/>
              <a:t>Terminal 2: </a:t>
            </a:r>
            <a:r>
              <a:rPr sz="1800">
                <a:latin typeface="Consolas"/>
              </a:rPr>
              <a:t>python operator_console.py</a:t>
            </a:r>
            <a:r>
              <a:rPr sz="2000"/>
              <a:t> (or </a:t>
            </a:r>
            <a:r>
              <a:rPr sz="1800">
                <a:latin typeface="Consolas"/>
              </a:rPr>
              <a:t>python operator_console.py &lt;ip of terminal 1&gt;</a:t>
            </a:r>
            <a:r>
              <a:rPr sz="2000"/>
              <a:t> from another laptop)</a:t>
            </a:r>
          </a:p>
          <a:p>
            <a:pPr/>
            <a:r>
              <a:rPr sz="2000"/>
              <a:t>Click the operator console window and drive with the arrow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Pair up: one laptop runs the sim, the other runs the console and drives it over Wi-Fi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Send state back at render rate (Lines 413 to 417)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4: feedback to the operator (speed, RTF, lateral acceleration, applied inputs)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acc = vehicle.GetPointAcceleration(chrono.ChVector3d(0, 0, 0))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device.send_feedback(f"{sim_time:.3f},{vehicle.GetSpeed():.3f},{vehicle.GetRTF():.3f},{acc.y:.3f},"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               f"{driver_inputs.m_steering:.3f},{driver_inputs.m_throttle:.3f},{driver_inputs.m_braking:.3f}")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Speed, RTF and lateral acceleration go back to whoever sent us inputs (UdpInput remembers the address)</a:t>
            </a:r>
          </a:p>
          <a:p>
            <a:pPr/>
            <a:r>
              <a:rPr sz="1800"/>
              <a:t>Send at render rate (50 Hz), not at every physics step - the human cannot use 333 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2: Show it on the console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--- PART 4: receive telemetry 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while True: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try: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data, _ = sock.recvfrom(256)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telemetry = tuple(float(x) for x in data.decode().split(","))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# (sim time, speed, RTF, lateral acc, applied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except (BlockingIOError, ValueError):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SEND_FEEDBACK = True (Line 392)</a:t>
            </a:r>
          </a:p>
          <a:p>
            <a:pPr/>
            <a:r>
              <a:rPr sz="2000"/>
              <a:t>Restart both scripts; the console now shows speed, sim time, RTF and lateral acceleration</a:t>
            </a:r>
          </a:p>
          <a:p>
            <a:pPr/>
            <a:r>
              <a:rPr sz="2000"/>
              <a:t>With a wheel: this is where force feedback torque would be computed from the lateral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5: Choose your car, customize the overlay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One interface, many vehicles - and a HUD you don't have to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 full-vehicle model in Chrono::Vehicle (HMMWV_Full, Sedan, CityBus, Gator, ...) shares the same interface</a:t>
            </a:r>
          </a:p>
          <a:p>
            <a:pPr/>
            <a:r>
              <a:rPr sz="1800">
                <a:latin typeface="Consolas"/>
              </a:rPr>
              <a:t>GetVehicle()</a:t>
            </a:r>
            <a:r>
              <a:rPr sz="2000"/>
              <a:t> / </a:t>
            </a:r>
            <a:r>
              <a:rPr sz="1800">
                <a:latin typeface="Consolas"/>
              </a:rPr>
              <a:t>GetSystem()</a:t>
            </a:r>
            <a:r>
              <a:rPr sz="2000"/>
              <a:t> / </a:t>
            </a:r>
            <a:r>
              <a:rPr sz="1800">
                <a:latin typeface="Consolas"/>
              </a:rPr>
              <a:t>Synchronize()</a:t>
            </a:r>
            <a:r>
              <a:rPr sz="2000"/>
              <a:t> / </a:t>
            </a:r>
            <a:r>
              <a:rPr sz="1800">
                <a:latin typeface="Consolas"/>
              </a:rPr>
              <a:t>Advance()</a:t>
            </a:r>
            <a:r>
              <a:rPr sz="2000"/>
              <a:t> - the same four calls no matter which model you picked</a:t>
            </a:r>
          </a:p>
          <a:p>
            <a:pPr/>
            <a:r>
              <a:rPr sz="2000"/>
              <a:t>VEHICLE picks the model; build_vehicle() is the only place that knows the differences (init height, extra setup calls)</a:t>
            </a:r>
          </a:p>
          <a:p>
            <a:pPr/>
            <a:r>
              <a:rPr sz="2000"/>
              <a:t>The Irrlicht window already ships with an on-screen HUD, plus Chrono's own tabbed info panel and a profiler</a:t>
            </a:r>
          </a:p>
          <a:p>
            <a:pPr/>
            <a:r>
              <a:rPr sz="2000"/>
              <a:t>None of it is hand-drawn - add or remove pieces with flags on vis, no custom overlay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Choose your car (Lines 284 to 292)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def main():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Create the vehicle (PART 5) and initialize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vehicle_model, chase_dist = build_vehicle(VEHICLE)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 = vehicle_model.GetVehicle()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 = vehicle_model.GetSystem()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system.SetCollisionSystemType(chrono.ChCollisionSystem.Type_BULLET)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VEHICLE lives in CONFIGURATION - "hmmwv" | "sedan" | "citybus" | "gator"; everything below this line is unchanged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 or remove overlay pieces (Lines 365 to 372)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5: the built-in overlay - nothing here is hand-drawn, every piece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is a flag or a method on `vis` itself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vis.EnableStats(SHOW_VEHICLE_HUD)        # speed/steering/throttle/brake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vis.SetHUDLocation(*HUD_CORNER)          # where that panel sits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vis.ShowInfoPanel(SHOW_SIM_INFO_PANEL)   # Chrono's own tabbed info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(bodies, contacts, timers); also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toggles live with the 'i' key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vis.ShowProfiler(SHOW_PROFILER)          # per-module timing bars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SHOW_VEHICLE_HUD, HUD_CORNER, SHOW_SIM_INFO_PANEL, SHOW_PROFILER all live in CONFIGURATION, right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VEHICLE = "citybus" (or "sedan", "gator") and re-run - same driver, same terrain, very different vehicle</a:t>
            </a:r>
          </a:p>
          <a:p>
            <a:pPr/>
            <a:r>
              <a:rPr sz="2000"/>
              <a:t>Set SHOW_SIM_INFO_PANEL = True, then press the </a:t>
            </a:r>
            <a:r>
              <a:rPr sz="1800">
                <a:latin typeface="Consolas"/>
              </a:rPr>
              <a:t>i</a:t>
            </a:r>
            <a:r>
              <a:rPr sz="2000"/>
              <a:t> key while the sim is running - same panel, two ways to reach it</a:t>
            </a:r>
          </a:p>
          <a:p>
            <a:pPr/>
            <a:r>
              <a:rPr sz="2000"/>
              <a:t>Try SHOW_VEHICLE_HUD = False - the 3D scene doesn't care, only the panel disappears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Everyone picks a different VEHICLE and compares how the same scripted course drives an HMMWV vs. a bus vs. a Gator</a:t>
            </a:r>
          </a:p>
          <a:p>
            <a:pPr/>
            <a:r>
              <a:rPr sz="2000"/>
              <a:t>Toggle SHOW_VEHICLE_HUD / SHOW_SIM_INFO_PANEL live and watch the overlay change - nothing was re-rendered by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45</a:t>
            </a:r>
          </a:p>
        </p:txBody>
      </p:sp>
      <p:pic>
        <p:nvPicPr>
          <p:cNvPr id="6" name="Picture 5" descr="hud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089" y="3350000"/>
            <a:ext cx="2517822" cy="3100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Thank you.</a:t>
            </a:r>
          </a:p>
          <a:p>
            <a:pPr/>
            <a:r>
              <a:rPr sz="2000"/>
              <a:t>kasha2@wisc.edu</a:t>
            </a:r>
          </a:p>
          <a:p>
            <a:pPr/>
            <a:r>
              <a:rPr sz="2000"/>
              <a:t>Simulation-Based Engineering Lab</a:t>
            </a:r>
          </a:p>
          <a:p>
            <a:pPr/>
            <a:r>
              <a:rPr sz="2000"/>
              <a:t>University of Wisconsin - Madison</a:t>
            </a:r>
          </a:p>
          <a:p>
            <a:pPr/>
          </a:p>
          <a:p>
            <a:pPr/>
            <a:r>
              <a:rPr sz="2000"/>
              <a:t>Lab website: http://sbel.wisc.edu</a:t>
            </a:r>
          </a:p>
          <a:p>
            <a:pPr/>
            <a:r>
              <a:rPr sz="2000"/>
              <a:t>Chrono website: http://www.projectchrono.org</a:t>
            </a:r>
          </a:p>
          <a:p>
            <a:pPr/>
            <a:r>
              <a:rPr sz="2000"/>
              <a:t>Source code: https://github.com/projectchrono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27575</TotalTime>
  <Words>5588</Words>
  <Application>Microsoft Office PowerPoint</Application>
  <PresentationFormat>Widescreen</PresentationFormat>
  <Paragraphs>655</Paragraphs>
  <Slides>46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Calibri</vt:lpstr>
      <vt:lpstr>Consolas</vt:lpstr>
      <vt:lpstr>Corbel</vt:lpstr>
      <vt:lpstr>1_Basis</vt:lpstr>
      <vt:lpstr>Chrono SENSOR (CAMERA) </vt:lpstr>
      <vt:lpstr>Overview of the camera tutorial</vt:lpstr>
      <vt:lpstr>Before we start ……</vt:lpstr>
      <vt:lpstr>Part 1: Basic Operations</vt:lpstr>
      <vt:lpstr>Scene configuration </vt:lpstr>
      <vt:lpstr>Step 1: Add a matrix of rocks and a ground in the system</vt:lpstr>
      <vt:lpstr>Create a contact shape for each rock (Lines 53 to 70) </vt:lpstr>
      <vt:lpstr>Create a visual shape for each rock  (Lines 72 to 85)</vt:lpstr>
      <vt:lpstr>Create a visual shape for each rock (Lines 87 to 109) </vt:lpstr>
      <vt:lpstr>Create a rock body and assign visual and contact shapes (Lines 111 to 128)</vt:lpstr>
      <vt:lpstr>Add a cuboid ground in the system (Lines 131 to 157)</vt:lpstr>
      <vt:lpstr>Optional: Add a mirror ball in the system (Lines 159 to 177)</vt:lpstr>
      <vt:lpstr>Step 2: Create a sensor manager, and add background and lights</vt:lpstr>
      <vt:lpstr>Set the background (Lines 184 to 195)</vt:lpstr>
      <vt:lpstr>Add lights (Lines 197 to 217)</vt:lpstr>
      <vt:lpstr>Step 3: Add sensors (Lines 219 to 232)</vt:lpstr>
      <vt:lpstr>Step 3: Add sensors (Lines 234 to 245)</vt:lpstr>
      <vt:lpstr>Show Time</vt:lpstr>
      <vt:lpstr>Step 4: Build Camera Filter Graph as Image Processing Modules</vt:lpstr>
      <vt:lpstr>Step 4: Build Camera Filter Graph as image processing modules</vt:lpstr>
      <vt:lpstr>PowerPoint Presentation</vt:lpstr>
      <vt:lpstr>Before running the code, please</vt:lpstr>
      <vt:lpstr>Show Time</vt:lpstr>
      <vt:lpstr>Add a depth camera (Lines 289 to 310)</vt:lpstr>
      <vt:lpstr>Add a segmentation camera  (Lines 312 to 332)</vt:lpstr>
      <vt:lpstr>Before running the code, please</vt:lpstr>
      <vt:lpstr>Show Time</vt:lpstr>
      <vt:lpstr>Step 5: Simulate the system using a loop (Lines 416 to 443)</vt:lpstr>
      <vt:lpstr>Step 5: Simulate the system using a loop (Lines 445 to 450)</vt:lpstr>
      <vt:lpstr>Step 5: Simulate the system using a loop (Lines 452 to 460)</vt:lpstr>
      <vt:lpstr>Before running the code, please</vt:lpstr>
      <vt:lpstr>Show Time</vt:lpstr>
      <vt:lpstr>Part 2: Integrated application - a front-view camera installed on a running VIPER</vt:lpstr>
      <vt:lpstr>Scene Configuration</vt:lpstr>
      <vt:lpstr>Let’s change the code first ……</vt:lpstr>
      <vt:lpstr>Set up mechanical properties of the simulation system</vt:lpstr>
      <vt:lpstr>Add a VIPER rover into the system (Lines 343 to 352)</vt:lpstr>
      <vt:lpstr>Create a VIPER-observing camera (Lines 354 to 369)</vt:lpstr>
      <vt:lpstr>Create a VIPER-observing camera (Lines 370 to 388)</vt:lpstr>
      <vt:lpstr>Create a front-end camera installed on the VIPER (Lines 390 to 413)</vt:lpstr>
      <vt:lpstr>Simulate VIPER dynamics in the simulation loop (Lines 462 to 471) </vt:lpstr>
      <vt:lpstr>Show Time</vt:lpstr>
      <vt:lpstr>Case Study 1: Physics-based Camera Simulator</vt:lpstr>
      <vt:lpstr>Case Study 2: VIPER Simulations in the POLAR-Sim Virtual-World</vt:lpstr>
      <vt:lpstr>Any questions?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sensor_camera</dc:title>
  <dc:creator>Bo-Hsun Chen</dc:creator>
  <cp:lastModifiedBy>Bo-Hsun Chen</cp:lastModifiedBy>
  <cp:revision>747</cp:revision>
  <dcterms:created xsi:type="dcterms:W3CDTF">2020-09-17T18:11:00Z</dcterms:created>
  <dcterms:modified xsi:type="dcterms:W3CDTF">2025-09-09T19:11:52Z</dcterms:modified>
</cp:coreProperties>
</file>