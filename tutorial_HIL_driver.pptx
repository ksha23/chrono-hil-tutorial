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Kyle Sha</a:t>
            </a:r>
          </a:p>
          <a:p>
            <a:r>
              <a:t>Simulation-Based Engineering Lab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counts as human-in-the-loop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definition this tutorial works to, and the three things it demands of a simulator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definition this tutorial works 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900"/>
              </a:spcAft>
            </a:pPr>
            <a:r>
              <a:rPr sz="2000"/>
              <a:t>A simulation is human-in-the-loop when all three of these hold:</a:t>
            </a:r>
          </a:p>
          <a:p>
            <a:pPr lvl="1">
              <a:spcAft>
                <a:spcPts val="900"/>
              </a:spcAft>
            </a:pPr>
            <a:r>
              <a:rPr sz="1800"/>
              <a:t>1.  a person's action changes the state of a RUNNING simulation,</a:t>
            </a:r>
          </a:p>
          <a:p>
            <a:pPr lvl="1">
              <a:spcAft>
                <a:spcPts val="900"/>
              </a:spcAft>
            </a:pPr>
            <a:r>
              <a:rPr sz="1800"/>
              <a:t>2.  the simulation's response changes what that person does next, and</a:t>
            </a:r>
          </a:p>
          <a:p>
            <a:pPr lvl="1">
              <a:spcAft>
                <a:spcPts val="900"/>
              </a:spcAft>
            </a:pPr>
            <a:r>
              <a:rPr sz="1800"/>
              <a:t>3.  the cycle closes fast enough that they can keep reacting.</a:t>
            </a:r>
          </a:p>
          <a:p>
            <a:pPr>
              <a:spcAft>
                <a:spcPts val="900"/>
              </a:spcAft>
            </a:pPr>
            <a:r>
              <a:rPr sz="2000"/>
              <a:t>Each clause is load-bearing:</a:t>
            </a:r>
          </a:p>
          <a:p>
            <a:pPr lvl="1">
              <a:spcAft>
                <a:spcPts val="900"/>
              </a:spcAft>
            </a:pPr>
            <a:r>
              <a:rPr sz="1800"/>
              <a:t>drop 1 and you have a visualisation  -  you are watching, not acting</a:t>
            </a:r>
          </a:p>
          <a:p>
            <a:pPr lvl="1">
              <a:spcAft>
                <a:spcPts val="900"/>
              </a:spcAft>
            </a:pPr>
            <a:r>
              <a:rPr sz="1800"/>
              <a:t>drop 2 and the person is driving blind  -  open loop, not a loop</a:t>
            </a:r>
          </a:p>
          <a:p>
            <a:pPr lvl="1">
              <a:spcAft>
                <a:spcPts val="900"/>
              </a:spcAft>
            </a:pPr>
            <a:r>
              <a:rPr sz="1800"/>
              <a:t>drop 3 and you have a batch job with a joystick attached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32120"/>
            <a:ext cx="113934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Nothing in that definition mentions vehicles. That is the whole point of the tutorial: a car, a crane, a gearbox and a quadruped's leg all satisfy it, and they satisfy it the same way.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loop, and the clock around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103120"/>
            <a:ext cx="3017520" cy="118872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Person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sees, decides, acts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90288" y="2103120"/>
            <a:ext cx="3017520" cy="118872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Chrono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DoStepDynamics(step)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31936" y="2103120"/>
            <a:ext cx="3017520" cy="118872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Screen + telemetry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what came back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657600" y="2514600"/>
            <a:ext cx="841248" cy="365760"/>
          </a:xfrm>
          <a:prstGeom prst="rightArrow">
            <a:avLst/>
          </a:prstGeom>
          <a:solidFill>
            <a:srgbClr val="8A9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7699248" y="2514600"/>
            <a:ext cx="841248" cy="365760"/>
          </a:xfrm>
          <a:prstGeom prst="rightArrow">
            <a:avLst/>
          </a:prstGeom>
          <a:solidFill>
            <a:srgbClr val="8A9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600200"/>
            <a:ext cx="15727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steering, a force, a click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33488" y="1600200"/>
            <a:ext cx="15727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position, speed, contact</a:t>
            </a:r>
          </a:p>
        </p:txBody>
      </p:sp>
      <p:sp>
        <p:nvSpPr>
          <p:cNvPr id="10" name="Left Arrow 9"/>
          <p:cNvSpPr/>
          <p:nvPr/>
        </p:nvSpPr>
        <p:spPr>
          <a:xfrm>
            <a:off x="548640" y="3794760"/>
            <a:ext cx="11100816" cy="384048"/>
          </a:xfrm>
          <a:prstGeom prst="leftArrow">
            <a:avLst/>
          </a:prstGeom>
          <a:solidFill>
            <a:srgbClr val="8A9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224528"/>
            <a:ext cx="11100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/>
              <a:t>what they see changes what they do next  -  this arrow is what makes it a LOOP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4983480"/>
            <a:ext cx="6126480" cy="731520"/>
          </a:xfrm>
          <a:prstGeom prst="roundRect">
            <a:avLst/>
          </a:prstGeom>
          <a:solidFill>
            <a:srgbClr val="C5050C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and every lap has to fit inside one wall-clock step</a:t>
            </a:r>
          </a:p>
        </p:txBody>
      </p:sp>
      <p:sp>
        <p:nvSpPr>
          <p:cNvPr id="13" name="NoteBox"/>
          <p:cNvSpPr txBox="1"/>
          <p:nvPr/>
        </p:nvSpPr>
        <p:spPr>
          <a:xfrm>
            <a:off x="402336" y="5870448"/>
            <a:ext cx="113934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Break the first arrow and it is a movie. Break the return arrow and it is a recording session. Break the clock and the person cannot stay in the loop at all, which is why the clock comes first in this tutorial.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Not everything interactive is in the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900"/>
              </a:spcAft>
            </a:pPr>
            <a:r>
              <a:rPr sz="2000"/>
              <a:t>IN the loop  -  a person's input is a term in the dynamics, every step</a:t>
            </a:r>
          </a:p>
          <a:p>
            <a:pPr lvl="1">
              <a:spcAft>
                <a:spcPts val="900"/>
              </a:spcAft>
            </a:pPr>
            <a:r>
              <a:rPr sz="1800"/>
              <a:t>driving the HMMWV; dragging a robot's limb while its controller resists</a:t>
            </a:r>
          </a:p>
          <a:p>
            <a:pPr>
              <a:spcAft>
                <a:spcPts val="900"/>
              </a:spcAft>
            </a:pPr>
            <a:r>
              <a:rPr sz="2000"/>
              <a:t>ON the loop  -  a person configures and triggers, then watches it play out</a:t>
            </a:r>
          </a:p>
          <a:p>
            <a:pPr lvl="1">
              <a:spcAft>
                <a:spcPts val="900"/>
              </a:spcAft>
            </a:pPr>
            <a:r>
              <a:rPr sz="1800"/>
              <a:t>the push rig: you choose where and how hard, the impulse itself is scripted</a:t>
            </a:r>
          </a:p>
          <a:p>
            <a:pPr>
              <a:spcAft>
                <a:spcPts val="900"/>
              </a:spcAft>
            </a:pPr>
            <a:r>
              <a:rPr sz="2000"/>
              <a:t>Neither  -  interactive, but nothing is reacting</a:t>
            </a:r>
          </a:p>
          <a:p>
            <a:pPr lvl="1">
              <a:spcAft>
                <a:spcPts val="900"/>
              </a:spcAft>
            </a:pPr>
            <a:r>
              <a:rPr sz="1800"/>
              <a:t>the top-down placement tool: kinematic, no dynamics, a scene-authoring tool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32120"/>
            <a:ext cx="113934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Worth saying out loud, because 'interactive' and 'in the loop' get used interchangeably and only one of them has a clock in it. All three are useful. Only the first two are what the phrase means.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Requirement 3 comes first: the clock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 decides whether the other two requirements are worth anything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real time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900"/>
              </a:spcAft>
            </a:pPr>
            <a:r>
              <a:rPr sz="2000"/>
              <a:t>Chrono integrates as fast as it can. It has no notion of wall-clock time.</a:t>
            </a:r>
          </a:p>
          <a:p>
            <a:pPr>
              <a:spcAft>
                <a:spcPts val="900"/>
              </a:spcAft>
            </a:pPr>
            <a:r>
              <a:rPr sz="1800">
                <a:latin typeface="Consolas"/>
              </a:rPr>
              <a:t>RTF = wall time / simulated time</a:t>
            </a:r>
          </a:p>
          <a:p>
            <a:pPr lvl="1">
              <a:spcAft>
                <a:spcPts val="900"/>
              </a:spcAft>
            </a:pPr>
            <a:r>
              <a:rPr sz="1600">
                <a:latin typeface="Consolas"/>
              </a:rPr>
              <a:t>RTF &lt; 1</a:t>
            </a:r>
            <a:r>
              <a:rPr sz="1800"/>
              <a:t>  -  faster than real time. You have slack, and can sleep.</a:t>
            </a:r>
          </a:p>
          <a:p>
            <a:pPr lvl="1">
              <a:spcAft>
                <a:spcPts val="900"/>
              </a:spcAft>
            </a:pPr>
            <a:r>
              <a:rPr sz="1600">
                <a:latin typeface="Consolas"/>
              </a:rPr>
              <a:t>RTF = 1</a:t>
            </a:r>
            <a:r>
              <a:rPr sz="1800"/>
              <a:t>  -  exactly real time.</a:t>
            </a:r>
          </a:p>
          <a:p>
            <a:pPr lvl="1">
              <a:spcAft>
                <a:spcPts val="900"/>
              </a:spcAft>
            </a:pPr>
            <a:r>
              <a:rPr sz="1600">
                <a:latin typeface="Consolas"/>
              </a:rPr>
              <a:t>RTF &gt; 1</a:t>
            </a:r>
            <a:r>
              <a:rPr sz="1800"/>
              <a:t>  -  slower than real time. No amount of sleeping fixes this.</a:t>
            </a:r>
          </a:p>
          <a:p>
            <a:pPr>
              <a:spcAft>
                <a:spcPts val="900"/>
              </a:spcAft>
            </a:pPr>
            <a:r>
              <a:rPr sz="2000"/>
              <a:t>So holding the clock is two separate problems:</a:t>
            </a:r>
          </a:p>
          <a:p>
            <a:pPr lvl="1">
              <a:spcAft>
                <a:spcPts val="900"/>
              </a:spcAft>
            </a:pPr>
            <a:r>
              <a:rPr sz="1800"/>
              <a:t>do not run FAST  -  sleep off the slack (easy, one call)</a:t>
            </a:r>
          </a:p>
          <a:p>
            <a:pPr lvl="1">
              <a:spcAft>
                <a:spcPts val="900"/>
              </a:spcAft>
            </a:pPr>
            <a:r>
              <a:rPr sz="1800"/>
              <a:t>do not run SLOW  -  make the step cheap enough to have slack (the real work)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32120"/>
            <a:ext cx="113934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Unpaced, a dragged box in the manipulation demo travelled 88.7 m in one wall-clock second instead of 1.8 m. The physics was right. The experience was useless.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Measure it, then hold it (Lines 780 to 791, 684 to 698, 812 to 816)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207008"/>
            <a:ext cx="12188952" cy="4173727"/>
          </a:xfrm>
          <a:prstGeom prst="rect">
            <a:avLst/>
          </a:prstGeom>
          <a:solidFill>
            <a:srgbClr val="000000"/>
          </a:solidFill>
        </p:spPr>
        <p:txBody>
          <a:bodyPr wrap="none" lIns="320040" tIns="91440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7FAF7F"/>
                </a:solidFill>
                <a:latin typeface="Consolas"/>
              </a:rPr>
              <a:t># Console report: how far is the sim from wall time?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7FAF7F"/>
                </a:solidFill>
                <a:latin typeface="Consolas"/>
              </a:rPr>
              <a:t>    # A ChVehicle measures its own real-time factor per step. The rover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7FAF7F"/>
                </a:solidFill>
                <a:latin typeface="Consolas"/>
              </a:rPr>
              <a:t>    # and the crane do not, so it is measured here over the reporting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7FAF7F"/>
                </a:solidFill>
                <a:latin typeface="Consolas"/>
              </a:rPr>
              <a:t>    # interval instead: same quantity, coarser sampling.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        rtf = vehicle.GetRTF()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        d_wall = wall - last_wall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        d_sim = sim_time - last_sim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        rtf = (d_wall / d_sim) if d_sim &gt; 0 else 0.0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7FAF7F"/>
                </a:solidFill>
                <a:latin typeface="Consolas"/>
              </a:rPr>
              <a:t># Real-time setup (PART 1)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7FAF7F"/>
                </a:solidFill>
                <a:latin typeface="Consolas"/>
              </a:rPr>
              <a:t># -----------------------------------------------------------------------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realtime_mode = REALTIME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        vehicle.EnableRealtime(True)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7FAF7F"/>
                </a:solidFill>
                <a:latin typeface="Consolas"/>
              </a:rPr>
              <a:t>        # There is no vehicle to do the spinning, so fall back to the timer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7FAF7F"/>
                </a:solidFill>
                <a:latin typeface="Consolas"/>
              </a:rPr>
              <a:t>        # that does the same thing from outside. Same soft real time, same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7FAF7F"/>
                </a:solidFill>
                <a:latin typeface="Consolas"/>
              </a:rPr>
              <a:t>        # per-step measurement, no drift recovery either way.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        print('[realtime] REALTIME = "vehicle" needs a Chrono::Vehicle; '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              'using "per_step", which is the same policy.')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        realtime_mode = "per_step"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7FAF7F"/>
                </a:solidFill>
                <a:latin typeface="Consolas"/>
              </a:rPr>
              <a:t># PART 1: spin in place for real time to catch up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if realtime_mode == "per_step":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    rt_timer.Spin(step_size)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elif realtime_mode == "cumulative":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CCCCCC"/>
                </a:solidFill>
                <a:latin typeface="Consolas"/>
              </a:rPr>
              <a:t>    cum_timer.spin(system.GetChTime())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490464"/>
            <a:ext cx="1139342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latin typeface="Consolas"/>
              </a:rPr>
              <a:t>ChRealtimeStepTimer.Spin(step)</a:t>
            </a:r>
            <a:r>
              <a:rPr sz="1600"/>
              <a:t> sleeps off whatever is left of the step. </a:t>
            </a:r>
            <a:r>
              <a:rPr sz="1400">
                <a:latin typeface="Consolas"/>
              </a:rPr>
              <a:t>vehicle.EnableRealtime(True)</a:t>
            </a:r>
            <a:r>
              <a:rPr sz="1600"/>
              <a:t> does the same thing from inside </a:t>
            </a:r>
            <a:r>
              <a:rPr sz="1400">
                <a:latin typeface="Consolas"/>
              </a:rPr>
              <a:t>Advance()</a:t>
            </a:r>
            <a:r>
              <a:rPr sz="1600"/>
              <a:t>.</a:t>
            </a:r>
          </a:p>
          <a:p>
            <a:pPr>
              <a:spcAft>
                <a:spcPts val="400"/>
              </a:spcAft>
            </a:pPr>
            <a:r>
              <a:rPr sz="1600"/>
              <a:t>Per-step timers never recover time lost on a slow step, so a cumulative timer is offered too: it paces against total elapsed time and can catch up.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1800">
                <a:latin typeface="Consolas"/>
              </a:rPr>
              <a:t>REALTIME = "none"</a:t>
            </a:r>
            <a:r>
              <a:rPr sz="2000"/>
              <a:t>: watch the drift column run away</a:t>
            </a:r>
          </a:p>
          <a:p>
            <a:pPr>
              <a:spcAft>
                <a:spcPts val="1000"/>
              </a:spcAft>
            </a:pPr>
            <a:r>
              <a:rPr sz="1800">
                <a:latin typeface="Consolas"/>
              </a:rPr>
              <a:t>REALTIME = "vehicle"</a:t>
            </a:r>
            <a:r>
              <a:rPr sz="2000"/>
              <a:t>: drift pinned near zero, RTF at 1</a:t>
            </a:r>
          </a:p>
          <a:p>
            <a:pPr>
              <a:spcAft>
                <a:spcPts val="1000"/>
              </a:spcAft>
            </a:pPr>
            <a:r>
              <a:rPr sz="2000"/>
              <a:t>Same physics in both runs. The only difference is whether the process sleeps.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32120"/>
            <a:ext cx="113934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The drift column is the honest one. RTF can look fine on average while the sim has already lost a second of wall clock.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You can only sleep if you have slack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900"/>
              </a:spcAft>
            </a:pPr>
            <a:r>
              <a:rPr sz="2000"/>
              <a:t>Everything from here is about the second problem: making a step cheap.</a:t>
            </a:r>
          </a:p>
          <a:p>
            <a:pPr>
              <a:spcAft>
                <a:spcPts val="900"/>
              </a:spcAft>
            </a:pPr>
            <a:r>
              <a:rPr sz="2000"/>
              <a:t>The two that actually moved the number on these demos:</a:t>
            </a:r>
          </a:p>
          <a:p>
            <a:pPr lvl="1">
              <a:spcAft>
                <a:spcPts val="900"/>
              </a:spcAft>
            </a:pPr>
            <a:r>
              <a:rPr sz="1800"/>
              <a:t>contact  -  how much geometry the collision system is asked to resolve</a:t>
            </a:r>
          </a:p>
          <a:p>
            <a:pPr lvl="1">
              <a:spcAft>
                <a:spcPts val="900"/>
              </a:spcAft>
            </a:pPr>
            <a:r>
              <a:rPr sz="1800"/>
              <a:t>the solver  -  how many iterations each step is allowed</a:t>
            </a:r>
          </a:p>
          <a:p>
            <a:pPr>
              <a:spcAft>
                <a:spcPts val="900"/>
              </a:spcAft>
            </a:pPr>
            <a:r>
              <a:rPr sz="2000"/>
              <a:t>They pull against each other. Iterations buy stability and cost time; cheaper geometry buys time and can cost fidelity.</a:t>
            </a:r>
          </a:p>
          <a:p>
            <a:pPr>
              <a:spcAft>
                <a:spcPts val="900"/>
              </a:spcAft>
            </a:pPr>
            <a:r>
              <a:rPr sz="2000"/>
              <a:t>The budget is fixed: one step of wall clock, minus what you want to leave for rendering.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32120"/>
            <a:ext cx="113934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Both numbers on the next two slides came out of the same robot, a Unitree Go2 loaded from URDF, on a laptop.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Where the time goes: contact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900"/>
              </a:spcAft>
            </a:pPr>
            <a:r>
              <a:rPr sz="2000"/>
              <a:t>Triangle meshes straight from the URDF: </a:t>
            </a:r>
            <a:r>
              <a:rPr sz="1800">
                <a:latin typeface="Consolas"/>
              </a:rPr>
              <a:t>427 contacts</a:t>
            </a:r>
            <a:r>
              <a:rPr sz="2000"/>
              <a:t> standing still, </a:t>
            </a:r>
            <a:r>
              <a:rPr sz="1800">
                <a:latin typeface="Consolas"/>
              </a:rPr>
              <a:t>RTF 1.34</a:t>
            </a:r>
            <a:r>
              <a:rPr sz="2000"/>
              <a:t>  -  slower than real time, before any human touches it</a:t>
            </a:r>
          </a:p>
          <a:p>
            <a:pPr>
              <a:spcAft>
                <a:spcPts val="900"/>
              </a:spcAft>
            </a:pPr>
            <a:r>
              <a:rPr sz="2000"/>
              <a:t>The robot was resolving its own thighs against its own shins, every step.</a:t>
            </a:r>
          </a:p>
          <a:p>
            <a:pPr>
              <a:spcAft>
                <a:spcPts val="900"/>
              </a:spcAft>
            </a:pPr>
            <a:r>
              <a:rPr sz="2000"/>
              <a:t>Convex hulls, plus the base link in its own collision family: </a:t>
            </a:r>
            <a:r>
              <a:rPr sz="1800">
                <a:latin typeface="Consolas"/>
              </a:rPr>
              <a:t>6 contacts</a:t>
            </a:r>
            <a:r>
              <a:rPr sz="2000"/>
              <a:t>, </a:t>
            </a:r>
            <a:r>
              <a:rPr sz="1800">
                <a:latin typeface="Consolas"/>
              </a:rPr>
              <a:t>RTF 0.09</a:t>
            </a:r>
          </a:p>
          <a:p>
            <a:pPr>
              <a:spcAft>
                <a:spcPts val="900"/>
              </a:spcAft>
            </a:pPr>
            <a:r>
              <a:rPr sz="2000"/>
              <a:t>Same robot, same controller, same step size. Roughly 15x the slack.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32120"/>
            <a:ext cx="113934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A URDF collision mesh is authored for a planner that asks 'do these overlap'. A real-time dynamics loop asks it every step, for every pair. Those are different jobs and the file does not know which one you are doing.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Where the time goes: the solver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900"/>
              </a:spcAft>
            </a:pPr>
            <a:r>
              <a:rPr sz="1800">
                <a:latin typeface="Consolas"/>
              </a:rPr>
              <a:t>PSOR, 50 iterations</a:t>
            </a:r>
            <a:r>
              <a:rPr sz="2000"/>
              <a:t>: the robot slid across the floor as if friction were switched off.</a:t>
            </a:r>
          </a:p>
          <a:p>
            <a:pPr>
              <a:spcAft>
                <a:spcPts val="900"/>
              </a:spcAft>
            </a:pPr>
            <a:r>
              <a:rPr sz="2000"/>
              <a:t>It was not a friction bug. Friction was under-resolved: the solver ran out of iterations before the tangential constraints converged.</a:t>
            </a:r>
          </a:p>
          <a:p>
            <a:pPr>
              <a:spcAft>
                <a:spcPts val="900"/>
              </a:spcAft>
            </a:pPr>
            <a:r>
              <a:rPr sz="1800">
                <a:latin typeface="Consolas"/>
              </a:rPr>
              <a:t>BARZILAIBORWEIN, 200 iterations</a:t>
            </a:r>
            <a:r>
              <a:rPr sz="2000"/>
              <a:t>: creep fell to </a:t>
            </a:r>
            <a:r>
              <a:rPr sz="1800">
                <a:latin typeface="Consolas"/>
              </a:rPr>
              <a:t>0.3 mm/s</a:t>
            </a:r>
            <a:r>
              <a:rPr sz="2000"/>
              <a:t>.</a:t>
            </a:r>
          </a:p>
          <a:p>
            <a:pPr>
              <a:spcAft>
                <a:spcPts val="900"/>
              </a:spcAft>
            </a:pPr>
            <a:r>
              <a:rPr sz="2000"/>
              <a:t>Iterations are the price of stability, and you pay for them out of the same wall-clock step you wanted to sleep in.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32120"/>
            <a:ext cx="113934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This one is worth knowing because it does not look like a performance problem. It looks like wrong physics, and it sends you hunting through friction coefficients.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Requirement 1: a path into the state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a person's action actually reaches the equations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Three ways a person's input enters a Chrono simulation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74519"/>
            <a:ext cx="3566160" cy="155448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As driver inputs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ChDriver / ChInteractiveDriver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steering, throttle, braking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15968" y="1874519"/>
            <a:ext cx="3566160" cy="155448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As a force or constraint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AccumulateForce, ChLinkTSDA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on any body, any scene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74736" y="1874519"/>
            <a:ext cx="3566160" cy="155448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As a pose you set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SetPos / SetRot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kinematic placement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661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/>
              <a:t>the vehicle demos  (Parts 2-4)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5968" y="35661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/>
              <a:t>the drag and push demos  (Parts 9-10)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74736" y="35661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/>
              <a:t>the placement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6908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C5050C"/>
                </a:solidFill>
              </a:rPr>
              <a:t>IN the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406908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C5050C"/>
                </a:solidFill>
              </a:rPr>
              <a:t>IN the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4736" y="406908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/>
              <a:t>not in the loop</a:t>
            </a:r>
          </a:p>
        </p:txBody>
      </p:sp>
      <p:sp>
        <p:nvSpPr>
          <p:cNvPr id="12" name="NoteBox"/>
          <p:cNvSpPr txBox="1"/>
          <p:nvPr/>
        </p:nvSpPr>
        <p:spPr>
          <a:xfrm>
            <a:off x="402336" y="4709160"/>
            <a:ext cx="1139342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The middle column is the general one. A vehicle has a driver class because somebody wrote one; every other plant in this tutorial takes its human input as a force, which is why the same pattern reaches a crane, a gearbox and a quadruped.</a:t>
            </a:r>
          </a:p>
          <a:p>
            <a:pPr>
              <a:spcAft>
                <a:spcPts val="400"/>
              </a:spcAft>
            </a:pPr>
            <a:r>
              <a:rPr sz="1600"/>
              <a:t>The right-hand column is honest about itself: nothing reacts to a pose you set, so nothing closes the loop.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14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keyboard, and what a keypress means (Lines 558 to 585)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207008"/>
            <a:ext cx="12188952" cy="4183887"/>
          </a:xfrm>
          <a:prstGeom prst="rect">
            <a:avLst/>
          </a:prstGeom>
          <a:solidFill>
            <a:srgbClr val="000000"/>
          </a:solidFill>
        </p:spPr>
        <p:txBody>
          <a:bodyPr wrap="none" lIns="320040" tIns="91440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### PART 2: keyboard through the Irrlicht window ###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W/A/S/D drive, 'C' centers steering, 'R' releases the pedals, 'L' locks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the current inputs.  The ARROW keys are not driving controls: they belong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to the chase camera (zoom and orbit), which is a separate Irrlicht event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receiver.  Easy to get wrong, because every other part of this tutorial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drives with the arrow keys - but those are OUR pygame console, not Chrono.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KEYBOARD_MODE picks what a keypress MEANS.  This is the same question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PART 4 answers for its own device, so it is worth seeing both answers: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  "cumulative"  each keypress nudges a target by a fixed delta, and the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                target stays where you left it.  Historical Chrono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                behaviour, and what the deltas below configure.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  "held"        the input follows the keys currently held down and ramps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                back when you let go, as in a driving game.  This is the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                same "levels, re-sent continuously" model that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                operator_console.py uses over UDP in PART 4, and SetGains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                above is the ramp rate.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"held" needs the KeyboardMode API (PyChrono build 1187 / Aug 2026 and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later).  On an older PyChrono, say so and carry on cumulatively rather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than dying with an AttributeError.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if KEYBOARD_MODE == "held":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if hasattr(veh.ChInteractiveDriver, "KeyboardMode_HELD"):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    driver.SetKeyboardMode(veh.ChInteractiveDriver.KeyboardMode_HELD)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00624"/>
            <a:ext cx="1139342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latin typeface="Consolas"/>
              </a:rPr>
              <a:t>CUMULATIVE</a:t>
            </a:r>
            <a:r>
              <a:rPr sz="1600"/>
              <a:t> (the old default): a keypress NUDGES the input, and it stays where you left it. Fine for a test script, strange under a hand.</a:t>
            </a:r>
          </a:p>
          <a:p>
            <a:pPr>
              <a:spcAft>
                <a:spcPts val="400"/>
              </a:spcAft>
            </a:pPr>
            <a:r>
              <a:rPr sz="1400">
                <a:latin typeface="Consolas"/>
              </a:rPr>
              <a:t>HELD</a:t>
            </a:r>
            <a:r>
              <a:rPr sz="1600"/>
              <a:t>: the input follows the keys currently down, like a driving game. That mode was added to Chrono for this tutorial and ships in PyChrono 10.0.0 build 1187.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1800">
                <a:latin typeface="Consolas"/>
              </a:rPr>
              <a:t>INPUT_SOURCE = "keyboard"</a:t>
            </a:r>
            <a:r>
              <a:rPr sz="2000"/>
              <a:t>, </a:t>
            </a:r>
            <a:r>
              <a:rPr sz="1800">
                <a:latin typeface="Consolas"/>
              </a:rPr>
              <a:t>KEYBOARD_MODE = "held"</a:t>
            </a:r>
          </a:p>
          <a:p>
            <a:pPr>
              <a:spcAft>
                <a:spcPts val="1000"/>
              </a:spcAft>
            </a:pPr>
            <a:r>
              <a:rPr sz="2000"/>
              <a:t>W/A/S/D drive. The arrow keys are the chase camera, not the car.</a:t>
            </a:r>
          </a:p>
          <a:p>
            <a:pPr>
              <a:spcAft>
                <a:spcPts val="1000"/>
              </a:spcAft>
            </a:pPr>
            <a:r>
              <a:rPr sz="2000"/>
              <a:t>Try </a:t>
            </a:r>
            <a:r>
              <a:rPr sz="1800">
                <a:latin typeface="Consolas"/>
              </a:rPr>
              <a:t>"cumulative"</a:t>
            </a:r>
            <a:r>
              <a:rPr sz="2000"/>
              <a:t> and feel the difference a key-state API makes.</a:t>
            </a:r>
          </a:p>
        </p:txBody>
      </p:sp>
      <p:pic>
        <p:nvPicPr>
          <p:cNvPr id="4" name="Picture 3" descr="hmmw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9714" y="2880360"/>
            <a:ext cx="3049524" cy="2331720"/>
          </a:xfrm>
          <a:prstGeom prst="rect">
            <a:avLst/>
          </a:prstGeom>
        </p:spPr>
      </p:pic>
      <p:sp>
        <p:nvSpPr>
          <p:cNvPr id="5" name="NoteBox"/>
          <p:cNvSpPr txBox="1"/>
          <p:nvPr/>
        </p:nvSpPr>
        <p:spPr>
          <a:xfrm>
            <a:off x="402336" y="5532120"/>
            <a:ext cx="113934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This is the whole definition satisfied in one window: input reaches the state, the state comes back on screen, and the timer holds the pace.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7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 device Chrono does not know about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0408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9632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38928" y="2697480"/>
            <a:ext cx="1920240" cy="347472"/>
          </a:xfrm>
          <a:prstGeom prst="rightArrow">
            <a:avLst/>
          </a:prstGeom>
          <a:solidFill>
            <a:srgbClr val="8A9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01768" y="21945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steering, throttle, braking, gear</a:t>
            </a:r>
          </a:p>
        </p:txBody>
      </p:sp>
      <p:sp>
        <p:nvSpPr>
          <p:cNvPr id="7" name="Left Arrow 6"/>
          <p:cNvSpPr/>
          <p:nvPr/>
        </p:nvSpPr>
        <p:spPr>
          <a:xfrm>
            <a:off x="5138928" y="3566160"/>
            <a:ext cx="1920240" cy="347472"/>
          </a:xfrm>
          <a:prstGeom prst="leftArrow">
            <a:avLst/>
          </a:prstGeom>
          <a:solidFill>
            <a:srgbClr val="8A9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1768" y="3931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speed, RTF, lateral accel, gear</a:t>
            </a:r>
          </a:p>
        </p:txBody>
      </p:sp>
      <p:sp>
        <p:nvSpPr>
          <p:cNvPr id="9" name="NoteBox"/>
          <p:cNvSpPr txBox="1"/>
          <p:nvPr/>
        </p:nvSpPr>
        <p:spPr>
          <a:xfrm>
            <a:off x="402336" y="4846320"/>
            <a:ext cx="1139342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Plain UDP datagrams, two processes, optionally two machines. Chrono never learns what is on the other end: a console, a phone, a motion platform, a wheel rig, another simulator.</a:t>
            </a:r>
          </a:p>
          <a:p>
            <a:pPr>
              <a:spcAft>
                <a:spcPts val="400"/>
              </a:spcAft>
            </a:pPr>
            <a:r>
              <a:rPr sz="1600"/>
              <a:t>The return arrow is the part people skip, and it is the one that makes the operator's device part of the loop instead of a remote control.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11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Reading a device Chrono does not know about (Lines 242 to 264)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207008"/>
            <a:ext cx="12188952" cy="3472688"/>
          </a:xfrm>
          <a:prstGeom prst="rect">
            <a:avLst/>
          </a:prstGeom>
          <a:solidFill>
            <a:srgbClr val="000000"/>
          </a:solidFill>
        </p:spPr>
        <p:txBody>
          <a:bodyPr wrap="none" lIns="320040" tIns="91440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"""Receive 'steering,throttle,braking[,gear]' text datagrams from an operator.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Run operator_console.py in another terminal (or on another machine) and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drive with the arrow keys there.  The socket is non-blocking: the physics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loop never waits for the operator.  If no packet arrived since the last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step, the previous target is held (zero-order hold).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PART 6 added the optional fourth field.  It is a single character naming 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gear command (see hil_gearbox.Gearbox.COMMANDS) or '-' for "no command this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packet", and unlike the three numbers it is an EVENT rather than a level: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the operator presses ']' once and means one upshift, not "keep upshifting".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take_gear_commands() below is what enforces that, by handing each command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out exactly once.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Keeping the field optional is what stops the change from breaking an older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console: a three-field packet still parses.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789424"/>
            <a:ext cx="1139342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Non-blocking is the whole trick: the simulation must never wait on a human. A late datagram means 'hold the last input', not 'stall the loop'.</a:t>
            </a:r>
          </a:p>
          <a:p>
            <a:pPr>
              <a:spcAft>
                <a:spcPts val="400"/>
              </a:spcAft>
            </a:pPr>
            <a:r>
              <a:rPr sz="1600"/>
              <a:t>Sample ONCE per step and hold it, or one physics step sees a different input than the next one for no reason the operator can perceive.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/>
              <a:t>Two terminals on one laptop over localhost, or two machines over a LAN</a:t>
            </a:r>
          </a:p>
          <a:p>
            <a:pPr>
              <a:spcAft>
                <a:spcPts val="1000"/>
              </a:spcAft>
            </a:pPr>
            <a:r>
              <a:rPr sz="2000"/>
              <a:t>The console shows telemetry coming back while you drive</a:t>
            </a:r>
          </a:p>
        </p:txBody>
      </p:sp>
      <p:pic>
        <p:nvPicPr>
          <p:cNvPr id="4" name="Picture 3" descr="showtime_ud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821" y="2880360"/>
            <a:ext cx="3567308" cy="2331720"/>
          </a:xfrm>
          <a:prstGeom prst="rect">
            <a:avLst/>
          </a:prstGeom>
        </p:spPr>
      </p:pic>
      <p:sp>
        <p:nvSpPr>
          <p:cNvPr id="5" name="NoteBox"/>
          <p:cNvSpPr txBox="1"/>
          <p:nvPr/>
        </p:nvSpPr>
        <p:spPr>
          <a:xfrm>
            <a:off x="402336" y="5532120"/>
            <a:ext cx="113934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If the console's numbers stop moving, the loop is open and the operator is guessing. That is the failure this arrow exists to prevent.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7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Reaching into the scene with a mouse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Chrono provides today, the one line it is missing, and what that buys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Chrono gives you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900"/>
              </a:spcAft>
            </a:pPr>
            <a:r>
              <a:rPr sz="1800">
                <a:latin typeface="Consolas"/>
              </a:rPr>
              <a:t>ChRealtimeStepTimer</a:t>
            </a:r>
            <a:r>
              <a:rPr sz="2000"/>
              <a:t>  -  the pacing, exposed to Python</a:t>
            </a:r>
          </a:p>
          <a:p>
            <a:pPr>
              <a:spcAft>
                <a:spcPts val="900"/>
              </a:spcAft>
            </a:pPr>
            <a:r>
              <a:rPr sz="1800">
                <a:latin typeface="Consolas"/>
              </a:rPr>
              <a:t>ChInteractiveDriver</a:t>
            </a:r>
            <a:r>
              <a:rPr sz="2000"/>
              <a:t>  -  keyboard and joystick input, with </a:t>
            </a:r>
            <a:r>
              <a:rPr sz="1800">
                <a:latin typeface="Consolas"/>
              </a:rPr>
              <a:t>KeyboardMode::HELD</a:t>
            </a:r>
          </a:p>
          <a:p>
            <a:pPr>
              <a:spcAft>
                <a:spcPts val="900"/>
              </a:spcAft>
            </a:pPr>
            <a:r>
              <a:rPr sz="1800">
                <a:latin typeface="Consolas"/>
              </a:rPr>
              <a:t>ChCollisionSystem::RayHit</a:t>
            </a:r>
            <a:r>
              <a:rPr sz="2000"/>
              <a:t>  -  click-to-pick, exposed to Python</a:t>
            </a:r>
          </a:p>
          <a:p>
            <a:pPr>
              <a:spcAft>
                <a:spcPts val="900"/>
              </a:spcAft>
            </a:pPr>
            <a:r>
              <a:rPr sz="1800">
                <a:latin typeface="Consolas"/>
              </a:rPr>
              <a:t>AccumulateForce</a:t>
            </a:r>
            <a:r>
              <a:rPr sz="2000"/>
              <a:t>, </a:t>
            </a:r>
            <a:r>
              <a:rPr sz="1800">
                <a:latin typeface="Consolas"/>
              </a:rPr>
              <a:t>ChLinkTSDA</a:t>
            </a:r>
            <a:r>
              <a:rPr sz="2000"/>
              <a:t>  -  a human's pull as a term in the dynamics</a:t>
            </a:r>
          </a:p>
          <a:p>
            <a:pPr>
              <a:spcAft>
                <a:spcPts val="900"/>
              </a:spcAft>
            </a:pPr>
            <a:r>
              <a:rPr sz="1800">
                <a:latin typeface="Consolas"/>
              </a:rPr>
              <a:t>ChVisualSystemIrrlicht::AddUserEventReceiver(IEventReceiver*)</a:t>
            </a:r>
            <a:r>
              <a:rPr sz="2000"/>
              <a:t>  -  the socket for any input device, and it IS bound in Python</a:t>
            </a:r>
          </a:p>
          <a:p>
            <a:pPr>
              <a:spcAft>
                <a:spcPts val="900"/>
              </a:spcAft>
            </a:pPr>
            <a:r>
              <a:rPr sz="2000"/>
              <a:t>What is NOT there: any built-in mouse pick-and-drag. No module in the tree implements one.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32120"/>
            <a:ext cx="113934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That last line is the gap this tutorial walks into. Everything needed to build one is already exposed; what is missing is the ability to receive the mouse event in the first place.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gap, and the one line that closes it (native_pick.py lines 10 to 26)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207008"/>
            <a:ext cx="12188952" cy="4326127"/>
          </a:xfrm>
          <a:prstGeom prst="rect">
            <a:avLst/>
          </a:prstGeom>
          <a:solidFill>
            <a:srgbClr val="000000"/>
          </a:solidFill>
        </p:spPr>
        <p:txBody>
          <a:bodyPr wrap="none" lIns="320040" tIns="91440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# chrono_swig/interface/irrlicht/ChModuleIrrlicht.i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+%feature("director") irr::IEventReceiver;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%include "IEventReceiver.h"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# The module ALREADY compiles with directors enabled: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#     %module(directors="1", threads="1") irrlicht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# and AddUserEventReceiver is ALREADY bound. Without the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# director, though, Python gets an abstract class: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#     &gt;&gt;&gt; ci.IEventReceiver()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#     AttributeError: No constructor defined - class is abstract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# so there is a socket, and nothing you can plug into it.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class MouseReceiver(irr.IEventReceiver):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"""No Quartz, no CGWindowList, no NSEvent. No macOS. Just Irrlicht."""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super().__init__()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self.x = self.y = 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self.down = False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self.pressed = False          # edge, consumed by the loop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self.keys = set()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def OnEvent(self, ev):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if ev.EventType == irr.EET_MOUSE_INPUT_EVENT: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    self.x, self.y = ev.MouseInput.X, ev.MouseInput.Y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    if ev.MouseInput.Event == irr.EMIE_LMOUSE_PRESSED_DOWN: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        self.down = self.pressed = True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    elif ev.MouseInput.Event == irr.EMIE_LMOUSE_LEFT_UP: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        self.down = False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642863"/>
            <a:ext cx="1139342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Without it, reading the mouse means going around Chrono to the operating system: </a:t>
            </a:r>
            <a:r>
              <a:rPr sz="1400">
                <a:latin typeface="Consolas"/>
              </a:rPr>
              <a:t>135 lines</a:t>
            </a:r>
            <a:r>
              <a:rPr sz="1600"/>
              <a:t>, macOS only, and it breaks when another window takes focus.</a:t>
            </a:r>
          </a:p>
          <a:p>
            <a:pPr>
              <a:spcAft>
                <a:spcPts val="400"/>
              </a:spcAft>
            </a:pPr>
            <a:r>
              <a:rPr sz="1600"/>
              <a:t>With it, the same capability is </a:t>
            </a:r>
            <a:r>
              <a:rPr sz="1400">
                <a:latin typeface="Consolas"/>
              </a:rPr>
              <a:t>56 lines</a:t>
            </a:r>
            <a:r>
              <a:rPr sz="1600"/>
              <a:t> of ordinary PyChrono. Upstream PR to follow this talk.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Picking a body, then pulling on it (Lines 338 to 349, 488 to 502)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207008"/>
            <a:ext cx="12188952" cy="4183887"/>
          </a:xfrm>
          <a:prstGeom prst="rect">
            <a:avLst/>
          </a:prstGeom>
          <a:solidFill>
            <a:srgbClr val="000000"/>
          </a:solidFill>
        </p:spPr>
        <p:txBody>
          <a:bodyPr wrap="none" lIns="320040" tIns="91440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def pick_along_ray(system, start, end):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"""The primitive a mouse click would use. Returns (body, world_point) or None."""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res = chrono.ChRayhitResult()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system.GetCollisionSystem().RayHit(start, end, res)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if not res.hit: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return None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body = chrono.CastToChBody(res.hitModel.GetContactable())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if body is None: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return None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p, nrm = res.abs_hitPoint, res.abs_hitNormal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return (body, chrono.ChVector3d(p.x, p.y, p.z),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    chrono.ChVector3d(nrm.x, nrm.y, nrm.z))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omega = getattr(self.system, "grab_omega", GRAB_OMEGA)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m = max(body.GetMass(), 1e-3)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k = m * omega * omega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c = 2.0 * m * omega * GRAB_ZETA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# Belt and braces against tunnelling: a grabbed body may not move faster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# than contact detection can keep up with at this step size.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self._had_limit = body.GetLimitSpeed() if hasattr(body, "GetLimitSpeed") else False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body.SetLimitSpeed(True)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body.SetMaxLinVel(GRAB_MAX_SPEED)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self.spring = chrono.ChLinkTSDA()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self.spring.Initialize(self.handle, body, False, point, point)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self.spring.SetRestLength(0.0)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self.spring.SetSpringCoefficient(k)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self.spring.SetDampingCoefficient(c)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self.system.AddLink(self.spring)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00624"/>
            <a:ext cx="1139342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latin typeface="Consolas"/>
              </a:rPr>
              <a:t>RayHit</a:t>
            </a:r>
            <a:r>
              <a:rPr sz="1600"/>
              <a:t> is the pick. It is already in PyChrono and it is exact: the same primitive a native mouse handler would call.</a:t>
            </a:r>
          </a:p>
          <a:p>
            <a:pPr>
              <a:spcAft>
                <a:spcPts val="400"/>
              </a:spcAft>
            </a:pPr>
            <a:r>
              <a:rPr sz="1600"/>
              <a:t>The spring is the part that has to be got right. Gains must scale with the mass being pulled: a stiffness tuned on a Go2 calf gave a Panda link </a:t>
            </a:r>
            <a:r>
              <a:rPr sz="1400">
                <a:latin typeface="Consolas"/>
              </a:rPr>
              <a:t>21,870 N/m</a:t>
            </a:r>
            <a:r>
              <a:rPr sz="1600"/>
              <a:t>, which is </a:t>
            </a:r>
            <a:r>
              <a:rPr sz="1400">
                <a:latin typeface="Consolas"/>
              </a:rPr>
              <a:t>24,300 m/s^2</a:t>
            </a:r>
            <a:r>
              <a:rPr sz="1600"/>
              <a:t> and straight through the floor in one step.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/>
              <a:t>Drag a leg while the stance controller fights back</a:t>
            </a:r>
          </a:p>
          <a:p>
            <a:pPr>
              <a:spcAft>
                <a:spcPts val="1000"/>
              </a:spcAft>
            </a:pPr>
            <a:r>
              <a:rPr sz="2000"/>
              <a:t>Drag a Franka link, hand-guided or fully unactuated</a:t>
            </a:r>
          </a:p>
          <a:p>
            <a:pPr>
              <a:spcAft>
                <a:spcPts val="1000"/>
              </a:spcAft>
            </a:pPr>
            <a:r>
              <a:rPr sz="2000"/>
              <a:t>Yanking a link into the floor: </a:t>
            </a:r>
            <a:r>
              <a:rPr sz="1800">
                <a:latin typeface="Consolas"/>
              </a:rPr>
              <a:t>35.14 m/s</a:t>
            </a:r>
            <a:r>
              <a:rPr sz="2000"/>
              <a:t> before the gains were bounded, </a:t>
            </a:r>
            <a:r>
              <a:rPr sz="1800">
                <a:latin typeface="Consolas"/>
              </a:rPr>
              <a:t>3.25 m/s</a:t>
            </a:r>
            <a:r>
              <a:rPr sz="2000"/>
              <a:t> after</a:t>
            </a:r>
          </a:p>
        </p:txBody>
      </p:sp>
      <p:pic>
        <p:nvPicPr>
          <p:cNvPr id="4" name="Picture 3" descr="demo_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208" y="2880360"/>
            <a:ext cx="3011805" cy="2331720"/>
          </a:xfrm>
          <a:prstGeom prst="rect">
            <a:avLst/>
          </a:prstGeom>
        </p:spPr>
      </p:pic>
      <p:pic>
        <p:nvPicPr>
          <p:cNvPr id="5" name="Picture 4" descr="demo_a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6333" y="2880360"/>
            <a:ext cx="2382409" cy="2331720"/>
          </a:xfrm>
          <a:prstGeom prst="rect">
            <a:avLst/>
          </a:prstGeom>
        </p:spPr>
      </p:pic>
      <p:sp>
        <p:nvSpPr>
          <p:cNvPr id="6" name="NoteBox"/>
          <p:cNvSpPr txBox="1"/>
          <p:nvPr/>
        </p:nvSpPr>
        <p:spPr>
          <a:xfrm>
            <a:off x="402336" y="5532120"/>
            <a:ext cx="113934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This is the clearest case of the definition on the whole deck: you pull, the controller resists, you feel it resist, and you pull differently.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8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Taking the human out of the part that must repeat (Lines 264 to 283)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207008"/>
            <a:ext cx="12188952" cy="3045968"/>
          </a:xfrm>
          <a:prstGeom prst="rect">
            <a:avLst/>
          </a:prstGeom>
          <a:solidFill>
            <a:srgbClr val="000000"/>
          </a:solidFill>
        </p:spPr>
        <p:txBody>
          <a:bodyPr wrap="none" lIns="320040" tIns="91440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def fire(self, cfg, t):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body = cfg.body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self.active = (body, cfg.force(), chrono.ChVector3d(cfg.local_point),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           t + cfg.duration)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self.fired_at = 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return self._slot(body)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def update(self, t):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"""Call every step, BEFORE DoStepDynamics. Returns True while pushing."""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if self.active is None: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return False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body, force, local, t_end = self.active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idx = self._slot(body)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body.EmptyAccumulator(idx)            # Chrono never clears these for you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if t &gt;= t_end: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self.active = None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    return False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The point travels with the link: a shove on the shoulder stays on the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AF7F"/>
                </a:solidFill>
                <a:latin typeface="Consolas"/>
              </a:rPr>
              <a:t>    # shoulder even as the shoulder is being shoved away.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CCCCCC"/>
                </a:solidFill>
                <a:latin typeface="Consolas"/>
              </a:rPr>
              <a:t>    body.AccumulateForce(idx, force, body.TransformPointLocalToParent(local),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362704"/>
            <a:ext cx="1139342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A freehand drag cannot answer 'how hard can I shove it', because no two drags are the same. The force depends on how fast your hand moved and how long you held the button.</a:t>
            </a:r>
          </a:p>
          <a:p>
            <a:pPr>
              <a:spcAft>
                <a:spcPts val="400"/>
              </a:spcAft>
            </a:pPr>
            <a:r>
              <a:rPr sz="1600"/>
              <a:t>So the person keeps WHERE and WHICH DIRECTION, and the impulse </a:t>
            </a:r>
            <a:r>
              <a:rPr sz="1400">
                <a:latin typeface="Consolas"/>
              </a:rPr>
              <a:t>J = F * dt</a:t>
            </a:r>
            <a:r>
              <a:rPr sz="1600"/>
              <a:t> is scripted and printed. That is a number you can put in a report and hand to somebody else.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/>
              <a:t>Forward at the base COM: </a:t>
            </a:r>
            <a:r>
              <a:rPr sz="1800">
                <a:latin typeface="Consolas"/>
              </a:rPr>
              <a:t>325 N</a:t>
            </a:r>
            <a:r>
              <a:rPr sz="2000"/>
              <a:t> recovers, </a:t>
            </a:r>
            <a:r>
              <a:rPr sz="1800">
                <a:latin typeface="Consolas"/>
              </a:rPr>
              <a:t>330 N</a:t>
            </a:r>
            <a:r>
              <a:rPr sz="2000"/>
              <a:t> does not</a:t>
            </a:r>
          </a:p>
          <a:p>
            <a:pPr>
              <a:spcAft>
                <a:spcPts val="1000"/>
              </a:spcAft>
            </a:pPr>
            <a:r>
              <a:rPr sz="2000"/>
              <a:t>Sideways: </a:t>
            </a:r>
            <a:r>
              <a:rPr sz="1800">
                <a:latin typeface="Consolas"/>
              </a:rPr>
              <a:t>280 N</a:t>
            </a:r>
            <a:r>
              <a:rPr sz="2000"/>
              <a:t> recovers, </a:t>
            </a:r>
            <a:r>
              <a:rPr sz="1800">
                <a:latin typeface="Consolas"/>
              </a:rPr>
              <a:t>290 N</a:t>
            </a:r>
            <a:r>
              <a:rPr sz="2000"/>
              <a:t> does not</a:t>
            </a:r>
          </a:p>
          <a:p>
            <a:pPr>
              <a:spcAft>
                <a:spcPts val="1000"/>
              </a:spcAft>
            </a:pPr>
            <a:r>
              <a:rPr sz="2000"/>
              <a:t>Same impulse, applied 5 cm higher up the torso: the verdict flips</a:t>
            </a:r>
          </a:p>
        </p:txBody>
      </p:sp>
      <p:pic>
        <p:nvPicPr>
          <p:cNvPr id="4" name="Picture 3" descr="demo_pu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8573" y="2880360"/>
            <a:ext cx="3011805" cy="2331720"/>
          </a:xfrm>
          <a:prstGeom prst="rect">
            <a:avLst/>
          </a:prstGeom>
        </p:spPr>
      </p:pic>
      <p:sp>
        <p:nvSpPr>
          <p:cNvPr id="5" name="NoteBox"/>
          <p:cNvSpPr txBox="1"/>
          <p:nvPr/>
        </p:nvSpPr>
        <p:spPr>
          <a:xfrm>
            <a:off x="402336" y="5532120"/>
            <a:ext cx="113934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That last line is the reason a human is still in this one. Where to push is a judgement call, and it changes the answer as much as how hard you push does.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7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How far this goes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900"/>
              </a:spcAft>
            </a:pPr>
            <a:r>
              <a:rPr sz="1800">
                <a:latin typeface="Consolas"/>
              </a:rPr>
              <a:t>PART 6</a:t>
            </a:r>
            <a:r>
              <a:rPr sz="2000"/>
              <a:t>  -  change gear. A gear is not a fourth float: it belongs to the transmission, and the human sets it through a different API.</a:t>
            </a:r>
          </a:p>
          <a:p>
            <a:pPr>
              <a:spcAft>
                <a:spcPts val="900"/>
              </a:spcAft>
            </a:pPr>
            <a:r>
              <a:rPr sz="1800">
                <a:latin typeface="Consolas"/>
              </a:rPr>
              <a:t>PART 7</a:t>
            </a:r>
            <a:r>
              <a:rPr sz="2000"/>
              <a:t>  -  drive somewhere real. </a:t>
            </a:r>
            <a:r>
              <a:rPr sz="1800">
                <a:latin typeface="Consolas"/>
              </a:rPr>
              <a:t>SCENE = "mcity"</a:t>
            </a:r>
            <a:r>
              <a:rPr sz="2000"/>
              <a:t> puts the car in the Mcity digital twin.</a:t>
            </a:r>
          </a:p>
          <a:p>
            <a:pPr>
              <a:spcAft>
                <a:spcPts val="900"/>
              </a:spcAft>
            </a:pPr>
            <a:r>
              <a:rPr sz="1800">
                <a:latin typeface="Consolas"/>
              </a:rPr>
              <a:t>PART 8</a:t>
            </a:r>
            <a:r>
              <a:rPr sz="2000"/>
              <a:t>  -  control something that is not a car. </a:t>
            </a:r>
            <a:r>
              <a:rPr sz="1800">
                <a:latin typeface="Consolas"/>
              </a:rPr>
              <a:t>PLANT = "rover"</a:t>
            </a:r>
            <a:r>
              <a:rPr sz="2000"/>
              <a:t> or </a:t>
            </a:r>
            <a:r>
              <a:rPr sz="1800">
                <a:latin typeface="Consolas"/>
              </a:rPr>
              <a:t>"crane"</a:t>
            </a:r>
            <a:r>
              <a:rPr sz="2000"/>
              <a:t>, same three floats, no vehicle class involved.</a:t>
            </a:r>
          </a:p>
          <a:p>
            <a:pPr>
              <a:spcAft>
                <a:spcPts val="900"/>
              </a:spcAft>
            </a:pPr>
            <a:r>
              <a:rPr sz="1800">
                <a:latin typeface="Consolas"/>
              </a:rPr>
              <a:t>PARTS 9-10</a:t>
            </a:r>
            <a:r>
              <a:rPr sz="2000"/>
              <a:t>  -  reach into the scene: drag a limb, push a robot, place a scene.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32120"/>
            <a:ext cx="113934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The through-line: the loop never changed. What changed was where the human's numbers were injected.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900"/>
              </a:spcAft>
            </a:pPr>
            <a:r>
              <a:rPr sz="1800">
                <a:latin typeface="Consolas"/>
              </a:rPr>
              <a:t>Chrono::HIL</a:t>
            </a:r>
            <a:r>
              <a:rPr sz="2000"/>
              <a:t> (github.com/zzhou292/chrono-HIL)  -  driving rigs, steering wheels, multi-user sessions, the same three floats</a:t>
            </a:r>
          </a:p>
          <a:p>
            <a:pPr>
              <a:spcAft>
                <a:spcPts val="900"/>
              </a:spcAft>
            </a:pPr>
            <a:r>
              <a:rPr sz="2000"/>
              <a:t>The SWIG director change, as an upstream PR</a:t>
            </a:r>
          </a:p>
          <a:p>
            <a:pPr>
              <a:spcAft>
                <a:spcPts val="900"/>
              </a:spcAft>
            </a:pPr>
            <a:r>
              <a:rPr sz="2000"/>
              <a:t>A mouse pick-and-drag utility, so that every PyChrono user does not write the same 56 lines</a:t>
            </a:r>
          </a:p>
          <a:p>
            <a:pPr>
              <a:spcAft>
                <a:spcPts val="900"/>
              </a:spcAft>
            </a:pPr>
            <a:r>
              <a:rPr sz="2000"/>
              <a:t>Policy in the loop: a learned controller on one side, a person perturbing it on the other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32120"/>
            <a:ext cx="113934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/>
              <a:t>The gap this talk found is small and specific, which is the good kind: one line to receive the event, and a utility on top of primitives Chrono already has.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University of Wisconsin - Madison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651760"/>
            <a:ext cx="9966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/>
              <a:t>Thank you.</a:t>
            </a:r>
          </a:p>
          <a:p>
            <a:pPr algn="ctr"/>
            <a:r>
              <a:rPr sz="2000">
                <a:latin typeface="Consolas"/>
              </a:rPr>
              <a:t>github.com/ksha23/chrono-hil-tutorial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310896" y="6647688"/>
            <a:ext cx="11640312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PageNo"/>
          <p:cNvSpPr txBox="1"/>
          <p:nvPr/>
        </p:nvSpPr>
        <p:spPr>
          <a:xfrm>
            <a:off x="10250424" y="6647688"/>
            <a:ext cx="1709928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/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25</Slides>
  <ScaleCrop>false</ScaleCrop>
  <Company>Simulation-Based Engineering Lab, University of Wisconsin-Madison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 support for human-in-the-loop simulation</dc:title>
  <dc:creator>Kyle Sha</dc:creator>
  <cp:lastModifiedBy>Kyle Sha</cp:lastModifiedBy>
  <cp:revision>1</cp:revision>
  <dcterms:created xsi:type="dcterms:W3CDTF">2026-09-14T00:00:00Z</dcterms:created>
  <dcterms:modified xsi:type="dcterms:W3CDTF">2026-09-14T00:00:00Z</dcterms:modified>
  <dc:description/>
  <cp:category/>
  <cp:keywords/>
  <dc:subject/>
</cp:coreProperties>
</file>