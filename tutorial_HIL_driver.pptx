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425195" y="3953256"/>
            <a:ext cx="2799306" cy="2140399"/>
          </a:xfrm>
          <a:prstGeom prst="rect">
            <a:avLst/>
          </a:prstGeom>
        </p:spPr>
      </p:pic>
      <p:pic>
        <p:nvPicPr>
          <p:cNvPr id="5" name="Picture 4" descr="demo_go2.png"/>
          <p:cNvPicPr>
            <a:picLocks noChangeAspect="1"/>
          </p:cNvPicPr>
          <p:nvPr/>
        </p:nvPicPr>
        <p:blipFill>
          <a:blip r:embed="rId3"/>
          <a:stretch>
            <a:fillRect/>
          </a:stretch>
        </p:blipFill>
        <p:spPr>
          <a:xfrm>
            <a:off x="3498822" y="3953256"/>
            <a:ext cx="2764682" cy="2140399"/>
          </a:xfrm>
          <a:prstGeom prst="rect">
            <a:avLst/>
          </a:prstGeom>
        </p:spPr>
      </p:pic>
      <p:pic>
        <p:nvPicPr>
          <p:cNvPr id="6" name="Picture 5" descr="demo_arm.png"/>
          <p:cNvPicPr>
            <a:picLocks noChangeAspect="1"/>
          </p:cNvPicPr>
          <p:nvPr/>
        </p:nvPicPr>
        <p:blipFill>
          <a:blip r:embed="rId4"/>
          <a:stretch>
            <a:fillRect/>
          </a:stretch>
        </p:blipFill>
        <p:spPr>
          <a:xfrm>
            <a:off x="6537824" y="3953256"/>
            <a:ext cx="2186929" cy="2140399"/>
          </a:xfrm>
          <a:prstGeom prst="rect">
            <a:avLst/>
          </a:prstGeom>
        </p:spPr>
      </p:pic>
      <p:pic>
        <p:nvPicPr>
          <p:cNvPr id="7" name="Picture 6" descr="demo_push.png"/>
          <p:cNvPicPr>
            <a:picLocks noChangeAspect="1"/>
          </p:cNvPicPr>
          <p:nvPr/>
        </p:nvPicPr>
        <p:blipFill>
          <a:blip r:embed="rId5"/>
          <a:stretch>
            <a:fillRect/>
          </a:stretch>
        </p:blipFill>
        <p:spPr>
          <a:xfrm>
            <a:off x="8999073" y="3953256"/>
            <a:ext cx="2764682" cy="2140399"/>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what does an operator do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a:p>
            <a:pPr>
              <a:spcAft>
                <a:spcPts val="900"/>
              </a:spcAft>
            </a:pPr>
            <a:r>
              <a:rPr sz="2000"/>
              <a:t>Unpaced, a box being dragged by hand travelled 88.7 m in one wall-clock second instead of 1.8 m. The physics was right both times. Only one of them was usable by a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a:p>
            <a:pPr>
              <a:spcAft>
                <a:spcPts val="900"/>
              </a:spcAft>
            </a:pPr>
            <a:r>
              <a:rPr sz="2000"/>
              <a:t>Reach for them in this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t>1.  </a:t>
            </a:r>
            <a:r>
              <a:rPr sz="1600">
                <a:latin typeface="Consolas"/>
              </a:rPr>
              <a:t>Step size</a:t>
            </a:r>
            <a:r>
              <a:rPr sz="1800"/>
              <a:t>. Everything scales with steps per second. The largest step that stays stable is the single biggest lever there is.</a:t>
            </a:r>
          </a:p>
          <a:p>
            <a:pPr>
              <a:spcAft>
                <a:spcPts val="900"/>
              </a:spcAft>
            </a:pPr>
            <a:r>
              <a:rPr sz="1800"/>
              <a:t>2.  </a:t>
            </a:r>
            <a:r>
              <a:rPr sz="1600">
                <a:latin typeface="Consolas"/>
              </a:rPr>
              <a:t>Collision geometry</a:t>
            </a:r>
            <a:r>
              <a:rPr sz="1800"/>
              <a:t>. Primitives beat convex hulls beat triangle meshes, by a lot. Most imported assets arrive as the slowest option.</a:t>
            </a:r>
          </a:p>
          <a:p>
            <a:pPr>
              <a:spcAft>
                <a:spcPts val="900"/>
              </a:spcAft>
            </a:pPr>
            <a:r>
              <a:rPr sz="1800"/>
              <a:t>3.  </a:t>
            </a:r>
            <a:r>
              <a:rPr sz="1600">
                <a:latin typeface="Consolas"/>
              </a:rPr>
              <a:t>Which pairs are tested at all</a:t>
            </a:r>
            <a:r>
              <a:rPr sz="1800"/>
              <a:t>. Families and masks remove whole classes of pair from the broadphase, including self-collision.</a:t>
            </a:r>
          </a:p>
          <a:p>
            <a:pPr>
              <a:spcAft>
                <a:spcPts val="900"/>
              </a:spcAft>
            </a:pPr>
            <a:r>
              <a:rPr sz="1800"/>
              <a:t>4.  </a:t>
            </a:r>
            <a:r>
              <a:rPr sz="1600">
                <a:latin typeface="Consolas"/>
              </a:rPr>
              <a:t>Active domains</a:t>
            </a:r>
            <a:r>
              <a:rPr sz="1800"/>
              <a:t>. Let the expensive physics happen only where it matters: deformable terrain near the wheels, fluid near the hull.</a:t>
            </a:r>
          </a:p>
          <a:p>
            <a:pPr>
              <a:spcAft>
                <a:spcPts val="900"/>
              </a:spcAft>
            </a:pPr>
            <a:r>
              <a:rPr sz="1800"/>
              <a:t>5.  </a:t>
            </a:r>
            <a:r>
              <a:rPr sz="1600">
                <a:latin typeface="Consolas"/>
              </a:rPr>
              <a:t>Solver type and iteration cap</a:t>
            </a:r>
            <a:r>
              <a:rPr sz="1800"/>
              <a:t>. Iterations buy convergence and cost time, and you pay out of the same step you wanted to sleep in.</a:t>
            </a:r>
          </a:p>
          <a:p>
            <a:pPr>
              <a:spcAft>
                <a:spcPts val="900"/>
              </a:spcAft>
            </a:pPr>
            <a:r>
              <a:rPr sz="1800"/>
              <a:t>6.  </a:t>
            </a:r>
            <a:r>
              <a:rPr sz="1600">
                <a:latin typeface="Consolas"/>
              </a:rPr>
              <a:t>Threads</a:t>
            </a:r>
            <a:r>
              <a:rPr sz="1800"/>
              <a:t>, </a:t>
            </a:r>
            <a:r>
              <a:rPr sz="1600">
                <a:latin typeface="Consolas"/>
              </a:rPr>
              <a:t>sleeping bodies</a:t>
            </a:r>
            <a:r>
              <a:rPr sz="1800"/>
              <a:t>, and </a:t>
            </a:r>
            <a:r>
              <a:rPr sz="1600">
                <a:latin typeface="Consolas"/>
              </a:rPr>
              <a:t>model reduction</a:t>
            </a:r>
            <a:r>
              <a:rPr sz="1800"/>
              <a:t> for elastic subassemblies.</a:t>
            </a:r>
          </a:p>
          <a:p>
            <a:pPr>
              <a:spcAft>
                <a:spcPts val="900"/>
              </a:spcAft>
            </a:pPr>
            <a:r>
              <a:rPr sz="1800"/>
              <a:t>7.  </a:t>
            </a:r>
            <a:r>
              <a:rPr sz="1600">
                <a:latin typeface="Consolas"/>
              </a:rPr>
              <a:t>Render less often than you step</a:t>
            </a:r>
            <a:r>
              <a:rPr sz="1800"/>
              <a:t>. Drawing is not free, and the eye does not need 500 Hz.</a:t>
            </a:r>
          </a:p>
          <a:p>
            <a:pPr>
              <a:spcAft>
                <a:spcPts val="900"/>
              </a:spcAft>
            </a:pPr>
            <a:r>
              <a:rPr sz="18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400">
                <a:latin typeface="Consolas"/>
              </a:rPr>
              <a:t>ChInteractiveDriver</a:t>
            </a:r>
            <a:r>
              <a:rPr sz="1600"/>
              <a:t> covers two CLASSES of device, not two devices:</a:t>
            </a:r>
          </a:p>
          <a:p>
            <a:pPr lvl="1">
              <a:spcAft>
                <a:spcPts val="500"/>
              </a:spcAft>
            </a:pPr>
            <a:r>
              <a:rPr sz="1200">
                <a:latin typeface="Consolas"/>
              </a:rPr>
              <a:t>InputMode_KEYBOARD</a:t>
            </a:r>
            <a:r>
              <a:rPr sz="1400"/>
              <a:t>  -  with </a:t>
            </a:r>
            <a:r>
              <a:rPr sz="1200">
                <a:latin typeface="Consolas"/>
              </a:rPr>
              <a:t>KeyboardMode_HELD</a:t>
            </a:r>
            <a:r>
              <a:rPr sz="1400"/>
              <a:t> or </a:t>
            </a:r>
            <a:r>
              <a:rPr sz="1200">
                <a:latin typeface="Consolas"/>
              </a:rPr>
              <a:t>_CUMULATIVE</a:t>
            </a:r>
          </a:p>
          <a:p>
            <a:pPr lvl="1">
              <a:spcAft>
                <a:spcPts val="500"/>
              </a:spcAft>
            </a:pPr>
            <a:r>
              <a:rPr sz="1200">
                <a:latin typeface="Consolas"/>
              </a:rPr>
              <a:t>InputMode_JOYSTICK</a:t>
            </a:r>
            <a:r>
              <a:rPr sz="1400"/>
              <a:t>  -  anything the windowing layer enumerates as one</a:t>
            </a:r>
          </a:p>
          <a:p>
            <a:pPr>
              <a:spcAft>
                <a:spcPts val="500"/>
              </a:spcAft>
            </a:pPr>
            <a:r>
              <a:rPr sz="1600"/>
              <a:t>A joystick is mapped by a JSON file, not by code: </a:t>
            </a:r>
            <a:r>
              <a:rPr sz="1400">
                <a:latin typeface="Consolas"/>
              </a:rPr>
              <a:t>SetJoystickConfigFile(path)</a:t>
            </a:r>
          </a:p>
          <a:p>
            <a:pPr lvl="1">
              <a:spcAft>
                <a:spcPts val="500"/>
              </a:spcAft>
            </a:pPr>
            <a:r>
              <a:rPr sz="1400"/>
              <a:t>mapped axes: steering, throttle, brake, CLUTCH</a:t>
            </a:r>
          </a:p>
          <a:p>
            <a:pPr lvl="1">
              <a:spcAft>
                <a:spcPts val="500"/>
              </a:spcAft>
            </a:pPr>
            <a:r>
              <a:rPr sz="1400"/>
              <a:t>mapped buttons: shift up/down, reverse, gears 1-9, manual-gearbox toggle, plus one user callback</a:t>
            </a:r>
          </a:p>
          <a:p>
            <a:pPr>
              <a:spcAft>
                <a:spcPts val="500"/>
              </a:spcAft>
            </a:pPr>
            <a:r>
              <a:rPr sz="1600"/>
              <a:t>Four configs ship in </a:t>
            </a:r>
            <a:r>
              <a:rPr sz="1400">
                <a:latin typeface="Consolas"/>
              </a:rPr>
              <a:t>data/vehicle/joystick/</a:t>
            </a:r>
            <a:r>
              <a:rPr sz="1600"/>
              <a:t>: Default, Logitech RumblePad 2, Xbox One, and Wheel+Pedals+Shifters</a:t>
            </a:r>
          </a:p>
          <a:p>
            <a:pPr>
              <a:spcAft>
                <a:spcPts val="500"/>
              </a:spcAft>
            </a:pPr>
            <a:r>
              <a:rPr sz="1600"/>
              <a:t>Each control names its own DEVICE, so a wheel, a pedal box and an H-shifter enumerating as three separate USB devices all map at once</a:t>
            </a:r>
          </a:p>
          <a:p>
            <a:pPr>
              <a:spcAft>
                <a:spcPts val="500"/>
              </a:spcAft>
            </a:pPr>
            <a:r>
              <a:rPr sz="1600"/>
              <a:t>Not hypothetical: the remote-driving study on slide 5 ran on a Logitech G29 wheel and pedal set through this path</a:t>
            </a:r>
          </a:p>
          <a:p>
            <a:pPr>
              <a:spcAft>
                <a:spcPts val="5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500"/>
              </a:spcAft>
            </a:pPr>
            <a:r>
              <a:rPr sz="1600"/>
              <a:t>All of it is exposed to PyChrono.</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This tutorial ships one of these,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That last line is the gap this tutorial walks into. Everything needed to build one is already exposed; what is missing is the ability to receive the mouse event in the first place.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Yanking a link into the floor: </a:t>
            </a:r>
            <a:r>
              <a:rPr sz="1800">
                <a:latin typeface="Consolas"/>
              </a:rPr>
              <a:t>35.14 m/s</a:t>
            </a:r>
            <a:r>
              <a:rPr sz="2000"/>
              <a:t> before the gains were bounded, </a:t>
            </a:r>
            <a:r>
              <a:rPr sz="1800">
                <a:latin typeface="Consolas"/>
              </a:rPr>
              <a:t>3.25 m/s</a:t>
            </a:r>
            <a:r>
              <a:rPr sz="2000"/>
              <a:t> after</a:t>
            </a:r>
          </a:p>
          <a:p>
            <a:pPr>
              <a:spcAft>
                <a:spcPts val="900"/>
              </a:spcAft>
            </a:pPr>
            <a:r>
              <a:rPr sz="2000"/>
              <a:t>This is the clearest case of the definition on the whole deck: you pull, the controller resists, you feel it resist, and you pull differently.</a:t>
            </a:r>
          </a:p>
        </p:txBody>
      </p:sp>
      <p:pic>
        <p:nvPicPr>
          <p:cNvPr id="4" name="Picture 3" descr="demo_go2.png"/>
          <p:cNvPicPr>
            <a:picLocks noChangeAspect="1"/>
          </p:cNvPicPr>
          <p:nvPr/>
        </p:nvPicPr>
        <p:blipFill>
          <a:blip r:embed="rId2"/>
          <a:stretch>
            <a:fillRect/>
          </a:stretch>
        </p:blipFill>
        <p:spPr>
          <a:xfrm>
            <a:off x="4492416" y="5134355"/>
            <a:ext cx="1635823" cy="1266444"/>
          </a:xfrm>
          <a:prstGeom prst="rect">
            <a:avLst/>
          </a:prstGeom>
        </p:spPr>
      </p:pic>
      <p:pic>
        <p:nvPicPr>
          <p:cNvPr id="5" name="Picture 4" descr="demo_arm.png"/>
          <p:cNvPicPr>
            <a:picLocks noChangeAspect="1"/>
          </p:cNvPicPr>
          <p:nvPr/>
        </p:nvPicPr>
        <p:blipFill>
          <a:blip r:embed="rId3"/>
          <a:stretch>
            <a:fillRect/>
          </a:stretch>
        </p:blipFill>
        <p:spPr>
          <a:xfrm>
            <a:off x="6402560" y="5134355"/>
            <a:ext cx="1293975" cy="12664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click where the push lands, set direction and magnitude, fire a measured impulse, watch the controller recover or fail</a:t>
            </a:r>
          </a:p>
          <a:p>
            <a:pPr>
              <a:spcAft>
                <a:spcPts val="900"/>
              </a:spcAft>
            </a:pPr>
            <a:r>
              <a:rPr sz="1800">
                <a:latin typeface="Consolas"/>
              </a:rPr>
              <a:t>WHY</a:t>
            </a:r>
            <a:r>
              <a:rPr sz="2000"/>
              <a:t>   robustness testing that produces a NUMBER, so the result can go in a report and somebody else can reproduce it</a:t>
            </a:r>
          </a:p>
          <a:p>
            <a:pPr>
              <a:spcAft>
                <a:spcPts val="900"/>
              </a:spcAft>
            </a:pPr>
            <a:r>
              <a:rPr sz="2000"/>
              <a:t>Forward at the base COM: </a:t>
            </a:r>
            <a:r>
              <a:rPr sz="1800">
                <a:latin typeface="Consolas"/>
              </a:rPr>
              <a:t>325 N</a:t>
            </a:r>
            <a:r>
              <a:rPr sz="2000"/>
              <a:t> recovers, </a:t>
            </a:r>
            <a:r>
              <a:rPr sz="1800">
                <a:latin typeface="Consolas"/>
              </a:rPr>
              <a:t>330 N</a:t>
            </a:r>
            <a:r>
              <a:rPr sz="2000"/>
              <a:t> does not</a:t>
            </a:r>
          </a:p>
          <a:p>
            <a:pPr>
              <a:spcAft>
                <a:spcPts val="900"/>
              </a:spcAft>
            </a:pPr>
            <a:r>
              <a:rPr sz="2000"/>
              <a:t>Sideways: </a:t>
            </a:r>
            <a:r>
              <a:rPr sz="1800">
                <a:latin typeface="Consolas"/>
              </a:rPr>
              <a:t>280 N</a:t>
            </a:r>
            <a:r>
              <a:rPr sz="2000"/>
              <a:t> recovers, </a:t>
            </a:r>
            <a:r>
              <a:rPr sz="1800">
                <a:latin typeface="Consolas"/>
              </a:rPr>
              <a:t>290 N</a:t>
            </a:r>
            <a:r>
              <a:rPr sz="2000"/>
              <a:t> does not</a:t>
            </a:r>
          </a:p>
          <a:p>
            <a:pPr>
              <a:spcAft>
                <a:spcPts val="900"/>
              </a:spcAft>
            </a:pPr>
            <a:r>
              <a:rPr sz="2000"/>
              <a:t>Same impulse, applied 5 cm higher up the torso: the verdict flips</a:t>
            </a:r>
          </a:p>
          <a:p>
            <a:pPr>
              <a:spcAft>
                <a:spcPts val="900"/>
              </a:spcAft>
            </a:pPr>
            <a:r>
              <a:rPr sz="2000"/>
              <a:t>That last line is the reason a human is still in this one. Where to push is a judgement call, and it changes the answer as much as how hard you push does.</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