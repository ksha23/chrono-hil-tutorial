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5" r:id="rId1"/>
  </p:sldMasterIdLst>
  <p:notesMasterIdLst>
    <p:notesMasterId r:id="rId48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300" r:id="rId3"/>
    <p:sldId id="301" r:id="rId2"/>
    <p:sldId id="302" r:id="rId54"/>
    <p:sldId id="303" r:id="rId55"/>
    <p:sldId id="304" r:id="rId56"/>
    <p:sldId id="305" r:id="rId57"/>
    <p:sldId id="276" r:id="rId28"/>
    <p:sldId id="306" r:id="rId3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7" r:id="rId39"/>
    <p:sldId id="288" r:id="rId40"/>
    <p:sldId id="289" r:id="rId41"/>
    <p:sldId id="290" r:id="rId42"/>
    <p:sldId id="294" r:id="rId46"/>
    <p:sldId id="295" r:id="rId47"/>
    <p:sldId id="307" r:id="rId37"/>
    <p:sldId id="296" r:id="rId7"/>
    <p:sldId id="297" r:id="rId6"/>
    <p:sldId id="298" r:id="rId5"/>
    <p:sldId id="299" r:id="rId4"/>
    <p:sldId id="291" r:id="rId43"/>
    <p:sldId id="292" r:id="rId44"/>
    <p:sldId id="293" r:id="rId4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uning Fang" initials="LF" lastIdx="1" clrIdx="0">
    <p:extLst>
      <p:ext uri="{19B8F6BF-5375-455C-9EA6-DF929625EA0E}">
        <p15:presenceInfo xmlns:p15="http://schemas.microsoft.com/office/powerpoint/2012/main" userId="S::lfang9@wisc.edu::ad8730f6-191a-4e02-aade-5a65010d37a8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390" autoAdjust="0"/>
    <p:restoredTop sz="95033" autoAdjust="0"/>
  </p:normalViewPr>
  <p:slideViewPr>
    <p:cSldViewPr snapToGrid="0" snapToObjects="1">
      <p:cViewPr varScale="1">
        <p:scale>
          <a:sx n="61" d="100"/>
          <a:sy n="61" d="100"/>
        </p:scale>
        <p:origin x="95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0" d="100"/>
          <a:sy n="80" d="100"/>
        </p:scale>
        <p:origin x="4048" y="184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2.xml"/><Relationship Id="rId3" Type="http://schemas.openxmlformats.org/officeDocument/2006/relationships/slide" Target="slides/slide21.xml"/><Relationship Id="rId4" Type="http://schemas.openxmlformats.org/officeDocument/2006/relationships/slide" Target="slides/slide47.xml"/><Relationship Id="rId5" Type="http://schemas.openxmlformats.org/officeDocument/2006/relationships/slide" Target="slides/slide46.xml"/><Relationship Id="rId6" Type="http://schemas.openxmlformats.org/officeDocument/2006/relationships/slide" Target="slides/slide45.xml"/><Relationship Id="rId7" Type="http://schemas.openxmlformats.org/officeDocument/2006/relationships/slide" Target="slides/slide44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7.xml"/><Relationship Id="rId29" Type="http://schemas.openxmlformats.org/officeDocument/2006/relationships/slide" Target="slides/slide29.xml"/><Relationship Id="rId30" Type="http://schemas.openxmlformats.org/officeDocument/2006/relationships/slide" Target="slides/slide30.xml"/><Relationship Id="rId31" Type="http://schemas.openxmlformats.org/officeDocument/2006/relationships/slide" Target="slides/slide31.xml"/><Relationship Id="rId32" Type="http://schemas.openxmlformats.org/officeDocument/2006/relationships/slide" Target="slides/slide32.xml"/><Relationship Id="rId33" Type="http://schemas.openxmlformats.org/officeDocument/2006/relationships/slide" Target="slides/slide33.xml"/><Relationship Id="rId34" Type="http://schemas.openxmlformats.org/officeDocument/2006/relationships/slide" Target="slides/slide34.xml"/><Relationship Id="rId35" Type="http://schemas.openxmlformats.org/officeDocument/2006/relationships/slide" Target="slides/slide35.xml"/><Relationship Id="rId36" Type="http://schemas.openxmlformats.org/officeDocument/2006/relationships/slide" Target="slides/slide36.xml"/><Relationship Id="rId37" Type="http://schemas.openxmlformats.org/officeDocument/2006/relationships/slide" Target="slides/slide43.xml"/><Relationship Id="rId38" Type="http://schemas.openxmlformats.org/officeDocument/2006/relationships/slide" Target="slides/slide28.xml"/><Relationship Id="rId39" Type="http://schemas.openxmlformats.org/officeDocument/2006/relationships/slide" Target="slides/slide37.xml"/><Relationship Id="rId40" Type="http://schemas.openxmlformats.org/officeDocument/2006/relationships/slide" Target="slides/slide38.xml"/><Relationship Id="rId41" Type="http://schemas.openxmlformats.org/officeDocument/2006/relationships/slide" Target="slides/slide39.xml"/><Relationship Id="rId42" Type="http://schemas.openxmlformats.org/officeDocument/2006/relationships/slide" Target="slides/slide40.xml"/><Relationship Id="rId43" Type="http://schemas.openxmlformats.org/officeDocument/2006/relationships/slide" Target="slides/slide48.xml"/><Relationship Id="rId44" Type="http://schemas.openxmlformats.org/officeDocument/2006/relationships/slide" Target="slides/slide49.xml"/><Relationship Id="rId45" Type="http://schemas.openxmlformats.org/officeDocument/2006/relationships/slide" Target="slides/slide5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49" Type="http://schemas.openxmlformats.org/officeDocument/2006/relationships/commentAuthors" Target="commentAuthors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Relationship Id="rId54" Type="http://schemas.openxmlformats.org/officeDocument/2006/relationships/slide" Target="slides/slide23.xml"/><Relationship Id="rId55" Type="http://schemas.openxmlformats.org/officeDocument/2006/relationships/slide" Target="slides/slide24.xml"/><Relationship Id="rId56" Type="http://schemas.openxmlformats.org/officeDocument/2006/relationships/slide" Target="slides/slide25.xml"/><Relationship Id="rId57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8A783B2-C5E5-FB41-ACA0-2F4811562073}" type="datetimeFigureOut">
              <a:rPr lang="en-US" smtClean="0"/>
              <a:t>9/9/2025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8AD381F-568E-9849-8D19-16CED507FC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40636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09980" y="882376"/>
            <a:ext cx="9966960" cy="2849365"/>
          </a:xfrm>
        </p:spPr>
        <p:txBody>
          <a:bodyPr anchor="b">
            <a:normAutofit/>
          </a:bodyPr>
          <a:lstStyle>
            <a:lvl1pPr algn="ctr">
              <a:lnSpc>
                <a:spcPct val="85000"/>
              </a:lnSpc>
              <a:defRPr sz="3200" b="1" cap="all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09530" y="3869634"/>
            <a:ext cx="8767860" cy="1388165"/>
          </a:xfrm>
        </p:spPr>
        <p:txBody>
          <a:bodyPr>
            <a:normAutofit/>
          </a:bodyPr>
          <a:lstStyle>
            <a:lvl1pPr marL="0" indent="0" algn="ctr">
              <a:lnSpc>
                <a:spcPts val="1920"/>
              </a:lnSpc>
              <a:spcBef>
                <a:spcPts val="0"/>
              </a:spcBef>
              <a:buNone/>
              <a:defRPr sz="1600">
                <a:solidFill>
                  <a:schemeClr val="tx1"/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601" b="23509"/>
          <a:stretch/>
        </p:blipFill>
        <p:spPr>
          <a:xfrm>
            <a:off x="10402572" y="373009"/>
            <a:ext cx="1425933" cy="314746"/>
          </a:xfrm>
          <a:prstGeom prst="rect">
            <a:avLst/>
          </a:prstGeom>
        </p:spPr>
      </p:pic>
      <p:pic>
        <p:nvPicPr>
          <p:cNvPr id="9" name="Picture 2">
            <a:extLst>
              <a:ext uri="{FF2B5EF4-FFF2-40B4-BE49-F238E27FC236}">
                <a16:creationId xmlns:a16="http://schemas.microsoft.com/office/drawing/2014/main" id="{EAB6B121-EA4A-6511-1136-8B5B796F5E2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73909" y="816924"/>
            <a:ext cx="887787" cy="461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11015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2552" y="293245"/>
            <a:ext cx="9875520" cy="90616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2552" y="1313782"/>
            <a:ext cx="10939848" cy="52039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0974" y="6645811"/>
            <a:ext cx="11644805" cy="188527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University of Wisconsin - Madison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5992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642552" y="1749718"/>
            <a:ext cx="10939848" cy="170575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3"/>
          </p:nvPr>
        </p:nvSpPr>
        <p:spPr>
          <a:xfrm>
            <a:off x="642552" y="3689425"/>
            <a:ext cx="5498366" cy="232636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323251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670994" y="1759343"/>
            <a:ext cx="5469924" cy="170575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3"/>
          </p:nvPr>
        </p:nvSpPr>
        <p:spPr>
          <a:xfrm>
            <a:off x="642552" y="3689425"/>
            <a:ext cx="5498366" cy="23263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1960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642552" y="1749718"/>
            <a:ext cx="10939848" cy="17057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Content Placeholder 2"/>
          <p:cNvSpPr>
            <a:spLocks noGrp="1"/>
          </p:cNvSpPr>
          <p:nvPr>
            <p:ph idx="13"/>
          </p:nvPr>
        </p:nvSpPr>
        <p:spPr>
          <a:xfrm>
            <a:off x="642552" y="4284120"/>
            <a:ext cx="10939848" cy="17057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029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6424" y="1614615"/>
            <a:ext cx="9966960" cy="2147287"/>
          </a:xfrm>
        </p:spPr>
        <p:txBody>
          <a:bodyPr anchor="b">
            <a:noAutofit/>
          </a:bodyPr>
          <a:lstStyle>
            <a:lvl1pPr algn="l">
              <a:lnSpc>
                <a:spcPct val="85000"/>
              </a:lnSpc>
              <a:defRPr sz="4400" b="0" cap="none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09928" y="4154520"/>
            <a:ext cx="8769096" cy="1363806"/>
          </a:xfrm>
        </p:spPr>
        <p:txBody>
          <a:bodyPr anchor="t">
            <a:normAutofit/>
          </a:bodyPr>
          <a:lstStyle>
            <a:lvl1pPr marL="0" indent="0" algn="l">
              <a:buNone/>
              <a:defRPr sz="22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7" name="Straight Connector 6"/>
          <p:cNvCxnSpPr/>
          <p:nvPr/>
        </p:nvCxnSpPr>
        <p:spPr>
          <a:xfrm>
            <a:off x="1272744" y="3682656"/>
            <a:ext cx="82296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45679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42552" y="2057399"/>
            <a:ext cx="5255328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34254" y="2057400"/>
            <a:ext cx="5107258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06799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856" y="1847511"/>
            <a:ext cx="5029200" cy="77724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2400" b="1">
                <a:solidFill>
                  <a:srgbClr val="0070C0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2856" y="2721483"/>
            <a:ext cx="502920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16303" y="1845032"/>
            <a:ext cx="5029200" cy="777240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None/>
              <a:defRPr lang="en-US" sz="2400" b="1" kern="1200" dirty="0" smtClean="0">
                <a:solidFill>
                  <a:srgbClr val="0070C0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Clr>
                <a:schemeClr val="tx1"/>
              </a:buClr>
              <a:buSzPct val="80000"/>
              <a:buFont typeface="Corbel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16303" y="2719322"/>
            <a:ext cx="502920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03952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2216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26595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59" y="1097280"/>
            <a:ext cx="5212080" cy="466344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301752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987564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413248" y="1069847"/>
            <a:ext cx="6099048" cy="4800600"/>
          </a:xfrm>
        </p:spPr>
        <p:txBody>
          <a:bodyPr lIns="274320" tIns="182880" anchor="t"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288036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93065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094644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762000"/>
            <a:ext cx="2324100" cy="54102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3000" y="762000"/>
            <a:ext cx="7429500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35706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Relationship Id="rId16" Type="http://schemas.openxmlformats.org/officeDocument/2006/relationships/image" Target="../media/image1.png"/><Relationship Id="rId17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31140" y="243840"/>
            <a:ext cx="9875520" cy="9061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2552" y="1749717"/>
            <a:ext cx="10939848" cy="43462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10975" y="6645811"/>
            <a:ext cx="2329074" cy="2099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247503" y="6645811"/>
            <a:ext cx="2142554" cy="2201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49563" y="6646310"/>
            <a:ext cx="1706217" cy="1880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601" b="23509"/>
          <a:stretch/>
        </p:blipFill>
        <p:spPr>
          <a:xfrm>
            <a:off x="10402572" y="373009"/>
            <a:ext cx="1425933" cy="314746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5A46C1E0-93BA-7130-A5BE-F281C46CA84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73909" y="816924"/>
            <a:ext cx="887787" cy="461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93811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77" r:id="rId2"/>
    <p:sldLayoutId id="2147483678" r:id="rId3"/>
    <p:sldLayoutId id="2147483679" r:id="rId4"/>
    <p:sldLayoutId id="2147483680" r:id="rId5"/>
    <p:sldLayoutId id="2147483681" r:id="rId6"/>
    <p:sldLayoutId id="2147483682" r:id="rId7"/>
    <p:sldLayoutId id="2147483683" r:id="rId8"/>
    <p:sldLayoutId id="2147483684" r:id="rId9"/>
    <p:sldLayoutId id="2147483685" r:id="rId10"/>
    <p:sldLayoutId id="2147483686" r:id="rId11"/>
    <p:sldLayoutId id="2147483687" r:id="rId12"/>
    <p:sldLayoutId id="2147483688" r:id="rId13"/>
    <p:sldLayoutId id="2147483689" r:id="rId14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 baseline="0">
          <a:solidFill>
            <a:srgbClr val="003399"/>
          </a:solidFill>
          <a:latin typeface="+mj-lt"/>
          <a:ea typeface="+mj-ea"/>
          <a:cs typeface="+mj-cs"/>
        </a:defRPr>
      </a:lvl1pPr>
    </p:titleStyle>
    <p:bodyStyle>
      <a:lvl1pPr marL="228600" indent="-182880" algn="l" defTabSz="914400" rtl="0" eaLnBrk="1" latinLnBrk="0" hangingPunct="1">
        <a:lnSpc>
          <a:spcPct val="90000"/>
        </a:lnSpc>
        <a:spcBef>
          <a:spcPts val="1400"/>
        </a:spcBef>
        <a:buClr>
          <a:schemeClr val="tx1"/>
        </a:buClr>
        <a:buSzPct val="80000"/>
        <a:buFont typeface="Corbel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3" Type="http://schemas.openxmlformats.org/officeDocument/2006/relationships/image" Target="../media/image5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3" Type="http://schemas.openxmlformats.org/officeDocument/2006/relationships/image" Target="../media/image3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Chrono support for Human-in-the-Loop simulation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Speaker: Kyle Sha</a:t>
            </a:r>
          </a:p>
          <a:p>
            <a:r>
              <a:t>(Simulation-Based Engineering Lab)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Overview of the human-in-the-loop tutorial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Human-in-the-loop = the simulation runs at wall-clock speed and a person closes the control loop</a:t>
            </a:r>
          </a:p>
          <a:p>
            <a:pPr/>
            <a:r>
              <a:rPr sz="2000"/>
              <a:t>In this tutorial, you will learn how to</a:t>
            </a:r>
          </a:p>
          <a:p>
            <a:pPr lvl="1"/>
            <a:r>
              <a:rPr sz="1800"/>
              <a:t>PART 1: Keep a Chrono::Vehicle simulation real-time and measure how well you did</a:t>
            </a:r>
          </a:p>
          <a:p>
            <a:pPr lvl="1"/>
            <a:r>
              <a:rPr sz="1800"/>
              <a:t>PART 2: Put a human on the keyboard with ChInteractiveDriver</a:t>
            </a:r>
          </a:p>
          <a:p>
            <a:pPr lvl="1"/>
            <a:r>
              <a:rPr sz="1800"/>
              <a:t>PART 3: Read a gamepad or wheel natively - no extra library needed</a:t>
            </a:r>
          </a:p>
          <a:p>
            <a:pPr lvl="1"/>
            <a:r>
              <a:rPr sz="1800"/>
              <a:t>PART 4: Bring a device Chrono doesn't know about, and close the loop back to it</a:t>
            </a:r>
          </a:p>
          <a:p>
            <a:pPr lvl="1"/>
            <a:r>
              <a:rPr sz="1800"/>
              <a:t>PART 5 (bonus): Customize the built-in overlay and choose your car -- cosmetic, not the core lesson</a:t>
            </a:r>
          </a:p>
          <a:p>
            <a:pPr/>
            <a:r>
              <a:rPr sz="2000"/>
              <a:t>Everything runs in PyChrono; no special hardware is required (a gamepad/wheel is optional)</a:t>
            </a:r>
          </a:p>
          <a:p>
            <a:pPr/>
            <a:r>
              <a:rPr sz="2000"/>
              <a:t>The whole human-in-the-loop contract is: spin once per step, three floats in, state 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Before we start ......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Create a conda environment with PyChrono and pygame</a:t>
            </a:r>
          </a:p>
          <a:p>
            <a:pPr lvl="1"/>
            <a:r>
              <a:rPr sz="1800">
                <a:latin typeface="Consolas"/>
              </a:rPr>
              <a:t>conda create -n chrono_hil -c projectchrono -c conda-forge pychrono pygame python=3.13</a:t>
            </a:r>
          </a:p>
          <a:p>
            <a:pPr lvl="1"/>
            <a:r>
              <a:rPr sz="1800">
                <a:latin typeface="Consolas"/>
              </a:rPr>
              <a:t>conda activate chrono_hil</a:t>
            </a:r>
          </a:p>
          <a:p>
            <a:pPr/>
            <a:r>
              <a:rPr sz="2000"/>
              <a:t>Do NOT </a:t>
            </a:r>
            <a:r>
              <a:rPr sz="1800">
                <a:latin typeface="Consolas"/>
              </a:rPr>
              <a:t>pip install pychrono</a:t>
            </a:r>
            <a:r>
              <a:rPr sz="2000"/>
              <a:t> - the PyPI package with that name is an unrelated library</a:t>
            </a:r>
          </a:p>
          <a:p>
            <a:pPr/>
            <a:r>
              <a:rPr sz="2000"/>
              <a:t>Get the tutorial files: tutorial_HIL_driver.py, operator_console.py</a:t>
            </a:r>
          </a:p>
          <a:p>
            <a:pPr/>
            <a:r>
              <a:rPr sz="2000"/>
              <a:t>Check that </a:t>
            </a:r>
            <a:r>
              <a:rPr sz="1800">
                <a:latin typeface="Consolas"/>
              </a:rPr>
              <a:t>python tutorial_HIL_driver.py</a:t>
            </a:r>
            <a:r>
              <a:rPr sz="2000"/>
              <a:t> opens an Irrlicht window with an HMMWV</a:t>
            </a:r>
          </a:p>
          <a:p>
            <a:pPr/>
            <a:r>
              <a:rPr sz="2000"/>
              <a:t>All switches are in the CONFIGURATION section at the bottom of tutorial_HIL_driver.py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1: Keep the simulation real-time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What "real-time" means in Chrono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Chrono integrates as fast as it can; it has no notion of wall-clock time by itself</a:t>
            </a:r>
          </a:p>
          <a:p>
            <a:pPr/>
            <a:r>
              <a:rPr sz="2000"/>
              <a:t>Real Time Factor: RTF = compute time for a step / step size</a:t>
            </a:r>
          </a:p>
          <a:p>
            <a:pPr lvl="1"/>
            <a:r>
              <a:rPr sz="1800"/>
              <a:t>RTF &lt; 1: faster than real time - we must WAIT after each step</a:t>
            </a:r>
          </a:p>
          <a:p>
            <a:pPr lvl="1"/>
            <a:r>
              <a:rPr sz="1800"/>
              <a:t>RTF &gt; 1: slower than real time - nothing can be done except a cheaper model or a bigger step</a:t>
            </a:r>
          </a:p>
          <a:p>
            <a:pPr/>
            <a:r>
              <a:rPr sz="2000"/>
              <a:t>Soft real-time: spin after each step until wall time catches up with simulation time</a:t>
            </a:r>
          </a:p>
          <a:p>
            <a:pPr lvl="1"/>
            <a:r>
              <a:rPr sz="1800"/>
              <a:t>No OS scheduling guarantees; good enough for a driving simulator, not for a control ECU</a:t>
            </a:r>
          </a:p>
          <a:p>
            <a:pPr/>
            <a:r>
              <a:rPr sz="2000"/>
              <a:t>Three equivalent mechanisms in PyChrono (next slides): </a:t>
            </a:r>
            <a:r>
              <a:rPr sz="1800">
                <a:latin typeface="Consolas"/>
              </a:rPr>
              <a:t>ChRealtimeStepTimer</a:t>
            </a:r>
            <a:r>
              <a:rPr sz="2000"/>
              <a:t>, </a:t>
            </a:r>
            <a:r>
              <a:rPr sz="1800">
                <a:latin typeface="Consolas"/>
              </a:rPr>
              <a:t>ChVehicle.EnableRealtime</a:t>
            </a:r>
            <a:r>
              <a:rPr sz="2000"/>
              <a:t>, or your 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Configuration: scripted driver, as fast as possible (Lines 435 to 453)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425704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# Where do the driver inputs come from?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  "data"      PART 1 - scripted ChDataDriver, no human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  "keyboard"  PART 2 - ChInteractiveDriver, arrow keys in the Irrlicht window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  "gamepad"   PART 3 - a joystick/wheel, read natively (JOYSTICK_CONFIG below)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  "udp"       PART 4 - operator_console.py sends packets over the network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INPUT_SOURCE = "data"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How is real time enforced?  "none" | "per_step" | "vehicle" | "cumulative"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REALTIME = "none"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PART 4: send telemetry back to the operator (udp source only)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SEND_FEEDBACK = False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Simulation step sizes.  Make step_size smaller (e.g. 5e-4) to see RTF &gt; 1.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step_size = 3e-3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tire_step_size = 1e-3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Tire model (RIGID, FIALA, TMEASY, PAC89, PAC02)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tire_model = veh.TireModelType_TMEASY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5407040"/>
            <a:ext cx="11392000" cy="1050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Start with INPUT_SOURCE = "data" and REALTIME = "none"</a:t>
            </a:r>
          </a:p>
          <a:p>
            <a:pPr/>
            <a:r>
              <a:rPr sz="1800"/>
              <a:t>A ChDataDriver replays a table of (time, steering, throttle, braking) - no human yet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1: A scripted ChDataDriver (Lines 284 to 294)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255016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400">
                <a:solidFill>
                  <a:srgbClr val="CCCCCC"/>
                </a:solidFill>
                <a:latin typeface="Consolas"/>
              </a:rPr>
              <a:t>if INPUT_SOURCE == "data":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### PART 1: scripted inputs - no human in the loop ###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# (time, steering, throttle, braking)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data = veh.vector_Entry([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veh.DataDriverEntry(0.0, 0.0, 0.0, 0.0),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veh.DataDriverEntry(0.5, 0.0, 0.8, 0.0),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veh.DataDriverEntry(4.0, 0.4, 0.8, 0.0),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veh.DataDriverEntry(8.0, -0.4, 0.8, 0.0),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veh.DataDriverEntry(12.0, 0.0, 0.0, 0.8),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])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driver = veh.ChDataDriver(vehicle, data)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3700160"/>
            <a:ext cx="11392000" cy="275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ChDataDriver interpolates the entries in time</a:t>
            </a:r>
          </a:p>
          <a:p>
            <a:pPr/>
            <a:r>
              <a:rPr sz="1800"/>
              <a:t>Every driver in Chrono::Vehicle produces the same thing: DriverInputs = (steering, throttle, braking, clutch)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2: The simulation loop (Lines 376 to 404)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46228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while vis.Run():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sim_time = system.GetChTime()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Render scene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if step_number % render_steps == 0: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vis.BeginScene()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vis.Render()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vis.EndScene()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PART 4: sample the device ONCE per step and hold it for the step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if device is not None: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smoother.set_target(*device.poll())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smoother.advance(step_size)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smoother.apply_to(driver)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Get driver inputs (three floats) - this is the whole human-in-the-loop contract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driver_inputs = driver.GetInputs()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Update modules (process inputs from other modules)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driver.Synchronize(sim_time)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terrain.Synchronize(sim_time)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vehicle_model.Synchronize(sim_time, driver_inputs, terrain)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vis.Synchronize(sim_time, driver_inputs)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Advance simulation for one timestep for all modules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driver.Advance(step_size)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terrain.Advance(step_size)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vehicle_model.Advance(step_size)  # spins here if REALTIME == "vehicle"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vis.Advance(step_size)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5772800"/>
            <a:ext cx="11392000" cy="685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Synchronize: every module reads what it needs from the others at time t</a:t>
            </a:r>
          </a:p>
          <a:p>
            <a:pPr/>
            <a:r>
              <a:rPr sz="1800"/>
              <a:t>Advance: every module integrates from t to t + step</a:t>
            </a:r>
          </a:p>
          <a:p>
            <a:pPr/>
            <a:r>
              <a:rPr sz="1800"/>
              <a:t>The driver is queried BEFORE Synchronize - inputs are sampled once and held for the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3: Measure it - sim time vs wall time (Lines 406 to 412)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169672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400">
                <a:solidFill>
                  <a:srgbClr val="CCCCCC"/>
                </a:solidFill>
                <a:latin typeface="Consolas"/>
              </a:rPr>
              <a:t># Console report: how far is the sim from wall time?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if step_number % report_steps == 0: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wall = time.perf_counter() - wall_start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print(f"{sim_time:7.2f} {wall:7.2f} {wall - sim_time:+7.3f} {vehicle.GetRTF():6.2f}"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  f" {vehicle.GetSpeed():7.2f}  {driver_inputs.m_steering:6.2f}"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  f" {driver_inputs.m_throttle:5.2f} {driver_inputs.m_braking:5.2f}")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2846720"/>
            <a:ext cx="11392000" cy="3611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drift = wall time - simulation time: negative means the sim is ahead of the clock</a:t>
            </a:r>
          </a:p>
          <a:p>
            <a:pPr/>
            <a:r>
              <a:rPr sz="1800"/>
              <a:t>vehicle.GetRTF() is the true RTF of the last step, even when real time is enforced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REALTIME = "none": watch the drift column run away</a:t>
            </a:r>
          </a:p>
          <a:p>
            <a:pPr/>
            <a:r>
              <a:rPr sz="2000"/>
              <a:t>Change step_size to 5e-4 - RTF goes above 1 and the sim can never be real-time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4: Enforce real time, three ways (Lines 357 to 362)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148336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400">
                <a:solidFill>
                  <a:srgbClr val="CCCCCC"/>
                </a:solidFill>
                <a:latin typeface="Consolas"/>
              </a:rPr>
              <a:t># Real-time setup (PART 1)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# -----------------------------------------------------------------------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if REALTIME == "vehicle":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vehicle.EnableRealtime(True)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rt_timer = chrono.ChRealtimeStepTimer()  # used when REALTIME == "per_step"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cum_timer = CumulativeRealtimeTimer()    # used when REALTIME == "cumulative"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2633360"/>
            <a:ext cx="11392000" cy="382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"vehicle": ChVehicle::EnableRealtime(True) spins inside vehicle.Advance() using a ChRealtimeStepTimer</a:t>
            </a:r>
          </a:p>
          <a:p>
            <a:pPr/>
            <a:r>
              <a:rPr sz="1800"/>
              <a:t>"per_step": the same timer, called explicitly at the end of the loop (next slide)</a:t>
            </a:r>
          </a:p>
          <a:p>
            <a:pPr/>
            <a:r>
              <a:rPr sz="1800"/>
              <a:t>"cumulative": our own timer that compares total simulated time to total wall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4: Spin at the end of the loop (Lines 421 to 425)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12700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400">
                <a:solidFill>
                  <a:srgbClr val="CCCCCC"/>
                </a:solidFill>
                <a:latin typeface="Consolas"/>
              </a:rPr>
              <a:t># PART 1: spin in place for real time to catch up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if REALTIME == "per_step":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rt_timer.Spin(step_size)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elif REALTIME == "cumulative":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cum_timer.spin(system.GetChTime())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2420000"/>
            <a:ext cx="11392000" cy="403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ChRealtimeStepTimer.Spin(step): wait until at least </a:t>
            </a:r>
            <a:r>
              <a:rPr sz="1600">
                <a:latin typeface="Consolas"/>
              </a:rPr>
              <a:t>step</a:t>
            </a:r>
            <a:r>
              <a:rPr sz="1800"/>
              <a:t> seconds passed since the last Spin, then reset</a:t>
            </a:r>
          </a:p>
          <a:p>
            <a:pPr/>
            <a:r>
              <a:rPr sz="1800"/>
              <a:t>Per-step timers never recover lost time: a slow frame, a Python hiccup, a render - each one pushes drift up a little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4: A drift-free timer in 10 lines (Lines 56 to 74)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396748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300">
                <a:solidFill>
                  <a:srgbClr val="CCCCCC"/>
                </a:solidFill>
                <a:latin typeface="Consolas"/>
              </a:rPr>
              <a:t>class CumulativeRealtimeTimer: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"""Soft real-time that does not accumulate drift.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ChRealtimeStepTimer measures each step independently: any time lost on a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slow step (or spent in Python between steps) is never recovered.  This timer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instead compares the *total* simulated time with the *total* wall time, so a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slow step is followed by a few fast steps that catch back up.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"""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def __init__(self):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    self.reset()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def reset(self):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    self.t_start = time.perf_counter()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def spin(self, sim_time):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    while time.perf_counter() - self.t_start &lt; sim_time: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        pass  # spin in place until real time catches up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5117480"/>
            <a:ext cx="11392000" cy="134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Compare TOTAL simulated time with TOTAL wall time - lost time is caught up on the next fast steps</a:t>
            </a:r>
          </a:p>
          <a:p>
            <a:pPr/>
            <a:r>
              <a:rPr sz="1800"/>
              <a:t>This is how driving simulators (e.g. Chrono::HIL) keep their clock; the same idea also works across processes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Before running the code, please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Set REALTIME = "per_step" (Line 389), run for a while and note the drift</a:t>
            </a:r>
          </a:p>
          <a:p>
            <a:pPr/>
            <a:r>
              <a:rPr sz="2000"/>
              <a:t>Set REALTIME = "cumulative" and compare</a:t>
            </a:r>
          </a:p>
          <a:p>
            <a:pPr/>
            <a:r>
              <a:rPr sz="2000"/>
              <a:t>Keep REALTIME = "vehicle" for the rest of the tutorial - it is the simplest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Measured on a laptop, HMMWV + TMeasy tires, step 3 ms (RTF ~ 0.14):</a:t>
            </a:r>
          </a:p>
          <a:p>
            <a:pPr lvl="1"/>
            <a:r>
              <a:rPr sz="1800"/>
              <a:t>"none": drift -69 s after 17 s of wall time</a:t>
            </a:r>
          </a:p>
          <a:p>
            <a:pPr lvl="1"/>
            <a:r>
              <a:rPr sz="1800"/>
              <a:t>"per_step": drift +0.012 s after 17 s and growing</a:t>
            </a:r>
          </a:p>
          <a:p>
            <a:pPr lvl="1"/>
            <a:r>
              <a:rPr sz="1800"/>
              <a:t>"vehicle": drift +0.021 s after 17 s and growing</a:t>
            </a:r>
          </a:p>
          <a:p>
            <a:pPr lvl="1"/>
            <a:r>
              <a:rPr sz="1800"/>
              <a:t>"cumulative": drift +0.000 s</a:t>
            </a:r>
          </a:p>
          <a:p>
            <a:pPr/>
            <a:r>
              <a:rPr sz="2000"/>
              <a:t>Drift matters more the closer you are to RTF =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2: A human on the keyboard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1: ChInteractiveDriver (Lines 296 to 307)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258064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300">
                <a:solidFill>
                  <a:srgbClr val="CCCCCC"/>
                </a:solidFill>
                <a:latin typeface="Consolas"/>
              </a:rPr>
              <a:t>elif INPUT_SOURCE == "keyboard":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### PART 2: keyboard through the Irrlicht window ###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# Arrow keys steer/accelerate/brake, 'C' centers steering, 'R' releases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# the pedals, 'L' locks the current inputs.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driver = veh.ChInteractiveDriver(vehicle)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steering_time = 1.0  # time to go from 0 to +1 (or from 0 to -1)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throttle_time = 1.0  # time to go from 0 to +1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braking_time = 0.3   # time to go from 0 to +1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driver.SetSteeringDelta(render_step_size / steering_time)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driver.SetThrottleDelta(render_step_size / throttle_time)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driver.SetBrakingDelta(render_step_size / braking_time)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driver.SetGains(4.0, 4.0, 4.0)  # first-order lag from key target to applied input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3730640"/>
            <a:ext cx="11392000" cy="272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Arrow keys steer/accelerate/brake, C centers steering, R releases the pedals, L locks the inputs</a:t>
            </a:r>
          </a:p>
          <a:p>
            <a:pPr/>
            <a:r>
              <a:rPr sz="1800"/>
              <a:t>Each keypress moves a TARGET by "delta"; the applied input follows the target with a first-order lag (SetGains)</a:t>
            </a:r>
          </a:p>
          <a:p>
            <a:pPr/>
            <a:r>
              <a:rPr sz="1800"/>
              <a:t>delta = render_step / time-to-full-scale: full steering lock takes 1 s, full braking 0.3 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2: Route the window events to the driver (Lines 339 to 342)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12700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vis.AddSkyBox()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vis.AttachVehicle(vehicle)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if INPUT_SOURCE in ("keyboard", "gamepad"):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vis.AttachDriver(driver)  # route Irrlicht key/joystick events to the driver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2420000"/>
            <a:ext cx="11392000" cy="403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The Irrlicht visual system owns the keyboard; AttachDriver forwards key events to the driver</a:t>
            </a:r>
          </a:p>
          <a:p>
            <a:pPr/>
            <a:r>
              <a:rPr sz="1800"/>
              <a:t>Nothing else in the loop changes - the driver still just returns three floats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Before running the code, please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Set INPUT_SOURCE = "keyboard" (Line 386)</a:t>
            </a:r>
          </a:p>
          <a:p>
            <a:pPr/>
            <a:r>
              <a:rPr sz="2000"/>
              <a:t>Set REALTIME = "vehicle" (Line 389) - without real time the car is undrivable (why?)</a:t>
            </a:r>
          </a:p>
          <a:p>
            <a:pPr/>
            <a:r>
              <a:rPr sz="2000"/>
              <a:t>Try SetGains(50, 50, 50) on Line 275 and feel what a step input does to the suspension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Volunteer: drive the HMMWV. Everyone else: watch the Irrlicht HUD (speed, inputs, RTF)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3: A gamepad or wheel, read natively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3302"/>
              <a:t>No pygame, no custom class - Chrono reads the joystick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ChInteractiveDriver already knows how to read a joystick: </a:t>
            </a:r>
            <a:r>
              <a:rPr sz="1800">
                <a:latin typeface="Consolas"/>
              </a:rPr>
              <a:t>SetInputMode(JOYSTICK)</a:t>
            </a:r>
          </a:p>
          <a:p>
            <a:pPr/>
            <a:r>
              <a:rPr sz="2000"/>
              <a:t>A JSON config file maps device axes/buttons to steering/throttle/braking/clutch/shifting - four presets ship with Chrono in </a:t>
            </a:r>
            <a:r>
              <a:rPr sz="1800">
                <a:latin typeface="Consolas"/>
              </a:rPr>
              <a:t>data/vehicle/joystick/</a:t>
            </a:r>
          </a:p>
          <a:p>
            <a:pPr lvl="1"/>
            <a:r>
              <a:rPr sz="1800">
                <a:latin typeface="Consolas"/>
              </a:rPr>
              <a:t>controller_XboxOneForWindows.json</a:t>
            </a:r>
          </a:p>
          <a:p>
            <a:pPr lvl="1"/>
            <a:r>
              <a:rPr sz="1800">
                <a:latin typeface="Consolas"/>
              </a:rPr>
              <a:t>controller_LogitechRumblePad2.json</a:t>
            </a:r>
          </a:p>
          <a:p>
            <a:pPr lvl="1"/>
            <a:r>
              <a:rPr sz="1800">
                <a:latin typeface="Consolas"/>
              </a:rPr>
              <a:t>controller_WheelPedalsAndShifters.json</a:t>
            </a:r>
          </a:p>
          <a:p>
            <a:pPr lvl="1"/>
            <a:r>
              <a:rPr sz="1800">
                <a:latin typeface="Consolas"/>
              </a:rPr>
              <a:t>controller_Default.json</a:t>
            </a:r>
            <a:r>
              <a:rPr sz="2000"/>
              <a:t> - or write your own</a:t>
            </a:r>
          </a:p>
          <a:p>
            <a:pPr/>
            <a:r>
              <a:rPr sz="1800">
                <a:latin typeface="Consolas"/>
              </a:rPr>
              <a:t>SetJoystickDebug(True)</a:t>
            </a:r>
            <a:r>
              <a:rPr sz="2000"/>
              <a:t> prints live axis/button numbers twice a second - the same job probe_gamepad.py used to do, built 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gamepad/wheel driver (Lines 309 to 316)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21300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elif INPUT_SOURCE == "gamepad":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### PART 3: a gamepad or wheel - same driver class as keyboard ###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SetInputMode(JOYSTICK) switches ChInteractiveDriver from reading the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Irrlicht window's keyboard to reading the joystick vis configures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below.  Smoothing (SetGains) applies the same way either mode.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driver = veh.ChInteractiveDriver(vehicle)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driver.SetGains(4.0, 4.0, 4.0)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driver.SetInputMode(driver.InputMode_JOYSTICK)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3280000"/>
            <a:ext cx="11392000" cy="400000"/>
          </a:xfrm>
          <a:prstGeom prst="rect">
            <a:avLst/>
          </a:prstGeom>
          <a:noFill/>
        </p:spPr>
        <p:txBody>
          <a:bodyPr/>
          <a:lstStyle/>
          <a:p>
            <a:r>
              <a:rPr sz="1800"/>
              <a:t>Same ChInteractiveDriver class as keyboard - just a different input mode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Wire up the joystick (Lines 341 to 345)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14250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if INPUT_SOURCE in ("keyboard", "gamepad"):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vis.AttachDriver(driver)  # route Irrlicht key/joystick events to the driver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if INPUT_SOURCE == "gamepad":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vis.SetJoystickConfigFile(JOYSTICK_CONFIG)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vis.SetJoystickDebug(JOYSTICK_DEBUG)  # prints live axis/button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2575000"/>
            <a:ext cx="11392000" cy="400000"/>
          </a:xfrm>
          <a:prstGeom prst="rect">
            <a:avLst/>
          </a:prstGeom>
          <a:noFill/>
        </p:spPr>
        <p:txBody>
          <a:bodyPr/>
          <a:lstStyle/>
          <a:p>
            <a:r>
              <a:rPr sz="1800"/>
              <a:t>JOYSTICK_CONFIG and JOYSTICK_DEBUG live in CONFIGURATION, next to VEHICLE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3302"/>
              <a:t>Before running the code, please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Set INPUT_SOURCE = "gamepad" (Line 440), keep REALTIME = "vehicle"</a:t>
            </a:r>
          </a:p>
          <a:p>
            <a:pPr/>
            <a:r>
              <a:rPr sz="2000"/>
              <a:t>Plug in a gamepad or wheel; set JOYSTICK_CONFIG to the preset that matches it</a:t>
            </a:r>
          </a:p>
          <a:p>
            <a:pPr/>
            <a:r>
              <a:rPr sz="2000"/>
              <a:t>No matching preset? Set </a:t>
            </a:r>
            <a:r>
              <a:rPr sz="1800">
                <a:latin typeface="Consolas"/>
              </a:rPr>
              <a:t>JOYSTICK_DEBUG = True</a:t>
            </a:r>
            <a:r>
              <a:rPr sz="2000"/>
              <a:t> first and move one control at a time to read off the axis/button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3302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Volunteer: drive the HMMWV with a gamepad or wheel - no second terminal, no pygame window</a:t>
            </a:r>
          </a:p>
          <a:p>
            <a:pPr/>
            <a:r>
              <a:rPr sz="2000"/>
              <a:t>Compare the feel against Part 2's keyboard: same SetGains() smoothing, continuous analog input instead of discrete keypresses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4: A device Chrono doesn't know about, and closing the loop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UDP console, a gamepad, a steering wheel, a phone, another process...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4's architecture: two processes, one UDP contract</a:t>
            </a:r>
          </a:p>
        </p:txBody>
      </p:sp>
      <p:sp>
        <p:nvSpPr>
          <p:cNvPr id="3" name="Box 3"/>
          <p:cNvSpPr/>
          <p:nvPr/>
        </p:nvSpPr>
        <p:spPr>
          <a:xfrm>
            <a:off x="700000" y="2600000"/>
            <a:ext cx="4300000" cy="1450000"/>
          </a:xfrm>
          <a:prstGeom prst="roundRect">
            <a:avLst/>
          </a:prstGeom>
          <a:solidFill>
            <a:srgbClr val="1F3864"/>
          </a:solidFill>
          <a:ln w="12700">
            <a:solidFill>
              <a:srgbClr val="0B1E3F"/>
            </a:solidFill>
          </a:ln>
        </p:spPr>
        <p:txBody>
          <a:bodyPr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Operator machine</a:t>
            </a:r>
          </a:p>
          <a:p>
            <a:pPr algn="ctr"/>
            <a:r>
              <a:rPr sz="1800">
                <a:solidFill>
                  <a:srgbClr val="FFFFFF"/>
                </a:solidFill>
              </a:rPr>
              <a:t>operator_console.py</a:t>
            </a:r>
          </a:p>
        </p:txBody>
      </p:sp>
      <p:sp>
        <p:nvSpPr>
          <p:cNvPr id="4" name="Box 4"/>
          <p:cNvSpPr/>
          <p:nvPr/>
        </p:nvSpPr>
        <p:spPr>
          <a:xfrm>
            <a:off x="7192000" y="2600000"/>
            <a:ext cx="4300000" cy="1450000"/>
          </a:xfrm>
          <a:prstGeom prst="roundRect">
            <a:avLst/>
          </a:prstGeom>
          <a:solidFill>
            <a:srgbClr val="1F3864"/>
          </a:solidFill>
          <a:ln w="12700">
            <a:solidFill>
              <a:srgbClr val="0B1E3F"/>
            </a:solidFill>
          </a:ln>
        </p:spPr>
        <p:txBody>
          <a:bodyPr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Simulation machine</a:t>
            </a:r>
          </a:p>
          <a:p>
            <a:pPr algn="ctr"/>
            <a:r>
              <a:rPr sz="1800">
                <a:solidFill>
                  <a:srgbClr val="FFFFFF"/>
                </a:solidFill>
              </a:rPr>
              <a:t>tutorial_HIL_driver.py</a:t>
            </a:r>
          </a:p>
        </p:txBody>
      </p:sp>
      <p:sp>
        <p:nvSpPr>
          <p:cNvPr id="5" name="Label 5"/>
          <p:cNvSpPr txBox="1"/>
          <p:nvPr/>
        </p:nvSpPr>
        <p:spPr>
          <a:xfrm>
            <a:off x="5000000" y="1950000"/>
            <a:ext cx="2192000" cy="500000"/>
          </a:xfrm>
          <a:prstGeom prst="rect">
            <a:avLst/>
          </a:prstGeom>
          <a:noFill/>
        </p:spPr>
        <p:txBody>
          <a:bodyPr anchor="ctr" wrap="square"/>
          <a:lstStyle/>
          <a:p>
            <a:pPr algn="ctr"/>
            <a:r>
              <a:rPr sz="1600" b="1">
                <a:solidFill>
                  <a:srgbClr val="1F3864"/>
                </a:solidFill>
              </a:rPr>
              <a:t>→ </a:t>
            </a:r>
            <a:r>
              <a:rPr sz="1600">
                <a:solidFill>
                  <a:srgbClr val="1F3864"/>
                </a:solidFill>
              </a:rPr>
              <a:t>steering, throttle, braking</a:t>
            </a:r>
          </a:p>
        </p:txBody>
      </p:sp>
      <p:sp>
        <p:nvSpPr>
          <p:cNvPr id="6" name="Label 6"/>
          <p:cNvSpPr txBox="1"/>
          <p:nvPr/>
        </p:nvSpPr>
        <p:spPr>
          <a:xfrm>
            <a:off x="5000000" y="4150000"/>
            <a:ext cx="2192000" cy="700000"/>
          </a:xfrm>
          <a:prstGeom prst="rect">
            <a:avLst/>
          </a:prstGeom>
          <a:noFill/>
        </p:spPr>
        <p:txBody>
          <a:bodyPr anchor="ctr" wrap="square"/>
          <a:lstStyle/>
          <a:p>
            <a:pPr algn="ctr"/>
            <a:r>
              <a:rPr sz="1600">
                <a:solidFill>
                  <a:srgbClr val="808080"/>
                </a:solidFill>
              </a:rPr>
              <a:t>speed, RTF, lateral accel</a:t>
            </a:r>
            <a:r>
              <a:rPr sz="1600" b="1">
                <a:solidFill>
                  <a:srgbClr val="808080"/>
                </a:solidFill>
              </a:rPr>
              <a:t> ←</a:t>
            </a:r>
          </a:p>
        </p:txBody>
      </p:sp>
      <p:sp>
        <p:nvSpPr>
          <p:cNvPr id="7" name="TextBox note"/>
          <p:cNvSpPr txBox="1"/>
          <p:nvPr/>
        </p:nvSpPr>
        <p:spPr>
          <a:xfrm>
            <a:off x="700000" y="5250000"/>
            <a:ext cx="10792000" cy="7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1600"/>
              <a:t>Both directions are plain UDP datagrams - two processes, possibly two machines, no shared memory. The grey arrow only fires when SEND_FEEDBACK = True.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The human-in-the-loop contract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A driver is just three floats per step: steering [-1, 1], throttle [0, 1], braking [0, 1]</a:t>
            </a:r>
          </a:p>
          <a:p>
            <a:pPr/>
            <a:r>
              <a:rPr sz="1800">
                <a:latin typeface="Consolas"/>
              </a:rPr>
              <a:t>veh.ChDriver</a:t>
            </a:r>
            <a:r>
              <a:rPr sz="2000"/>
              <a:t> is the plain container: </a:t>
            </a:r>
            <a:r>
              <a:rPr sz="1800">
                <a:latin typeface="Consolas"/>
              </a:rPr>
              <a:t>SetSteering()</a:t>
            </a:r>
            <a:r>
              <a:rPr sz="2000"/>
              <a:t>, </a:t>
            </a:r>
            <a:r>
              <a:rPr sz="1800">
                <a:latin typeface="Consolas"/>
              </a:rPr>
              <a:t>SetThrottle()</a:t>
            </a:r>
            <a:r>
              <a:rPr sz="2000"/>
              <a:t>, </a:t>
            </a:r>
            <a:r>
              <a:rPr sz="1800">
                <a:latin typeface="Consolas"/>
              </a:rPr>
              <a:t>SetBraking()</a:t>
            </a:r>
          </a:p>
          <a:p>
            <a:pPr/>
            <a:r>
              <a:rPr sz="2000"/>
              <a:t>So the recipe for ANY device is:</a:t>
            </a:r>
          </a:p>
          <a:p>
            <a:pPr lvl="1"/>
            <a:r>
              <a:rPr sz="1800"/>
              <a:t>1. poll the device (never block the physics loop)</a:t>
            </a:r>
          </a:p>
          <a:p>
            <a:pPr lvl="1"/>
            <a:r>
              <a:rPr sz="1800"/>
              <a:t>2. rate-limit / smooth (a human arm is not a step function)</a:t>
            </a:r>
          </a:p>
          <a:p>
            <a:pPr lvl="1"/>
            <a:r>
              <a:rPr sz="1800"/>
              <a:t>3. write into the ChDriver once per step - zero-order hold until the next step</a:t>
            </a:r>
          </a:p>
          <a:p>
            <a:pPr/>
            <a:r>
              <a:rPr sz="2000"/>
              <a:t>Today: a UDP operator console everybody can run (two terminals)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1: Smooth - never teleport raw inputs into the model (Lines 100 to 133)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980000"/>
            <a:ext cx="12192000" cy="4983475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900">
                <a:solidFill>
                  <a:srgbClr val="CCCCCC"/>
                </a:solidFill>
                <a:latin typeface="Consolas"/>
              </a:rPr>
              <a:t>class SmoothedInputs: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"""First-order lag from a *target* input to the *applied* input.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Raw device values should not be teleported into the model: a keypress is a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step function, and a step in steering excites the suspension and tires in a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way no human arm ever would.  This mirrors the internal dynamics of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ChInteractiveDriver (see SetGains) so the behavior is the same whether the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inputs come from the Irrlicht keyboard handler or from our own device.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"""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def __init__(self, gain=4.0):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self.gain = gain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self.steering = 0.0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self.throttle = 0.0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self.braking = 0.0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self.target = (0.0, 0.0, 0.0)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def set_target(self, steering, throttle, braking):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self.target = (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max(-1.0, min(1.0, steering)),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max(0.0, min(1.0, throttle)),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max(0.0, min(1.0, braking)),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def advance(self, step):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s, t, b = self.target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self.steering += min(1.0, self.gain * step) * (s - self.steering)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self.throttle += min(1.0, self.gain * step) * (t - self.throttle)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self.braking += min(1.0, self.gain * step) * (b - self.braking)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def apply_to(self, driver):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driver.SetSteering(self.steering)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driver.SetThrottle(self.throttle)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driver.SetBraking(self.braking)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6003475"/>
            <a:ext cx="11392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/>
              <a:t>Same first-order lag as ChInteractiveDriver::SetGains, in Python, so all devices behave alike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2: A UDP input source (Lines 136 to 169)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980000"/>
            <a:ext cx="12192000" cy="484109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900">
                <a:solidFill>
                  <a:srgbClr val="CCCCCC"/>
                </a:solidFill>
                <a:latin typeface="Consolas"/>
              </a:rPr>
              <a:t>class UdpInput: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"""Receive 'steering,throttle,braking' text datagrams from an operator.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Run operator_console.py in another terminal (or on another machine) and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drive with the arrow keys there.  The socket is non-blocking: the physics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loop never waits for the operator.  If no packet arrived since the last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step, the previous target is held (zero-order hold).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"""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def __init__(self, port=9870):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self.sock = socket.socket(socket.AF_INET, socket.SOCK_DGRAM)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self.sock.bind(("0.0.0.0", port))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self.sock.setblocking(False)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self.operator_addr = None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self.last = (0.0, 0.0, 0.0)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self.packets = 0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print(f"[udp] listening on port {port} - start operator_console.py")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def poll(self):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# Drain everything that is queued and keep only the newest packet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while True: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try: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data, addr = self.sock.recvfrom(256)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except BlockingIOError: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break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try: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s, t, b = (float(x) for x in data.decode().split(","))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self.last = (s, t, b)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self.operator_addr = addr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self.packets += 1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except ValueError: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pass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return self.last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5861090"/>
            <a:ext cx="11392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/>
              <a:t>Non-blocking socket, drained every step; the newest packet wins, an empty queue holds the last value</a:t>
            </a:r>
          </a:p>
          <a:p>
            <a:pPr/>
            <a:r>
              <a:rPr sz="1600"/>
              <a:t>The operator can be anywhere on the network - and the console has no Chrono dependency at 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t>Step 3: The operator side - operator_console.py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1000000"/>
            <a:ext cx="12192000" cy="4226538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200">
                <a:solidFill>
                  <a:srgbClr val="CCCCCC"/>
                </a:solidFill>
                <a:latin typeface="Consolas"/>
              </a:rPr>
              <a:t># --- keyboard -&gt; target inputs ------------------------------------------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keys = pygame.key.get_pressed()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if keys[pygame.K_LEFT]: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steering = min(1.0, steering + STEER_RATE * dt)     # +1 = left in Chrono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elif keys[pygame.K_RIGHT]: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steering = max(-1.0, steering - STEER_RATE * dt)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else:  # self-center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steering -= max(-STEER_RETURN * dt, min(STEER_RETURN * dt, steering))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if keys[pygame.K_UP]: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throttle = min(1.0, throttle + PEDAL_RATE * dt)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braking = 0.0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elif keys[pygame.K_DOWN]: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braking = min(1.0, braking + PEDAL_RATE * dt)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throttle = 0.0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else: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throttle = max(0.0, throttle - PEDAL_RATE * dt)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braking = max(0.0, braking - PEDAL_RATE * dt)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if keys[pygame.K_SPACE]: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steering, throttle, braking = 0.0, 0.0, 0.0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# --- send to the simulation ---------------------------------------------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sock.sendto(f"{steering:.3f},{throttle:.3f},{braking:.3f}".encode(), (SIM_HOST, SIM_PORT))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0000" y="5376538"/>
            <a:ext cx="1139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A pygame window: hold the arrow keys, send </a:t>
            </a:r>
            <a:r>
              <a:rPr sz="1600">
                <a:latin typeface="Consolas"/>
              </a:rPr>
              <a:t>steering,throttle,braking</a:t>
            </a:r>
            <a:r>
              <a:rPr sz="1800"/>
              <a:t> at 50 Hz</a:t>
            </a:r>
          </a:p>
          <a:p>
            <a:pPr/>
            <a:r>
              <a:rPr sz="1800"/>
              <a:t>Swap this for a web page, a ROS node, or a driving-simulator cockpit - the sim does not care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4: Plug the device into a plain ChDriver (Lines 318 to 327)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276352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else: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### PART 4: a device Chrono doesn't know about writes into a plain ChDriver ###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driver = veh.ChDriver(vehicle)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if INPUT_SOURCE == "udp":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device = UdpInput(port=UDP_PORT)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else: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raise ValueError(f"unknown INPUT_SOURCE {INPUT_SOURCE!r}")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smoother = SmoothedInputs(gain=4.0)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driver.Initialize()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3913520"/>
            <a:ext cx="11392000" cy="254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No AttachDriver here - the Irrlicht window keeps the keyboard, our device owns the inputs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5: Sample once per step, then hold (Lines 384 to 393)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23368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PART 4: sample the device ONCE per step and hold it for the step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if device is not None: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smoother.set_target(*device.poll())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smoother.advance(step_size)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smoother.apply_to(driver)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Get driver inputs (three floats) - this is the whole human-in-the-loop contract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driver_inputs = driver.GetInputs()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3486800"/>
            <a:ext cx="11392000" cy="297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poll -&gt; smooth -&gt; write, then GetInputs() as before; the physics loop never waits on the device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Before running the code, please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Set INPUT_SOURCE = "udp" (Line 386), keep REALTIME = "vehicle"</a:t>
            </a:r>
          </a:p>
          <a:p>
            <a:pPr/>
            <a:r>
              <a:rPr sz="2000"/>
              <a:t>Terminal 1: </a:t>
            </a:r>
            <a:r>
              <a:rPr sz="1800">
                <a:latin typeface="Consolas"/>
              </a:rPr>
              <a:t>python tutorial_HIL_driver.py</a:t>
            </a:r>
          </a:p>
          <a:p>
            <a:pPr/>
            <a:r>
              <a:rPr sz="2000"/>
              <a:t>Terminal 2: </a:t>
            </a:r>
            <a:r>
              <a:rPr sz="1800">
                <a:latin typeface="Consolas"/>
              </a:rPr>
              <a:t>python operator_console.py</a:t>
            </a:r>
            <a:r>
              <a:rPr sz="2000"/>
              <a:t> (or </a:t>
            </a:r>
            <a:r>
              <a:rPr sz="1800">
                <a:latin typeface="Consolas"/>
              </a:rPr>
              <a:t>python operator_console.py &lt;ip of terminal 1&gt;</a:t>
            </a:r>
            <a:r>
              <a:rPr sz="2000"/>
              <a:t> from another laptop)</a:t>
            </a:r>
          </a:p>
          <a:p>
            <a:pPr/>
            <a:r>
              <a:rPr sz="2000"/>
              <a:t>Click the operator console window and drive with the arrow keys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Pair up: one laptop runs the sim, the other runs the console and drives it over Wi-Fi</a:t>
            </a:r>
          </a:p>
          <a:p>
            <a:pPr/>
            <a:r>
              <a:rPr sz="2000"/>
              <a:t>Stop the console mid-drive: the last input is held - what should a real simulator do here?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1: Send state back at render rate (Lines 413 to 417)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148336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400">
                <a:solidFill>
                  <a:srgbClr val="CCCCCC"/>
                </a:solidFill>
                <a:latin typeface="Consolas"/>
              </a:rPr>
              <a:t># PART 4: feedback to the operator (speed, RTF, lateral acceleration, applied inputs)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if SEND_FEEDBACK and device is not None and step_number % render_steps == 0: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acc = vehicle.GetPointAcceleration(chrono.ChVector3d(0, 0, 0))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device.send_feedback(f"{sim_time:.3f},{vehicle.GetSpeed():.3f},{vehicle.GetRTF():.3f},{acc.y:.3f},"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                 f"{driver_inputs.m_steering:.3f},{driver_inputs.m_throttle:.3f},{driver_inputs.m_braking:.3f}")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2633360"/>
            <a:ext cx="11392000" cy="382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Speed, RTF and lateral acceleration go back to whoever sent us inputs (UdpInput remembers the address)</a:t>
            </a:r>
          </a:p>
          <a:p>
            <a:pPr/>
            <a:r>
              <a:rPr sz="1800"/>
              <a:t>Send at render rate (50 Hz), not at every physics step - the human cannot use 333 Hz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t>Step 2: Show it on the console - operator_console.py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1000000"/>
            <a:ext cx="12192000" cy="169672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400">
                <a:solidFill>
                  <a:srgbClr val="CCCCCC"/>
                </a:solidFill>
                <a:latin typeface="Consolas"/>
              </a:rPr>
              <a:t># --- PART 4: receive telemetry ------------------------------------------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while True: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try: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data, _ = sock.recvfrom(256)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telemetry = tuple(float(x) for x in data.decode().split(","))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# (sim time, speed, RTF, lateral acc, applied steering, throttle, braking)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except (BlockingIOError, ValueError):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Before running the code, please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Set SEND_FEEDBACK = True (Line 392)</a:t>
            </a:r>
          </a:p>
          <a:p>
            <a:pPr/>
            <a:r>
              <a:rPr sz="2000"/>
              <a:t>Restart both scripts; the console now shows speed, sim time, RTF and lateral acceleration</a:t>
            </a:r>
          </a:p>
          <a:p>
            <a:pPr/>
            <a:r>
              <a:rPr sz="2000"/>
              <a:t>With a wheel: this is where force feedback torque would be computed from the lateral acceleration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5: Choose your car, customize the overlay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Bonus material: the car picker and overlay flags are nice-to-haves. Parts 1 and 4 are the patterns worth taking with you.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3302"/>
              <a:t>One interface, many vehicles - and a HUD you don't have to build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Every full-vehicle model in Chrono::Vehicle (HMMWV_Full, Sedan, UAZBUS, Gator, ...) shares the same interface</a:t>
            </a:r>
          </a:p>
          <a:p>
            <a:pPr/>
            <a:r>
              <a:rPr sz="1800">
                <a:latin typeface="Consolas"/>
              </a:rPr>
              <a:t>GetVehicle()</a:t>
            </a:r>
            <a:r>
              <a:rPr sz="2000"/>
              <a:t> / </a:t>
            </a:r>
            <a:r>
              <a:rPr sz="1800">
                <a:latin typeface="Consolas"/>
              </a:rPr>
              <a:t>GetSystem()</a:t>
            </a:r>
            <a:r>
              <a:rPr sz="2000"/>
              <a:t> / </a:t>
            </a:r>
            <a:r>
              <a:rPr sz="1800">
                <a:latin typeface="Consolas"/>
              </a:rPr>
              <a:t>Synchronize()</a:t>
            </a:r>
            <a:r>
              <a:rPr sz="2000"/>
              <a:t> / </a:t>
            </a:r>
            <a:r>
              <a:rPr sz="1800">
                <a:latin typeface="Consolas"/>
              </a:rPr>
              <a:t>Advance()</a:t>
            </a:r>
            <a:r>
              <a:rPr sz="2000"/>
              <a:t> - the same four calls no matter which model you picked</a:t>
            </a:r>
          </a:p>
          <a:p>
            <a:pPr/>
            <a:r>
              <a:rPr sz="2000"/>
              <a:t>VEHICLE picks the model; build_vehicle() is the only place that knows the differences (init height, extra setup calls)</a:t>
            </a:r>
          </a:p>
          <a:p>
            <a:pPr/>
            <a:r>
              <a:rPr sz="2000"/>
              <a:t>The Irrlicht window already ships with an on-screen HUD, plus Chrono's own tabbed info panel and a profiler</a:t>
            </a:r>
          </a:p>
          <a:p>
            <a:pPr/>
            <a:r>
              <a:rPr sz="2000"/>
              <a:t>None of it is hand-drawn - add or remove pieces with flags on vis, no custom overlay needed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you'll actually see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43</a:t>
            </a:r>
          </a:p>
        </p:txBody>
      </p:sp>
      <p:pic>
        <p:nvPicPr>
          <p:cNvPr id="6" name="Picture 5" descr="vehicle_gr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9541" y="1150000"/>
            <a:ext cx="6592917" cy="5400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Choose your car (Lines 256 to 264)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23650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def main():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-----------------------------------------------------------------------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Create the vehicle (PART 5) and initialize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-----------------------------------------------------------------------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vehicle_model, chase_dist = build_vehicle(VEHICLE)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vehicle = vehicle_model.GetVehicle()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system = vehicle_model.GetSystem()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system.SetCollisionSystemType(chrono.ChCollisionSystem.Type_BULLET)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3515000"/>
            <a:ext cx="11392000" cy="400000"/>
          </a:xfrm>
          <a:prstGeom prst="rect">
            <a:avLst/>
          </a:prstGeom>
          <a:noFill/>
        </p:spPr>
        <p:txBody>
          <a:bodyPr/>
          <a:lstStyle/>
          <a:p>
            <a:r>
              <a:rPr sz="1800"/>
              <a:t>VEHICLE lives in CONFIGURATION - "hmmwv" | "sedan" | "uazbus" | "gator"; everything below this line is unchanged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Add or remove overlay pieces (Lines 347 to 354)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21300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# PART 5: the built-in overlay - nothing here is hand-drawn, every piece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is a flag or a method on `vis` itself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vis.EnableStats(SHOW_VEHICLE_HUD)        # speed/steering/throttle/brake panel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vis.SetHUDLocation(*HUD_CORNER)          # where that panel sits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vis.ShowInfoPanel(SHOW_SIM_INFO_PANEL)   # Chrono's own tabbed info panel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                              # (bodies, contacts, timers); also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                              # toggles live with the 'i' key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vis.ShowProfiler(SHOW_PROFILER)          # per-module timing bars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3280000"/>
            <a:ext cx="11392000" cy="400000"/>
          </a:xfrm>
          <a:prstGeom prst="rect">
            <a:avLst/>
          </a:prstGeom>
          <a:noFill/>
        </p:spPr>
        <p:txBody>
          <a:bodyPr/>
          <a:lstStyle/>
          <a:p>
            <a:r>
              <a:rPr sz="1800"/>
              <a:t>SHOW_VEHICLE_HUD, HUD_CORNER, SHOW_SIM_INFO_PANEL, SHOW_PROFILER all live in CONFIGURATION, right next to VEHICLE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3302"/>
              <a:t>Before running the code, please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Set VEHICLE = "uazbus" (or "sedan", "gator") and re-run - same driver, same terrain, very different vehicle</a:t>
            </a:r>
          </a:p>
          <a:p>
            <a:pPr/>
            <a:r>
              <a:rPr sz="2000"/>
              <a:t>Set SHOW_SIM_INFO_PANEL = True, then press the </a:t>
            </a:r>
            <a:r>
              <a:rPr sz="1800">
                <a:latin typeface="Consolas"/>
              </a:rPr>
              <a:t>i</a:t>
            </a:r>
            <a:r>
              <a:rPr sz="2000"/>
              <a:t> key while the sim is running - same panel, two ways to reach it</a:t>
            </a:r>
          </a:p>
          <a:p>
            <a:pPr/>
            <a:r>
              <a:rPr sz="2000"/>
              <a:t>Try SHOW_VEHICLE_HUD = False - the 3D scene doesn't care, only the panel disappears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3302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Everyone picks a different VEHICLE and compares how the same scripted course drives an HMMWV vs. a bus vs. a Gator</a:t>
            </a:r>
          </a:p>
          <a:p>
            <a:pPr/>
            <a:r>
              <a:rPr sz="2000"/>
              <a:t>Toggle SHOW_VEHICLE_HUD / SHOW_SIM_INFO_PANEL live and watch the overlay change - nothing was re-rendered by hand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47</a:t>
            </a:r>
          </a:p>
        </p:txBody>
      </p:sp>
      <p:pic>
        <p:nvPicPr>
          <p:cNvPr id="6" name="Picture 5" descr="overlay_h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6000" y="3450000"/>
            <a:ext cx="3800000" cy="2571428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Where this goes next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Chrono::HIL (github.com/zzhou292/chrono-HIL): the same three-float interface, scaled up</a:t>
            </a:r>
          </a:p>
          <a:p>
            <a:pPr lvl="1"/>
            <a:r>
              <a:rPr sz="1800"/>
              <a:t>SDL steering wheels with force feedback, cumulative real-time timer, multi-vehicle traffic</a:t>
            </a:r>
          </a:p>
          <a:p>
            <a:pPr lvl="1"/>
            <a:r>
              <a:rPr sz="1800"/>
              <a:t>ROS 2 and Unity bridges, teleoperation over the network, deformable (SCM) terrain</a:t>
            </a:r>
          </a:p>
          <a:p>
            <a:pPr/>
            <a:r>
              <a:rPr sz="2000"/>
              <a:t>Chrono::Sensor: cameras/lidar rendered from the vehicle for the operator's screen</a:t>
            </a:r>
          </a:p>
          <a:p>
            <a:pPr/>
            <a:r>
              <a:rPr sz="2000"/>
              <a:t>Chrono::Synchrono: several humans in the same world, each on their own machine</a:t>
            </a:r>
          </a:p>
          <a:p>
            <a:pPr/>
            <a:r>
              <a:rPr sz="2000"/>
              <a:t>Takeaways</a:t>
            </a:r>
          </a:p>
          <a:p>
            <a:pPr lvl="1"/>
            <a:r>
              <a:rPr sz="1800"/>
              <a:t>Real time in Chrono is soft: spin once per step, and measure the drift</a:t>
            </a:r>
          </a:p>
          <a:p>
            <a:pPr lvl="1"/>
            <a:r>
              <a:rPr sz="1800"/>
              <a:t>The human interface is three floats per step, sampled once and smoothed</a:t>
            </a:r>
          </a:p>
          <a:p>
            <a:pPr lvl="1"/>
            <a:r>
              <a:rPr sz="1800"/>
              <a:t>Never let the input device block the physics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Any questions?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/>
              <a:t>Thank you.</a:t>
            </a:r>
          </a:p>
          <a:p>
            <a:pPr/>
            <a:r>
              <a:rPr sz="2000"/>
              <a:t>kasha2@wisc.edu</a:t>
            </a:r>
          </a:p>
          <a:p>
            <a:pPr/>
            <a:r>
              <a:rPr sz="2000"/>
              <a:t>Simulation-Based Engineering Lab</a:t>
            </a:r>
          </a:p>
          <a:p>
            <a:pPr/>
            <a:r>
              <a:rPr sz="2000"/>
              <a:t>University of Wisconsin - Madison</a:t>
            </a:r>
          </a:p>
          <a:p>
            <a:pPr/>
          </a:p>
          <a:p>
            <a:pPr/>
            <a:r>
              <a:rPr sz="2000"/>
              <a:t>Lab website: http://sbel.wisc.edu</a:t>
            </a:r>
          </a:p>
          <a:p>
            <a:pPr/>
            <a:r>
              <a:rPr sz="2000"/>
              <a:t>Chrono website: http://www.projectchrono.org</a:t>
            </a:r>
          </a:p>
          <a:p>
            <a:pPr/>
            <a:r>
              <a:rPr sz="2000"/>
              <a:t>Source code: https://github.com/projectchrono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50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Basis">
  <a:themeElements>
    <a:clrScheme name="Basis">
      <a:dk1>
        <a:srgbClr val="000000"/>
      </a:dk1>
      <a:lt1>
        <a:srgbClr val="FFFFFF"/>
      </a:lt1>
      <a:dk2>
        <a:srgbClr val="565349"/>
      </a:dk2>
      <a:lt2>
        <a:srgbClr val="DDDDDD"/>
      </a:lt2>
      <a:accent1>
        <a:srgbClr val="A6B727"/>
      </a:accent1>
      <a:accent2>
        <a:srgbClr val="DF5327"/>
      </a:accent2>
      <a:accent3>
        <a:srgbClr val="FE9E00"/>
      </a:accent3>
      <a:accent4>
        <a:srgbClr val="418AB3"/>
      </a:accent4>
      <a:accent5>
        <a:srgbClr val="D7D447"/>
      </a:accent5>
      <a:accent6>
        <a:srgbClr val="818183"/>
      </a:accent6>
      <a:hlink>
        <a:srgbClr val="F59E00"/>
      </a:hlink>
      <a:folHlink>
        <a:srgbClr val="B2B2B2"/>
      </a:folHlink>
    </a:clrScheme>
    <a:fontScheme name="Basis">
      <a:majorFont>
        <a:latin typeface="Corbel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Basis">
      <a:fillStyleLst>
        <a:solidFill>
          <a:schemeClr val="phClr"/>
        </a:solidFill>
        <a:solidFill>
          <a:schemeClr val="phClr">
            <a:tint val="55000"/>
            <a:satMod val="130000"/>
          </a:schemeClr>
        </a:solidFill>
        <a:gradFill rotWithShape="1">
          <a:gsLst>
            <a:gs pos="0">
              <a:schemeClr val="phClr"/>
            </a:gs>
            <a:gs pos="90000">
              <a:schemeClr val="phClr">
                <a:shade val="100000"/>
                <a:satMod val="105000"/>
              </a:schemeClr>
            </a:gs>
            <a:gs pos="100000">
              <a:schemeClr val="phClr">
                <a:shade val="80000"/>
                <a:satMod val="12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00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53975" cap="flat" cmpd="dbl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"/>
          </a:scene3d>
          <a:sp3d extrusionH="12700" contourW="25400" prstMaterial="flat">
            <a:bevelT w="63500" h="152400" prst="angle"/>
            <a:contourClr>
              <a:schemeClr val="phClr">
                <a:shade val="27000"/>
                <a:satMod val="12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95000"/>
            <a:satMod val="140000"/>
          </a:schemeClr>
        </a:solidFill>
        <a:solidFill>
          <a:schemeClr val="phClr">
            <a:tint val="90000"/>
            <a:shade val="85000"/>
            <a:satMod val="160000"/>
            <a:lumMod val="11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sis" id="{5665723A-49BA-4B57-8411-A56F8F207965}" vid="{ACC63D00-1EE0-4159-BF5A-6FF02000B71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27575</TotalTime>
  <Words>5588</Words>
  <Application>Microsoft Office PowerPoint</Application>
  <PresentationFormat>Widescreen</PresentationFormat>
  <Paragraphs>655</Paragraphs>
  <Slides>46</Slides>
  <Notes>2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50" baseType="lpstr">
      <vt:lpstr>Calibri</vt:lpstr>
      <vt:lpstr>Consolas</vt:lpstr>
      <vt:lpstr>Corbel</vt:lpstr>
      <vt:lpstr>1_Basis</vt:lpstr>
      <vt:lpstr>Chrono SENSOR (CAMERA) </vt:lpstr>
      <vt:lpstr>Overview of the camera tutorial</vt:lpstr>
      <vt:lpstr>Before we start ……</vt:lpstr>
      <vt:lpstr>Part 1: Basic Operations</vt:lpstr>
      <vt:lpstr>Scene configuration </vt:lpstr>
      <vt:lpstr>Step 1: Add a matrix of rocks and a ground in the system</vt:lpstr>
      <vt:lpstr>Create a contact shape for each rock (Lines 53 to 70) </vt:lpstr>
      <vt:lpstr>Create a visual shape for each rock  (Lines 72 to 85)</vt:lpstr>
      <vt:lpstr>Create a visual shape for each rock (Lines 87 to 109) </vt:lpstr>
      <vt:lpstr>Create a rock body and assign visual and contact shapes (Lines 111 to 128)</vt:lpstr>
      <vt:lpstr>Add a cuboid ground in the system (Lines 131 to 157)</vt:lpstr>
      <vt:lpstr>Optional: Add a mirror ball in the system (Lines 159 to 177)</vt:lpstr>
      <vt:lpstr>Step 2: Create a sensor manager, and add background and lights</vt:lpstr>
      <vt:lpstr>Set the background (Lines 184 to 195)</vt:lpstr>
      <vt:lpstr>Add lights (Lines 197 to 217)</vt:lpstr>
      <vt:lpstr>Step 3: Add sensors (Lines 219 to 232)</vt:lpstr>
      <vt:lpstr>Step 3: Add sensors (Lines 234 to 245)</vt:lpstr>
      <vt:lpstr>Show Time</vt:lpstr>
      <vt:lpstr>Step 4: Build Camera Filter Graph as Image Processing Modules</vt:lpstr>
      <vt:lpstr>Step 4: Build Camera Filter Graph as image processing modules</vt:lpstr>
      <vt:lpstr>PowerPoint Presentation</vt:lpstr>
      <vt:lpstr>Before running the code, please</vt:lpstr>
      <vt:lpstr>Show Time</vt:lpstr>
      <vt:lpstr>Add a depth camera (Lines 289 to 310)</vt:lpstr>
      <vt:lpstr>Add a segmentation camera  (Lines 312 to 332)</vt:lpstr>
      <vt:lpstr>Before running the code, please</vt:lpstr>
      <vt:lpstr>Show Time</vt:lpstr>
      <vt:lpstr>Step 5: Simulate the system using a loop (Lines 416 to 443)</vt:lpstr>
      <vt:lpstr>Step 5: Simulate the system using a loop (Lines 445 to 450)</vt:lpstr>
      <vt:lpstr>Step 5: Simulate the system using a loop (Lines 452 to 460)</vt:lpstr>
      <vt:lpstr>Before running the code, please</vt:lpstr>
      <vt:lpstr>Show Time</vt:lpstr>
      <vt:lpstr>Part 2: Integrated application - a front-view camera installed on a running VIPER</vt:lpstr>
      <vt:lpstr>Scene Configuration</vt:lpstr>
      <vt:lpstr>Let’s change the code first ……</vt:lpstr>
      <vt:lpstr>Set up mechanical properties of the simulation system</vt:lpstr>
      <vt:lpstr>Add a VIPER rover into the system (Lines 343 to 352)</vt:lpstr>
      <vt:lpstr>Create a VIPER-observing camera (Lines 354 to 369)</vt:lpstr>
      <vt:lpstr>Create a VIPER-observing camera (Lines 370 to 388)</vt:lpstr>
      <vt:lpstr>Create a front-end camera installed on the VIPER (Lines 390 to 413)</vt:lpstr>
      <vt:lpstr>Simulate VIPER dynamics in the simulation loop (Lines 462 to 471) </vt:lpstr>
      <vt:lpstr>Show Time</vt:lpstr>
      <vt:lpstr>Case Study 1: Physics-based Camera Simulator</vt:lpstr>
      <vt:lpstr>Case Study 2: VIPER Simulations in the POLAR-Sim Virtual-World</vt:lpstr>
      <vt:lpstr>Any questions?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sensor_camera</dc:title>
  <dc:creator>Bo-Hsun Chen</dc:creator>
  <cp:lastModifiedBy>Bo-Hsun Chen</cp:lastModifiedBy>
  <cp:revision>747</cp:revision>
  <dcterms:created xsi:type="dcterms:W3CDTF">2020-09-17T18:11:00Z</dcterms:created>
  <dcterms:modified xsi:type="dcterms:W3CDTF">2025-09-09T19:11:52Z</dcterms:modified>
</cp:coreProperties>
</file>