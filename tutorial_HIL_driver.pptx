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300" r:id="rId3"/>
    <p:sldId id="301" r:id="rId2"/>
    <p:sldId id="302" r:id="rId54"/>
    <p:sldId id="303" r:id="rId55"/>
    <p:sldId id="304" r:id="rId56"/>
    <p:sldId id="305" r:id="rId57"/>
    <p:sldId id="276" r:id="rId28"/>
    <p:sldId id="306" r:id="rId3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7" r:id="rId39"/>
    <p:sldId id="288" r:id="rId40"/>
    <p:sldId id="289" r:id="rId41"/>
    <p:sldId id="290" r:id="rId42"/>
    <p:sldId id="294" r:id="rId46"/>
    <p:sldId id="295" r:id="rId47"/>
    <p:sldId id="307" r:id="rId3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47.xml"/><Relationship Id="rId5" Type="http://schemas.openxmlformats.org/officeDocument/2006/relationships/slide" Target="slides/slide46.xml"/><Relationship Id="rId6" Type="http://schemas.openxmlformats.org/officeDocument/2006/relationships/slide" Target="slides/slide45.xml"/><Relationship Id="rId7" Type="http://schemas.openxmlformats.org/officeDocument/2006/relationships/slide" Target="slides/slide44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7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43.xml"/><Relationship Id="rId38" Type="http://schemas.openxmlformats.org/officeDocument/2006/relationships/slide" Target="slides/slide28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8.xml"/><Relationship Id="rId44" Type="http://schemas.openxmlformats.org/officeDocument/2006/relationships/slide" Target="slides/slide49.xml"/><Relationship Id="rId45" Type="http://schemas.openxmlformats.org/officeDocument/2006/relationships/slide" Target="slides/slide5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human-in-the-loop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Read a gamepad or wheel natively - no extra library needed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PART 5: Customize the built-in overlay and choose your car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human-in-the-loop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435 to 453)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"gamepad"   PART 3 - a joystick/wheel, read natively (JOYSTICK_CONFIG below)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"udp"       PART 4 - operator_console.py sends packets over the network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send telemetry back to the operator (udp source only)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284 to 294)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376 to 404)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406 to 412)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357 to 362)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421 to 425)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56 to 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296 to 307)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339 to 342)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A gamepad or wheel, read natively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No pygame, no custom class - Chrono reads the joystick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ChInteractiveDriver already knows how to read a joystick: </a:t>
            </a:r>
            <a:r>
              <a:rPr sz="1800">
                <a:latin typeface="Consolas"/>
              </a:rPr>
              <a:t>SetInputMode(JOYSTICK)</a:t>
            </a:r>
          </a:p>
          <a:p>
            <a:pPr/>
            <a:r>
              <a:rPr sz="2000"/>
              <a:t>A JSON config file maps device axes/buttons to steering/throttle/braking/clutch/shifting - four presets ship with Chrono in </a:t>
            </a:r>
            <a:r>
              <a:rPr sz="1800">
                <a:latin typeface="Consolas"/>
              </a:rPr>
              <a:t>data/vehicle/joystick/</a:t>
            </a:r>
          </a:p>
          <a:p>
            <a:pPr lvl="1"/>
            <a:r>
              <a:rPr sz="1800">
                <a:latin typeface="Consolas"/>
              </a:rPr>
              <a:t>controller_XboxOneForWindows.json</a:t>
            </a:r>
          </a:p>
          <a:p>
            <a:pPr lvl="1"/>
            <a:r>
              <a:rPr sz="1800">
                <a:latin typeface="Consolas"/>
              </a:rPr>
              <a:t>controller_LogitechRumblePad2.json</a:t>
            </a:r>
          </a:p>
          <a:p>
            <a:pPr lvl="1"/>
            <a:r>
              <a:rPr sz="1800">
                <a:latin typeface="Consolas"/>
              </a:rPr>
              <a:t>controller_WheelPedalsAndShifters.json</a:t>
            </a:r>
          </a:p>
          <a:p>
            <a:pPr lvl="1"/>
            <a:r>
              <a:rPr sz="1800">
                <a:latin typeface="Consolas"/>
              </a:rPr>
              <a:t>controller_Default.json</a:t>
            </a:r>
            <a:r>
              <a:rPr sz="2000"/>
              <a:t> - or write your own</a:t>
            </a:r>
          </a:p>
          <a:p>
            <a:pPr/>
            <a:r>
              <a:rPr sz="1800">
                <a:latin typeface="Consolas"/>
              </a:rPr>
              <a:t>SetJoystickDebug(True)</a:t>
            </a:r>
            <a:r>
              <a:rPr sz="2000"/>
              <a:t> prints live axis/button numbers twice a second - the same job probe_gamepad.py used to do,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gamepad/wheel driver (Lines 309 to 316)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3: a gamepad or wheel - same driver class as keyboard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SetInputMode(JOYSTICK) switches ChInteractiveDriver from reading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Irrlicht window's keyboard to reading the joystick vis configures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below.  Smoothing (SetGains) applies the same way either mode.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driver.SetInputMode(driver.InputMode_JOYSTICK)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Same ChInteractiveDriver class as keyboard - just a different input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 up the joystick (Lines 341 to 345)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2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vis.SetJoystickConfigFile(JOYSTICK_CONFIG)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vis.SetJoystickDebug(JOYSTICK_DEBUG)  # prints live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575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JOYSTICK_CONFIG and JOYSTICK_DEBUG live in CONFIGURATION,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"gamepad" (Line 440), keep REALTIME = "vehicle"</a:t>
            </a:r>
          </a:p>
          <a:p>
            <a:pPr/>
            <a:r>
              <a:rPr sz="2000"/>
              <a:t>Plug in a gamepad or wheel; set JOYSTICK_CONFIG to the preset that matches it</a:t>
            </a:r>
          </a:p>
          <a:p>
            <a:pPr/>
            <a:r>
              <a:rPr sz="2000"/>
              <a:t>No matching preset? Set </a:t>
            </a:r>
            <a:r>
              <a:rPr sz="1800">
                <a:latin typeface="Consolas"/>
              </a:rPr>
              <a:t>JOYSTICK_DEBUG = True</a:t>
            </a:r>
            <a:r>
              <a:rPr sz="2000"/>
              <a:t> first and move one control at a time to read off the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 with a gamepad or wheel - no second terminal, no pygame window</a:t>
            </a:r>
          </a:p>
          <a:p>
            <a:pPr/>
            <a:r>
              <a:rPr sz="2000"/>
              <a:t>Compare the feel against Part 2's keyboard: same SetGains() smoothing, continuous analog input instead of discrete keypresses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4's architecture: two processes, one UDP contract</a:t>
            </a:r>
          </a:p>
        </p:txBody>
      </p:sp>
      <p:sp>
        <p:nvSpPr>
          <p:cNvPr id="3" name="Box 3"/>
          <p:cNvSpPr/>
          <p:nvPr/>
        </p:nvSpPr>
        <p:spPr>
          <a:xfrm>
            <a:off x="700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4" name="Box 4"/>
          <p:cNvSpPr/>
          <p:nvPr/>
        </p:nvSpPr>
        <p:spPr>
          <a:xfrm>
            <a:off x="7192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5" name="Label 5"/>
          <p:cNvSpPr txBox="1"/>
          <p:nvPr/>
        </p:nvSpPr>
        <p:spPr>
          <a:xfrm>
            <a:off x="5000000" y="1950000"/>
            <a:ext cx="2192000" cy="5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 b="1">
                <a:solidFill>
                  <a:srgbClr val="1F3864"/>
                </a:solidFill>
              </a:rPr>
              <a:t>→ </a:t>
            </a:r>
            <a:r>
              <a:rPr sz="1600">
                <a:solidFill>
                  <a:srgbClr val="1F3864"/>
                </a:solidFill>
              </a:rPr>
              <a:t>steering, throttle, braking</a:t>
            </a:r>
          </a:p>
        </p:txBody>
      </p:sp>
      <p:sp>
        <p:nvSpPr>
          <p:cNvPr id="6" name="Label 6"/>
          <p:cNvSpPr txBox="1"/>
          <p:nvPr/>
        </p:nvSpPr>
        <p:spPr>
          <a:xfrm>
            <a:off x="5000000" y="4150000"/>
            <a:ext cx="2192000" cy="7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>
                <a:solidFill>
                  <a:srgbClr val="808080"/>
                </a:solidFill>
              </a:rPr>
              <a:t>speed, RTF, lateral accel</a:t>
            </a:r>
            <a:r>
              <a:rPr sz="1600" b="1">
                <a:solidFill>
                  <a:srgbClr val="808080"/>
                </a:solidFill>
              </a:rPr>
              <a:t> ←</a:t>
            </a:r>
          </a:p>
        </p:txBody>
      </p:sp>
      <p:sp>
        <p:nvSpPr>
          <p:cNvPr id="7" name="TextBox note"/>
          <p:cNvSpPr txBox="1"/>
          <p:nvPr/>
        </p:nvSpPr>
        <p:spPr>
          <a:xfrm>
            <a:off x="700000" y="5250000"/>
            <a:ext cx="10792000" cy="7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/>
              <a:t>Both directions are plain UDP datagrams - two processes, possibly two machines, no shared memory. The grey arrow only fires when SEND_FEEDBACK = True.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human-in-the-loop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100 to 133)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80000"/>
            <a:ext cx="12192000" cy="4983475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003475"/>
            <a:ext cx="11392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136 to 169)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80000"/>
            <a:ext cx="12192000" cy="484109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861090"/>
            <a:ext cx="11392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Non-blocking socket, drained every step; the newest packet wins, an empty queue holds the last value</a:t>
            </a:r>
          </a:p>
          <a:p>
            <a:pPr/>
            <a:r>
              <a:rPr sz="16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318 to 327)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4: a device Chrono doesn't know about writes into a plain ChDriver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384 to 393)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413 to 417)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UAZBUS,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you'll actually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  <p:pic>
        <p:nvPicPr>
          <p:cNvPr id="6" name="Picture 5" descr="vehicle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541" y="1150000"/>
            <a:ext cx="6592917" cy="5400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256 to 264)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65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515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"uazbus"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347 to 354)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13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280000"/>
            <a:ext cx="11392000" cy="400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VEHICLE = "uazbus" (or "sedan", "gator") and re-run - same driver, same terrain, very different vehicle</a:t>
            </a:r>
          </a:p>
          <a:p>
            <a:pPr/>
            <a:r>
              <a:rPr sz="2000"/>
              <a:t>Set SHOW_SIM_INFO_PANEL = True, then press the </a:t>
            </a:r>
            <a:r>
              <a:rPr sz="1800">
                <a:latin typeface="Consolas"/>
              </a:rPr>
              <a:t>i</a:t>
            </a:r>
            <a:r>
              <a:rPr sz="2000"/>
              <a:t> key while the sim is running - same panel, two ways to reach it</a:t>
            </a:r>
          </a:p>
          <a:p>
            <a:pPr/>
            <a:r>
              <a:rPr sz="2000"/>
              <a:t>Try 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Everyone picks a different VEHICLE and compares how the same scripted course drives an HMMWV vs. a bus vs. a Gator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47</a:t>
            </a:r>
          </a:p>
        </p:txBody>
      </p:sp>
      <p:pic>
        <p:nvPicPr>
          <p:cNvPr id="6" name="Picture 5" descr="overlay_h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00" y="3450000"/>
            <a:ext cx="3800000" cy="25714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