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making a step cheap enough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All the code is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Demo 1.  </a:t>
            </a:r>
            <a:r>
              <a:rPr sz="1800">
                <a:latin typeface="Consolas"/>
              </a:rPr>
              <a:t>Does the clock matter.</a:t>
            </a:r>
            <a:r>
              <a:rPr sz="2000"/>
              <a:t> The same drive twice, paced and unpaced.</a:t>
            </a:r>
          </a:p>
          <a:p>
            <a:pPr>
              <a:spcAft>
                <a:spcPts val="900"/>
              </a:spcAft>
            </a:pPr>
            <a:r>
              <a:rPr sz="2000"/>
              <a:t>Demo 2.  </a:t>
            </a:r>
            <a:r>
              <a:rPr sz="1800">
                <a:latin typeface="Consolas"/>
              </a:rPr>
              <a:t>A person driving.</a:t>
            </a:r>
            <a:r>
              <a:rPr sz="2000"/>
              <a:t> Keyboard into a vehicle, the textbook case.</a:t>
            </a:r>
          </a:p>
          <a:p>
            <a:pPr>
              <a:spcAft>
                <a:spcPts val="900"/>
              </a:spcAft>
            </a:pPr>
            <a:r>
              <a:rPr sz="2000"/>
              <a:t>Demo 3.  </a:t>
            </a:r>
            <a:r>
              <a:rPr sz="1800">
                <a:latin typeface="Consolas"/>
              </a:rPr>
              <a:t>Reaching in.</a:t>
            </a:r>
            <a:r>
              <a:rPr sz="2000"/>
              <a:t> Drag a quadruped's leg while a trained locomotion policy fights you, and a Franka arm with the motors on or off.</a:t>
            </a:r>
          </a:p>
          <a:p>
            <a:pPr>
              <a:spcAft>
                <a:spcPts val="900"/>
              </a:spcAft>
            </a:pPr>
            <a:r>
              <a:rPr sz="2000"/>
              <a:t>Demo 4.  </a:t>
            </a:r>
            <a:r>
              <a:rPr sz="1800">
                <a:latin typeface="Consolas"/>
              </a:rPr>
              <a:t>How hard can you shove it.</a:t>
            </a:r>
            <a:r>
              <a:rPr sz="2000"/>
              <a:t> A measured impulse at a point you choose, and the magnitude where recovery stops.</a:t>
            </a:r>
          </a:p>
          <a:p>
            <a:pPr>
              <a:spcAft>
                <a:spcPts val="900"/>
              </a:spcAft>
            </a:pPr>
            <a:r>
              <a:rPr sz="2000"/>
              <a:t>The demo numbers are their own: demo 1 closes the clock section, demo 2 the input section, demos 3 and 4 the last one.</a:t>
            </a:r>
          </a:p>
        </p:txBody>
      </p:sp>
      <p:pic>
        <p:nvPicPr>
          <p:cNvPr id="4" name="Picture 3" descr="hmmwv.png"/>
          <p:cNvPicPr>
            <a:picLocks noChangeAspect="1"/>
          </p:cNvPicPr>
          <p:nvPr/>
        </p:nvPicPr>
        <p:blipFill>
          <a:blip r:embed="rId2"/>
          <a:stretch>
            <a:fillRect/>
          </a:stretch>
        </p:blipFill>
        <p:spPr>
          <a:xfrm>
            <a:off x="1511331" y="4702556"/>
            <a:ext cx="2221036" cy="1698244"/>
          </a:xfrm>
          <a:prstGeom prst="rect">
            <a:avLst/>
          </a:prstGeom>
        </p:spPr>
      </p:pic>
      <p:pic>
        <p:nvPicPr>
          <p:cNvPr id="5" name="Picture 4" descr="demo_go2.png"/>
          <p:cNvPicPr>
            <a:picLocks noChangeAspect="1"/>
          </p:cNvPicPr>
          <p:nvPr/>
        </p:nvPicPr>
        <p:blipFill>
          <a:blip r:embed="rId3"/>
          <a:stretch>
            <a:fillRect/>
          </a:stretch>
        </p:blipFill>
        <p:spPr>
          <a:xfrm>
            <a:off x="4006688" y="4702556"/>
            <a:ext cx="2193565" cy="1698244"/>
          </a:xfrm>
          <a:prstGeom prst="rect">
            <a:avLst/>
          </a:prstGeom>
        </p:spPr>
      </p:pic>
      <p:pic>
        <p:nvPicPr>
          <p:cNvPr id="6" name="Picture 5" descr="demo_arm.png"/>
          <p:cNvPicPr>
            <a:picLocks noChangeAspect="1"/>
          </p:cNvPicPr>
          <p:nvPr/>
        </p:nvPicPr>
        <p:blipFill>
          <a:blip r:embed="rId4"/>
          <a:stretch>
            <a:fillRect/>
          </a:stretch>
        </p:blipFill>
        <p:spPr>
          <a:xfrm>
            <a:off x="6474573" y="4702556"/>
            <a:ext cx="1735162" cy="1698244"/>
          </a:xfrm>
          <a:prstGeom prst="rect">
            <a:avLst/>
          </a:prstGeom>
        </p:spPr>
      </p:pic>
      <p:pic>
        <p:nvPicPr>
          <p:cNvPr id="7" name="Picture 6" descr="demo_push.png"/>
          <p:cNvPicPr>
            <a:picLocks noChangeAspect="1"/>
          </p:cNvPicPr>
          <p:nvPr/>
        </p:nvPicPr>
        <p:blipFill>
          <a:blip r:embed="rId5"/>
          <a:stretch>
            <a:fillRect/>
          </a:stretch>
        </p:blipFill>
        <p:spPr>
          <a:xfrm>
            <a:off x="8484055" y="4702556"/>
            <a:ext cx="2193565" cy="1698244"/>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which is what that study measured: how does an operator behave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the definition is settled, so start with the clause that decides whether the other two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(demos/driver/tutorial_HIL_driver.py, lines 728 to 732) ------</a:t>
            </a:r>
          </a:p>
          <a:p>
            <a:pPr>
              <a:spcAft>
                <a:spcPts val="0"/>
              </a:spcAft>
            </a:pPr>
            <a:r>
              <a:rPr sz="1100">
                <a:solidFill>
                  <a:srgbClr val="7FAF7F"/>
                </a:solidFill>
                <a:latin typeface="Consolas"/>
              </a:rPr>
              <a:t># Demo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a:t>
            </a:r>
            <a:r>
              <a:rPr sz="1400">
                <a:latin typeface="Consolas"/>
              </a:rPr>
              <a:t>cumulative</a:t>
            </a:r>
            <a:r>
              <a:rPr sz="1600"/>
              <a:t> mode above.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1: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That demo was the easy half. </a:t>
            </a:r>
            <a:r>
              <a:rPr sz="1800">
                <a:latin typeface="Consolas"/>
              </a:rPr>
              <a:t>Spin(step)</a:t>
            </a:r>
            <a:r>
              <a:rPr sz="2000"/>
              <a:t> hands back time the step did not use, and if the step costs more than </a:t>
            </a:r>
            <a:r>
              <a:rPr sz="1800">
                <a:latin typeface="Consolas"/>
              </a:rPr>
              <a:t>step</a:t>
            </a:r>
            <a:r>
              <a:rPr sz="2000"/>
              <a:t> there is nothing to hand back and no call that changes it.</a:t>
            </a:r>
          </a:p>
          <a:p>
            <a:pPr>
              <a:spcAft>
                <a:spcPts val="900"/>
              </a:spcAft>
            </a:pPr>
            <a:r>
              <a:rPr sz="2000"/>
              <a:t>The budget is fixed: one step of wall clock, minus what you spend drawing, minus what you leave as margin for a bad step. Contacts, solver iterations, terrain and drawing all come out of the same one.</a:t>
            </a:r>
          </a:p>
          <a:p>
            <a:pPr>
              <a:spcAft>
                <a:spcPts val="900"/>
              </a:spcAft>
            </a:pPr>
            <a:r>
              <a:rPr sz="2000"/>
              <a:t>So the hard half is the only half left: make the step cheap enough that there is slack to sleep off in the first place.</a:t>
            </a:r>
          </a:p>
          <a:p>
            <a:pPr>
              <a:spcAft>
                <a:spcPts val="900"/>
              </a:spcAft>
            </a:pPr>
            <a:r>
              <a:rPr sz="2000"/>
              <a:t>What follows is the set of levers Chrono gives you for that, in rough order of how much they usually buy.</a:t>
            </a:r>
          </a:p>
          <a:p>
            <a:pPr>
              <a:spcAft>
                <a:spcPts val="900"/>
              </a:spcAft>
            </a:pPr>
            <a:r>
              <a:rPr sz="2000"/>
              <a:t>Reach for them in that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Requirements 1 and 2: a path in, and a path back</a:t>
            </a:r>
          </a:p>
        </p:txBody>
      </p:sp>
      <p:sp>
        <p:nvSpPr>
          <p:cNvPr id="3" name="Text Placeholder 2"/>
          <p:cNvSpPr>
            <a:spLocks noGrp="1"/>
          </p:cNvSpPr>
          <p:nvPr>
            <p:ph type="body" idx="1"/>
          </p:nvPr>
        </p:nvSpPr>
        <p:spPr/>
        <p:txBody>
          <a:bodyPr/>
          <a:lstStyle/>
          <a:p>
            <a:r>
              <a:t>the clock is held, so now the person needs a way to act on the state and a way to see what happened</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demos 1 and 2, the vehicle</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demos 3 and 4, the drag and the push</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(demos/driver/tutorial_HIL_driver.py, lines 534 to 536)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2743199"/>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Nothing outside Chrono::Vehicle has a driver abstraction, so this</a:t>
            </a:r>
          </a:p>
          <a:p>
            <a:pPr>
              <a:spcAft>
                <a:spcPts val="0"/>
              </a:spcAft>
            </a:pPr>
            <a:r>
              <a:rPr sz="700">
                <a:solidFill>
                  <a:srgbClr val="7FAF7F"/>
                </a:solidFill>
                <a:latin typeface="Consolas"/>
              </a:rPr>
              <a:t># is a pattern rather than an API. Three decisions:</a:t>
            </a:r>
          </a:p>
          <a:p>
            <a:pPr>
              <a:spcAft>
                <a:spcPts val="0"/>
              </a:spcAft>
            </a:pPr>
            <a:r>
              <a:rPr sz="700">
                <a:solidFill>
                  <a:srgbClr val="7FAF7F"/>
                </a:solidFill>
                <a:latin typeface="Consolas"/>
              </a:rPr>
              <a:t>#</a:t>
            </a:r>
          </a:p>
          <a:p>
            <a:pPr>
              <a:spcAft>
                <a:spcPts val="0"/>
              </a:spcAft>
            </a:pPr>
            <a:r>
              <a:rPr sz="700">
                <a:solidFill>
                  <a:srgbClr val="7FAF7F"/>
                </a:solidFill>
                <a:latin typeface="Consolas"/>
              </a:rPr>
              <a:t>#   1. NORMALISE THE INPUT. A few bounded numbers a device produces</a:t>
            </a:r>
          </a:p>
          <a:p>
            <a:pPr>
              <a:spcAft>
                <a:spcPts val="0"/>
              </a:spcAft>
            </a:pPr>
            <a:r>
              <a:rPr sz="700">
                <a:solidFill>
                  <a:srgbClr val="7FAF7F"/>
                </a:solidFill>
                <a:latin typeface="Consolas"/>
              </a:rPr>
              <a:t>#      and a plant consumes, so one console drives any of them.</a:t>
            </a:r>
          </a:p>
          <a:p>
            <a:pPr>
              <a:spcAft>
                <a:spcPts val="0"/>
              </a:spcAft>
            </a:pPr>
            <a:r>
              <a:rPr sz="700">
                <a:solidFill>
                  <a:srgbClr val="7FAF7F"/>
                </a:solidFill>
                <a:latin typeface="Consolas"/>
              </a:rPr>
              <a:t>#   2. BIND THEM TO ACTUATION. The only plant-specific part.</a:t>
            </a:r>
          </a:p>
          <a:p>
            <a:pPr>
              <a:spcAft>
                <a:spcPts val="0"/>
              </a:spcAft>
            </a:pPr>
            <a:r>
              <a:rPr sz="700">
                <a:solidFill>
                  <a:srgbClr val="7FAF7F"/>
                </a:solidFill>
                <a:latin typeface="Consolas"/>
              </a:rPr>
              <a:t>#   3. SEND SOMETHING BACK, or the person is driving open loop.</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Plant:                     </a:t>
            </a:r>
            <a:r>
              <a:rPr sz="700">
                <a:solidFill>
                  <a:srgbClr val="7FAF7F"/>
                </a:solidFill>
                <a:latin typeface="Consolas"/>
              </a:rPr>
              <a:t># every plant, one shape</a:t>
            </a:r>
          </a:p>
          <a:p>
            <a:pPr>
              <a:spcAft>
                <a:spcPts val="0"/>
              </a:spcAft>
            </a:pPr>
            <a:r>
              <a:rPr sz="700">
                <a:solidFill>
                  <a:srgbClr val="CCCCCC"/>
                </a:solidFill>
                <a:latin typeface="Consolas"/>
              </a:rPr>
              <a:t>    def </a:t>
            </a:r>
            <a:r>
              <a:rPr sz="700">
                <a:solidFill>
                  <a:srgbClr val="7FC7E8"/>
                </a:solidFill>
                <a:latin typeface="Consolas"/>
              </a:rPr>
              <a:t>apply</a:t>
            </a:r>
            <a:r>
              <a:rPr sz="700">
                <a:solidFill>
                  <a:srgbClr val="CCCCCC"/>
                </a:solidFill>
                <a:latin typeface="Consolas"/>
              </a:rPr>
              <a:t>(self, inputs):          ...  </a:t>
            </a:r>
            <a:r>
              <a:rPr sz="700">
                <a:solidFill>
                  <a:srgbClr val="7FAF7F"/>
                </a:solidFill>
                <a:latin typeface="Consolas"/>
              </a:rPr>
              <a:t># THE BINDING</a:t>
            </a:r>
          </a:p>
          <a:p>
            <a:pPr>
              <a:spcAft>
                <a:spcPts val="0"/>
              </a:spcAft>
            </a:pPr>
            <a:r>
              <a:rPr sz="700">
                <a:solidFill>
                  <a:srgbClr val="CCCCCC"/>
                </a:solidFill>
                <a:latin typeface="Consolas"/>
              </a:rPr>
              <a:t>    def </a:t>
            </a:r>
            <a:r>
              <a:rPr sz="700">
                <a:solidFill>
                  <a:srgbClr val="7FC7E8"/>
                </a:solidFill>
                <a:latin typeface="Consolas"/>
              </a:rPr>
              <a:t>synchronize</a:t>
            </a:r>
            <a:r>
              <a:rPr sz="700">
                <a:solidFill>
                  <a:srgbClr val="CCCCCC"/>
                </a:solidFill>
                <a:latin typeface="Consolas"/>
              </a:rPr>
              <a:t>(self, t, inputs): ...</a:t>
            </a:r>
          </a:p>
          <a:p>
            <a:pPr>
              <a:spcAft>
                <a:spcPts val="0"/>
              </a:spcAft>
            </a:pPr>
            <a:r>
              <a:rPr sz="700">
                <a:solidFill>
                  <a:srgbClr val="CCCCCC"/>
                </a:solidFill>
                <a:latin typeface="Consolas"/>
              </a:rPr>
              <a:t>    def </a:t>
            </a:r>
            <a:r>
              <a:rPr sz="700">
                <a:solidFill>
                  <a:srgbClr val="7FC7E8"/>
                </a:solidFill>
                <a:latin typeface="Consolas"/>
              </a:rPr>
              <a:t>advance</a:t>
            </a:r>
            <a:r>
              <a:rPr sz="700">
                <a:solidFill>
                  <a:srgbClr val="CCCCCC"/>
                </a:solidFill>
                <a:latin typeface="Consolas"/>
              </a:rPr>
              <a:t>(self, step):          ...</a:t>
            </a:r>
          </a:p>
          <a:p>
            <a:pPr>
              <a:spcAft>
                <a:spcPts val="0"/>
              </a:spcAft>
            </a:pPr>
            <a:r>
              <a:rPr sz="700">
                <a:solidFill>
                  <a:srgbClr val="CCCCCC"/>
                </a:solidFill>
                <a:latin typeface="Consolas"/>
              </a:rPr>
              <a:t>    def </a:t>
            </a:r>
            <a:r>
              <a:rPr sz="700">
                <a:solidFill>
                  <a:srgbClr val="7FC7E8"/>
                </a:solidFill>
                <a:latin typeface="Consolas"/>
              </a:rPr>
              <a:t>speed</a:t>
            </a:r>
            <a:r>
              <a:rPr sz="700">
                <a:solidFill>
                  <a:srgbClr val="CCCCCC"/>
                </a:solidFill>
                <a:latin typeface="Consolas"/>
              </a:rPr>
              <a:t>(self): ...; def </a:t>
            </a:r>
            <a:r>
              <a:rPr sz="700">
                <a:solidFill>
                  <a:srgbClr val="7FC7E8"/>
                </a:solidFill>
                <a:latin typeface="Consolas"/>
              </a:rPr>
              <a:t>status</a:t>
            </a:r>
            <a:r>
              <a:rPr sz="700">
                <a:solidFill>
                  <a:srgbClr val="CCCCCC"/>
                </a:solidFill>
                <a:latin typeface="Consolas"/>
              </a:rPr>
              <a:t>(self): ...</a:t>
            </a:r>
          </a:p>
          <a:p>
            <a:pPr>
              <a:spcAft>
                <a:spcPts val="0"/>
              </a:spcAft>
            </a:pPr>
            <a:r>
              <a:rPr sz="700">
                <a:solidFill>
                  <a:srgbClr val="CCCCCC"/>
                </a:solidFill>
                <a:latin typeface="Consolas"/>
              </a:rPr>
              <a:t> </a:t>
            </a:r>
          </a:p>
          <a:p>
            <a:pPr>
              <a:spcAft>
                <a:spcPts val="0"/>
              </a:spcAft>
            </a:pPr>
            <a:r>
              <a:rPr sz="700">
                <a:solidFill>
                  <a:srgbClr val="7FAF7F"/>
                </a:solidFill>
                <a:latin typeface="Consolas"/>
              </a:rPr>
              <a:t># A crane's entire input surface: two motors and a setpoint each.</a:t>
            </a:r>
          </a:p>
          <a:p>
            <a:pPr>
              <a:spcAft>
                <a:spcPts val="0"/>
              </a:spcAft>
            </a:pPr>
            <a:r>
              <a:rPr sz="700">
                <a:solidFill>
                  <a:srgbClr val="CCCCCC"/>
                </a:solidFill>
                <a:latin typeface="Consolas"/>
              </a:rPr>
              <a:t>self.long_motor = chrono.</a:t>
            </a:r>
            <a:r>
              <a:rPr sz="700">
                <a:solidFill>
                  <a:srgbClr val="F0A040"/>
                </a:solidFill>
                <a:latin typeface="Consolas"/>
              </a:rPr>
              <a:t>ChLinkMotorLinearSpeed</a:t>
            </a:r>
            <a:r>
              <a:rPr sz="700">
                <a:solidFill>
                  <a:srgbClr val="CCCCCC"/>
                </a:solidFill>
                <a:latin typeface="Consolas"/>
              </a:rPr>
              <a:t>()</a:t>
            </a:r>
          </a:p>
          <a:p>
            <a:pPr>
              <a:spcAft>
                <a:spcPts val="0"/>
              </a:spcAft>
            </a:pPr>
            <a:r>
              <a:rPr sz="700">
                <a:solidFill>
                  <a:srgbClr val="CCCCCC"/>
                </a:solidFill>
                <a:latin typeface="Consolas"/>
              </a:rPr>
              <a:t>self.long_speed = chrono.</a:t>
            </a:r>
            <a:r>
              <a:rPr sz="700">
                <a:solidFill>
                  <a:srgbClr val="F0A040"/>
                </a:solidFill>
                <a:latin typeface="Consolas"/>
              </a:rPr>
              <a:t>ChFunctionSetpoint</a:t>
            </a:r>
            <a:r>
              <a:rPr sz="700">
                <a:solidFill>
                  <a:srgbClr val="CCCCCC"/>
                </a:solidFill>
                <a:latin typeface="Consolas"/>
              </a:rPr>
              <a:t>()</a:t>
            </a:r>
          </a:p>
          <a:p>
            <a:pPr>
              <a:spcAft>
                <a:spcPts val="0"/>
              </a:spcAft>
            </a:pPr>
            <a:r>
              <a:rPr sz="700">
                <a:solidFill>
                  <a:srgbClr val="CCCCCC"/>
                </a:solidFill>
                <a:latin typeface="Consolas"/>
              </a:rPr>
              <a:t>self.long_motor.</a:t>
            </a:r>
            <a:r>
              <a:rPr sz="700">
                <a:solidFill>
                  <a:srgbClr val="7FC7E8"/>
                </a:solidFill>
                <a:latin typeface="Consolas"/>
              </a:rPr>
              <a:t>SetSpeedFunction</a:t>
            </a:r>
            <a:r>
              <a:rPr sz="700">
                <a:solidFill>
                  <a:srgbClr val="CCCCCC"/>
                </a:solidFill>
                <a:latin typeface="Consolas"/>
              </a:rPr>
              <a:t>(self.long_speed)</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(demos/driver/hil_plants.py, lines 241 to 244) ------</a:t>
            </a:r>
          </a:p>
          <a:p>
            <a:pPr>
              <a:spcAft>
                <a:spcPts val="0"/>
              </a:spcAft>
            </a:pPr>
            <a:r>
              <a:rPr sz="700">
                <a:solidFill>
                  <a:srgbClr val="7FAF7F"/>
                </a:solidFill>
                <a:latin typeface="Consolas"/>
              </a:rPr>
              <a:t># Throttle drives forward, braking drives back: two pedals, one axis.</a:t>
            </a:r>
          </a:p>
          <a:p>
            <a:pPr>
              <a:spcAft>
                <a:spcPts val="0"/>
              </a:spcAft>
            </a:pPr>
            <a:r>
              <a:rPr sz="700">
                <a:solidFill>
                  <a:srgbClr val="CCCCCC"/>
                </a:solidFill>
                <a:latin typeface="Consolas"/>
              </a:rPr>
              <a:t>long_cmd = (inputs.m_throttle - inputs.m_braking) * self.MAX_LONG_SPEED</a:t>
            </a:r>
          </a:p>
          <a:p>
            <a:pPr>
              <a:spcAft>
                <a:spcPts val="0"/>
              </a:spcAft>
            </a:pPr>
            <a:r>
              <a:rPr sz="700">
                <a:solidFill>
                  <a:srgbClr val="CCCCCC"/>
                </a:solidFill>
                <a:latin typeface="Consolas"/>
              </a:rPr>
              <a:t>self.long_speed.</a:t>
            </a:r>
            <a:r>
              <a:rPr sz="700">
                <a:solidFill>
                  <a:srgbClr val="7FC7E8"/>
                </a:solidFill>
                <a:latin typeface="Consolas"/>
              </a:rPr>
              <a:t>SetSetpoint</a:t>
            </a:r>
            <a:r>
              <a:rPr sz="700">
                <a:solidFill>
                  <a:srgbClr val="CCCCCC"/>
                </a:solidFill>
                <a:latin typeface="Consolas"/>
              </a:rPr>
              <a:t>(long_cmd, t)</a:t>
            </a:r>
          </a:p>
          <a:p>
            <a:pPr>
              <a:spcAft>
                <a:spcPts val="0"/>
              </a:spcAft>
            </a:pPr>
            <a:r>
              <a:rPr sz="700">
                <a:solidFill>
                  <a:srgbClr val="CCCCCC"/>
                </a:solidFill>
                <a:latin typeface="Consolas"/>
              </a:rPr>
              <a:t>self.cross_speed.</a:t>
            </a:r>
            <a:r>
              <a:rPr sz="700">
                <a:solidFill>
                  <a:srgbClr val="7FC7E8"/>
                </a:solidFill>
                <a:latin typeface="Consolas"/>
              </a:rPr>
              <a:t>SetSetpoint</a:t>
            </a:r>
            <a:r>
              <a:rPr sz="700">
                <a:solidFill>
                  <a:srgbClr val="CCCCCC"/>
                </a:solidFill>
                <a:latin typeface="Consolas"/>
              </a:rPr>
              <a:t>(inputs.m_steering * self.MAX_CROSS_SPEED, t)</a:t>
            </a:r>
          </a:p>
        </p:txBody>
      </p:sp>
      <p:sp>
        <p:nvSpPr>
          <p:cNvPr id="4" name="NoteBox"/>
          <p:cNvSpPr txBox="1"/>
          <p:nvPr/>
        </p:nvSpPr>
        <p:spPr>
          <a:xfrm>
            <a:off x="402336" y="4059935"/>
            <a:ext cx="11393424" cy="235915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a:p>
            <a:pPr>
              <a:spcAft>
                <a:spcPts val="400"/>
              </a:spcAft>
            </a:pPr>
            <a:r>
              <a:rPr sz="1600"/>
              <a:t>The producing end is just as small. </a:t>
            </a:r>
            <a:r>
              <a:rPr sz="1400">
                <a:latin typeface="Consolas"/>
              </a:rPr>
              <a:t>WindowInputs</a:t>
            </a:r>
            <a:r>
              <a:rPr sz="1600"/>
              <a:t> opens a window, reads three floats out of it, and exposes the accessors </a:t>
            </a:r>
            <a:r>
              <a:rPr sz="1400">
                <a:latin typeface="Consolas"/>
              </a:rPr>
              <a:t>ChDriver</a:t>
            </a:r>
            <a:r>
              <a:rPr sz="1600"/>
              <a:t> exposes -- about twenty lines, and the crane is hand-drivable without a line of Chrono::Vehicle in it.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ChInteractiveDriver</a:t>
            </a:r>
            <a:r>
              <a:rPr sz="1700"/>
              <a:t> covers two CLASSES of device, not two devices:</a:t>
            </a:r>
          </a:p>
          <a:p>
            <a:pPr lvl="1">
              <a:spcAft>
                <a:spcPts val="500"/>
              </a:spcAft>
            </a:pPr>
            <a:r>
              <a:rPr sz="1300">
                <a:latin typeface="Consolas"/>
              </a:rPr>
              <a:t>InputMode_KEYBOARD</a:t>
            </a:r>
            <a:r>
              <a:rPr sz="1500"/>
              <a:t>  -  with </a:t>
            </a:r>
            <a:r>
              <a:rPr sz="1300">
                <a:latin typeface="Consolas"/>
              </a:rPr>
              <a:t>KeyboardMode_HELD</a:t>
            </a:r>
            <a:r>
              <a:rPr sz="1500"/>
              <a:t> or </a:t>
            </a:r>
            <a:r>
              <a:rPr sz="1300">
                <a:latin typeface="Consolas"/>
              </a:rPr>
              <a:t>_CUMULATIVE</a:t>
            </a:r>
          </a:p>
          <a:p>
            <a:pPr lvl="1">
              <a:spcAft>
                <a:spcPts val="500"/>
              </a:spcAft>
            </a:pPr>
            <a:r>
              <a:rPr sz="1300">
                <a:latin typeface="Consolas"/>
              </a:rPr>
              <a:t>InputMode_JOYSTICK</a:t>
            </a:r>
            <a:r>
              <a:rPr sz="1500"/>
              <a:t>  -  anything the windowing layer enumerates as one</a:t>
            </a:r>
          </a:p>
          <a:p>
            <a:pPr>
              <a:spcAft>
                <a:spcPts val="500"/>
              </a:spcAft>
            </a:pPr>
            <a:r>
              <a:rPr sz="1700"/>
              <a:t>A joystick is mapped by a JSON file, not by code: </a:t>
            </a:r>
            <a:r>
              <a:rPr sz="1500">
                <a:latin typeface="Consolas"/>
              </a:rPr>
              <a:t>SetJoystickConfigFile(path)</a:t>
            </a:r>
          </a:p>
          <a:p>
            <a:pPr lvl="1">
              <a:spcAft>
                <a:spcPts val="500"/>
              </a:spcAft>
            </a:pPr>
            <a:r>
              <a:rPr sz="1500"/>
              <a:t>mapped axes: steering, throttle, brake, CLUTCH</a:t>
            </a:r>
          </a:p>
          <a:p>
            <a:pPr lvl="1">
              <a:spcAft>
                <a:spcPts val="500"/>
              </a:spcAft>
            </a:pPr>
            <a:r>
              <a:rPr sz="1500"/>
              <a:t>mapped buttons: shift up/down, reverse, gears 1-9, manual-gearbox toggle, plus one user callback</a:t>
            </a:r>
          </a:p>
          <a:p>
            <a:pPr>
              <a:spcAft>
                <a:spcPts val="500"/>
              </a:spcAft>
            </a:pPr>
            <a:r>
              <a:rPr sz="1700"/>
              <a:t>So a G923-class rig is a config file, not a port. Four ship in </a:t>
            </a:r>
            <a:r>
              <a:rPr sz="1500">
                <a:latin typeface="Consolas"/>
              </a:rPr>
              <a:t>data/vehicle/joystick/</a:t>
            </a:r>
            <a:r>
              <a:rPr sz="1700"/>
              <a:t>: Default, Logitech RumblePad 2, Xbox One, and Wheel+Pedals+Shifters.</a:t>
            </a:r>
          </a:p>
          <a:p>
            <a:pPr>
              <a:spcAft>
                <a:spcPts val="500"/>
              </a:spcAft>
            </a:pPr>
            <a:r>
              <a:rPr sz="1700"/>
              <a:t>Each control names its own DEVICE, so a wheel, a pedal box and an H-shifter enumerating as three separate USB devices all map at once.</a:t>
            </a:r>
          </a:p>
          <a:p>
            <a:pPr>
              <a:spcAft>
                <a:spcPts val="500"/>
              </a:spcAft>
            </a:pPr>
            <a:r>
              <a:rPr sz="1700"/>
              <a:t>Not hypothetical: the car-following study earlier in this talk ran on a Logitech G29 wheel and pedal set through this path.</a:t>
            </a:r>
          </a:p>
          <a:p>
            <a:pPr>
              <a:spcAft>
                <a:spcPts val="500"/>
              </a:spcAft>
            </a:pPr>
            <a:r>
              <a:rPr sz="1700"/>
              <a:t>The mapping and the semantics are Chrono's, and all of it is exposed to PyChrono. Enumerating the device is delegated to the windowing layer, so which platforms see your wheel follows that layer, and I have not tested it here.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Demo 3 is one of these: its input console is a small window of our own that reads the keys and the mouse, hands the loop the same numbers, and takes the readout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2: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the driver class only covers vehicles, so here is what Chrono gives everything else,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A mouse drag is three steps: hear the click, turn it into a body, turn the pull into physics. Chrono exposes the last two, and they come next. The first one is the gap, and it comes after them.</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(chronohil/picking.py, lines 21 to 32)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(chronohil/picking.py, lines 171 to 185)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GRAB_MIN_MASS)</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14 to 30)</a:t>
            </a:r>
          </a:p>
        </p:txBody>
      </p:sp>
      <p:sp>
        <p:nvSpPr>
          <p:cNvPr id="3" name="CodeBox"/>
          <p:cNvSpPr txBox="1"/>
          <p:nvPr/>
        </p:nvSpPr>
        <p:spPr>
          <a:xfrm>
            <a:off x="0" y="1207008"/>
            <a:ext cx="12188952" cy="3496944"/>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chrono_swig/interface/irrlicht/ChModuleIrrlicht.i</a:t>
            </a:r>
          </a:p>
          <a:p>
            <a:pPr>
              <a:spcAft>
                <a:spcPts val="0"/>
              </a:spcAft>
            </a:pPr>
            <a:r>
              <a:rPr sz="700">
                <a:solidFill>
                  <a:srgbClr val="CCCCCC"/>
                </a:solidFill>
                <a:latin typeface="Consolas"/>
              </a:rPr>
              <a:t>+%</a:t>
            </a:r>
            <a:r>
              <a:rPr sz="700">
                <a:solidFill>
                  <a:srgbClr val="7FC7E8"/>
                </a:solidFill>
                <a:latin typeface="Consolas"/>
              </a:rPr>
              <a:t>feature</a:t>
            </a:r>
            <a:r>
              <a:rPr sz="700">
                <a:solidFill>
                  <a:srgbClr val="CCCCCC"/>
                </a:solidFill>
                <a:latin typeface="Consolas"/>
              </a:rPr>
              <a:t>(</a:t>
            </a:r>
            <a:r>
              <a:rPr sz="700">
                <a:solidFill>
                  <a:srgbClr val="D8A0C0"/>
                </a:solidFill>
                <a:latin typeface="Consolas"/>
              </a:rPr>
              <a:t>"director"</a:t>
            </a:r>
            <a:r>
              <a:rPr sz="700">
                <a:solidFill>
                  <a:srgbClr val="CCCCCC"/>
                </a:solidFill>
                <a:latin typeface="Consolas"/>
              </a:rPr>
              <a:t>) irr::IEventReceiver;</a:t>
            </a:r>
          </a:p>
          <a:p>
            <a:pPr>
              <a:spcAft>
                <a:spcPts val="0"/>
              </a:spcAft>
            </a:pPr>
            <a:r>
              <a:rPr sz="700">
                <a:solidFill>
                  <a:srgbClr val="CCCCCC"/>
                </a:solidFill>
                <a:latin typeface="Consolas"/>
              </a:rPr>
              <a:t>%include </a:t>
            </a:r>
            <a:r>
              <a:rPr sz="700">
                <a:solidFill>
                  <a:srgbClr val="D8A0C0"/>
                </a:solidFill>
                <a:latin typeface="Consolas"/>
              </a:rPr>
              <a:t>"IEventReceiver.h"</a:t>
            </a:r>
          </a:p>
          <a:p>
            <a:pPr>
              <a:spcAft>
                <a:spcPts val="0"/>
              </a:spcAft>
            </a:pPr>
            <a:r>
              <a:rPr sz="700">
                <a:solidFill>
                  <a:srgbClr val="CCCCCC"/>
                </a:solidFill>
                <a:latin typeface="Consolas"/>
              </a:rPr>
              <a:t> </a:t>
            </a:r>
          </a:p>
          <a:p>
            <a:pPr>
              <a:spcAft>
                <a:spcPts val="0"/>
              </a:spcAft>
            </a:pPr>
            <a:r>
              <a:rPr sz="700">
                <a:solidFill>
                  <a:srgbClr val="7FAF7F"/>
                </a:solidFill>
                <a:latin typeface="Consolas"/>
              </a:rPr>
              <a:t># The module ALREADY compiles with directors enabled:</a:t>
            </a:r>
          </a:p>
          <a:p>
            <a:pPr>
              <a:spcAft>
                <a:spcPts val="0"/>
              </a:spcAft>
            </a:pPr>
            <a:r>
              <a:rPr sz="700">
                <a:solidFill>
                  <a:srgbClr val="7FAF7F"/>
                </a:solidFill>
                <a:latin typeface="Consolas"/>
              </a:rPr>
              <a:t>#     %module(directors="1", threads="1") irrlicht</a:t>
            </a:r>
          </a:p>
          <a:p>
            <a:pPr>
              <a:spcAft>
                <a:spcPts val="0"/>
              </a:spcAft>
            </a:pPr>
            <a:r>
              <a:rPr sz="700">
                <a:solidFill>
                  <a:srgbClr val="7FAF7F"/>
                </a:solidFill>
                <a:latin typeface="Consolas"/>
              </a:rPr>
              <a:t># and AddUserEventReceiver is ALREADY bound. Without the</a:t>
            </a:r>
          </a:p>
          <a:p>
            <a:pPr>
              <a:spcAft>
                <a:spcPts val="0"/>
              </a:spcAft>
            </a:pPr>
            <a:r>
              <a:rPr sz="700">
                <a:solidFill>
                  <a:srgbClr val="7FAF7F"/>
                </a:solidFill>
                <a:latin typeface="Consolas"/>
              </a:rPr>
              <a:t># director, though, Python gets an abstract class:</a:t>
            </a:r>
          </a:p>
          <a:p>
            <a:pPr>
              <a:spcAft>
                <a:spcPts val="0"/>
              </a:spcAft>
            </a:pPr>
            <a:r>
              <a:rPr sz="700">
                <a:solidFill>
                  <a:srgbClr val="7FAF7F"/>
                </a:solidFill>
                <a:latin typeface="Consolas"/>
              </a:rPr>
              <a:t>#     &gt;&gt;&gt; ci.IEventReceiver()</a:t>
            </a:r>
          </a:p>
          <a:p>
            <a:pPr>
              <a:spcAft>
                <a:spcPts val="0"/>
              </a:spcAft>
            </a:pPr>
            <a:r>
              <a:rPr sz="700">
                <a:solidFill>
                  <a:srgbClr val="7FAF7F"/>
                </a:solidFill>
                <a:latin typeface="Consolas"/>
              </a:rPr>
              <a:t>#     AttributeError: No constructor defined - class is abstract</a:t>
            </a:r>
          </a:p>
          <a:p>
            <a:pPr>
              <a:spcAft>
                <a:spcPts val="0"/>
              </a:spcAft>
            </a:pPr>
            <a:r>
              <a:rPr sz="700">
                <a:solidFill>
                  <a:srgbClr val="7FAF7F"/>
                </a:solidFill>
                <a:latin typeface="Consolas"/>
              </a:rPr>
              <a:t># so there is a socket, and nothing you can plug into it.</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a:t>
            </a:r>
            <a:r>
              <a:rPr sz="700">
                <a:solidFill>
                  <a:srgbClr val="7FC7E8"/>
                </a:solidFill>
                <a:latin typeface="Consolas"/>
              </a:rPr>
              <a:t>MouseReceiver</a:t>
            </a:r>
            <a:r>
              <a:rPr sz="700">
                <a:solidFill>
                  <a:srgbClr val="CCCCCC"/>
                </a:solidFill>
                <a:latin typeface="Consolas"/>
              </a:rPr>
              <a:t>(irr.IEventReceiver):</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"No Quartz, no CGWindowList, no NSEvent. No macOS. Just Irrlicht."</a:t>
            </a:r>
            <a:r>
              <a:rPr sz="700">
                <a:solidFill>
                  <a:srgbClr val="D8A0C0"/>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__init__</a:t>
            </a:r>
            <a:r>
              <a:rPr sz="700">
                <a:solidFill>
                  <a:srgbClr val="CCCCCC"/>
                </a:solidFill>
                <a:latin typeface="Consolas"/>
              </a:rPr>
              <a:t>(self):</a:t>
            </a:r>
          </a:p>
          <a:p>
            <a:pPr>
              <a:spcAft>
                <a:spcPts val="0"/>
              </a:spcAft>
            </a:pPr>
            <a:r>
              <a:rPr sz="700">
                <a:solidFill>
                  <a:srgbClr val="CCCCCC"/>
                </a:solidFill>
                <a:latin typeface="Consolas"/>
              </a:rPr>
              <a:t>        </a:t>
            </a:r>
            <a:r>
              <a:rPr sz="700">
                <a:solidFill>
                  <a:srgbClr val="7FC7E8"/>
                </a:solidFill>
                <a:latin typeface="Consolas"/>
              </a:rPr>
              <a:t>super</a:t>
            </a:r>
            <a:r>
              <a:rPr sz="700">
                <a:solidFill>
                  <a:srgbClr val="CCCCCC"/>
                </a:solidFill>
                <a:latin typeface="Consolas"/>
              </a:rPr>
              <a:t>().</a:t>
            </a:r>
            <a:r>
              <a:rPr sz="700">
                <a:solidFill>
                  <a:srgbClr val="7FC7E8"/>
                </a:solidFill>
                <a:latin typeface="Consolas"/>
              </a:rPr>
              <a:t>__init__</a:t>
            </a:r>
            <a:r>
              <a:rPr sz="700">
                <a:solidFill>
                  <a:srgbClr val="CCCCCC"/>
                </a:solidFill>
                <a:latin typeface="Consolas"/>
              </a:rPr>
              <a:t>()</a:t>
            </a:r>
          </a:p>
          <a:p>
            <a:pPr>
              <a:spcAft>
                <a:spcPts val="0"/>
              </a:spcAft>
            </a:pPr>
            <a:r>
              <a:rPr sz="700">
                <a:solidFill>
                  <a:srgbClr val="CCCCCC"/>
                </a:solidFill>
                <a:latin typeface="Consolas"/>
              </a:rPr>
              <a:t>        self.x = self.y = 0</a:t>
            </a:r>
          </a:p>
          <a:p>
            <a:pPr>
              <a:spcAft>
                <a:spcPts val="0"/>
              </a:spcAft>
            </a:pPr>
            <a:r>
              <a:rPr sz="700">
                <a:solidFill>
                  <a:srgbClr val="CCCCCC"/>
                </a:solidFill>
                <a:latin typeface="Consolas"/>
              </a:rPr>
              <a:t>        self.down = False</a:t>
            </a:r>
          </a:p>
          <a:p>
            <a:pPr>
              <a:spcAft>
                <a:spcPts val="0"/>
              </a:spcAft>
            </a:pPr>
            <a:r>
              <a:rPr sz="700">
                <a:solidFill>
                  <a:srgbClr val="CCCCCC"/>
                </a:solidFill>
                <a:latin typeface="Consolas"/>
              </a:rPr>
              <a:t>        self.pressed = False          </a:t>
            </a:r>
            <a:r>
              <a:rPr sz="700">
                <a:solidFill>
                  <a:srgbClr val="7FAF7F"/>
                </a:solidFill>
                <a:latin typeface="Consolas"/>
              </a:rPr>
              <a:t># edge, consumed by the loop</a:t>
            </a:r>
          </a:p>
          <a:p>
            <a:pPr>
              <a:spcAft>
                <a:spcPts val="0"/>
              </a:spcAft>
            </a:pPr>
            <a:r>
              <a:rPr sz="700">
                <a:solidFill>
                  <a:srgbClr val="CCCCCC"/>
                </a:solidFill>
                <a:latin typeface="Consolas"/>
              </a:rPr>
              <a:t>        self.keys = </a:t>
            </a:r>
            <a:r>
              <a:rPr sz="700">
                <a:solidFill>
                  <a:srgbClr val="7FC7E8"/>
                </a:solidFill>
                <a:latin typeface="Consolas"/>
              </a:rPr>
              <a:t>set</a:t>
            </a:r>
            <a:r>
              <a:rPr sz="700">
                <a:solidFill>
                  <a:srgbClr val="CCCCCC"/>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OnEvent</a:t>
            </a:r>
            <a:r>
              <a:rPr sz="700">
                <a:solidFill>
                  <a:srgbClr val="CCCCCC"/>
                </a:solidFill>
                <a:latin typeface="Consolas"/>
              </a:rPr>
              <a:t>(self, ev):</a:t>
            </a:r>
          </a:p>
          <a:p>
            <a:pPr>
              <a:spcAft>
                <a:spcPts val="0"/>
              </a:spcAft>
            </a:pPr>
            <a:r>
              <a:rPr sz="700">
                <a:solidFill>
                  <a:srgbClr val="CCCCCC"/>
                </a:solidFill>
                <a:latin typeface="Consolas"/>
              </a:rPr>
              <a:t>        if ev.EventType == irr.EET_MOUSE_INPUT_EVENT:</a:t>
            </a:r>
          </a:p>
          <a:p>
            <a:pPr>
              <a:spcAft>
                <a:spcPts val="0"/>
              </a:spcAft>
            </a:pPr>
            <a:r>
              <a:rPr sz="700">
                <a:solidFill>
                  <a:srgbClr val="CCCCCC"/>
                </a:solidFill>
                <a:latin typeface="Consolas"/>
              </a:rPr>
              <a:t>            self.x, self.y = ev.MouseInput.X, ev.MouseInput.Y</a:t>
            </a:r>
          </a:p>
          <a:p>
            <a:pPr>
              <a:spcAft>
                <a:spcPts val="0"/>
              </a:spcAft>
            </a:pPr>
            <a:r>
              <a:rPr sz="700">
                <a:solidFill>
                  <a:srgbClr val="CCCCCC"/>
                </a:solidFill>
                <a:latin typeface="Consolas"/>
              </a:rPr>
              <a:t>            if ev.MouseInput.Event == irr.EMIE_LMOUSE_PRESSED_DOWN:</a:t>
            </a:r>
          </a:p>
          <a:p>
            <a:pPr>
              <a:spcAft>
                <a:spcPts val="0"/>
              </a:spcAft>
            </a:pPr>
            <a:r>
              <a:rPr sz="700">
                <a:solidFill>
                  <a:srgbClr val="CCCCCC"/>
                </a:solidFill>
                <a:latin typeface="Consolas"/>
              </a:rPr>
              <a:t>                self.down = self.pressed = True</a:t>
            </a:r>
          </a:p>
          <a:p>
            <a:pPr>
              <a:spcAft>
                <a:spcPts val="0"/>
              </a:spcAft>
            </a:pPr>
            <a:r>
              <a:rPr sz="700">
                <a:solidFill>
                  <a:srgbClr val="CCCCCC"/>
                </a:solidFill>
                <a:latin typeface="Consolas"/>
              </a:rPr>
              <a:t>            elif ev.MouseInput.Event == irr.EMIE_LMOUSE_LEFT_UP:</a:t>
            </a:r>
          </a:p>
          <a:p>
            <a:pPr>
              <a:spcAft>
                <a:spcPts val="0"/>
              </a:spcAft>
            </a:pPr>
            <a:r>
              <a:rPr sz="700">
                <a:solidFill>
                  <a:srgbClr val="CCCCCC"/>
                </a:solidFill>
                <a:latin typeface="Consolas"/>
              </a:rPr>
              <a:t>                self.down = False</a:t>
            </a:r>
          </a:p>
        </p:txBody>
      </p:sp>
      <p:sp>
        <p:nvSpPr>
          <p:cNvPr id="4" name="NoteBox"/>
          <p:cNvSpPr txBox="1"/>
          <p:nvPr/>
        </p:nvSpPr>
        <p:spPr>
          <a:xfrm>
            <a:off x="402336" y="4813681"/>
            <a:ext cx="11393424" cy="1536192"/>
          </a:xfrm>
          <a:prstGeom prst="rect">
            <a:avLst/>
          </a:prstGeom>
          <a:noFill/>
        </p:spPr>
        <p:txBody>
          <a:bodyPr wrap="square">
            <a:spAutoFit/>
          </a:bodyPr>
          <a:lstStyle/>
          <a:p>
            <a:pPr>
              <a:spcAft>
                <a:spcPts val="400"/>
              </a:spcAft>
            </a:pPr>
            <a:r>
              <a:rPr sz="1600"/>
              <a:t>The pick and the pull were both one call. Hearing the click is the step that is not: without the director it means going around Chrono to the operating system: </a:t>
            </a:r>
            <a:r>
              <a:rPr sz="1400">
                <a:latin typeface="Consolas"/>
              </a:rPr>
              <a:t>724 lines</a:t>
            </a:r>
            <a:r>
              <a:rPr sz="1600"/>
              <a:t> across three backends, one per platform, each asking where the cursor is, whether the button is down, and where our window sits on screen.</a:t>
            </a:r>
          </a:p>
          <a:p>
            <a:pPr>
              <a:spcAft>
                <a:spcPts val="400"/>
              </a:spcAft>
            </a:pPr>
            <a:r>
              <a:rPr sz="1600"/>
              <a:t>With it, the same capability is </a:t>
            </a:r>
            <a:r>
              <a:rPr sz="1400">
                <a:latin typeface="Consolas"/>
              </a:rPr>
              <a:t>81 lines</a:t>
            </a:r>
            <a:r>
              <a:rPr sz="1600"/>
              <a:t> that run wherever Irrlicht does, because the events already arrive in window coordinates.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3: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1636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The pattern, not the API: decide which half of the human's input</a:t>
            </a:r>
          </a:p>
          <a:p>
            <a:pPr>
              <a:spcAft>
                <a:spcPts val="0"/>
              </a:spcAft>
            </a:pPr>
            <a:r>
              <a:rPr sz="700">
                <a:solidFill>
                  <a:srgbClr val="7FAF7F"/>
                </a:solidFill>
                <a:latin typeface="Consolas"/>
              </a:rPr>
              <a:t># has to be repeatable, and script only that half.</a:t>
            </a:r>
          </a:p>
          <a:p>
            <a:pPr>
              <a:spcAft>
                <a:spcPts val="0"/>
              </a:spcAft>
            </a:pPr>
            <a:r>
              <a:rPr sz="700">
                <a:solidFill>
                  <a:srgbClr val="7FAF7F"/>
                </a:solidFill>
                <a:latin typeface="Consolas"/>
              </a:rPr>
              <a:t>#</a:t>
            </a:r>
          </a:p>
          <a:p>
            <a:pPr>
              <a:spcAft>
                <a:spcPts val="0"/>
              </a:spcAft>
            </a:pPr>
            <a:r>
              <a:rPr sz="700">
                <a:solidFill>
                  <a:srgbClr val="7FAF7F"/>
                </a:solidFill>
                <a:latin typeface="Consolas"/>
              </a:rPr>
              <a:t>#   the person keeps:   WHERE on the body, and WHICH DIRECTION</a:t>
            </a:r>
          </a:p>
          <a:p>
            <a:pPr>
              <a:spcAft>
                <a:spcPts val="0"/>
              </a:spcAft>
            </a:pPr>
            <a:r>
              <a:rPr sz="700">
                <a:solidFill>
                  <a:srgbClr val="7FAF7F"/>
                </a:solidFill>
                <a:latin typeface="Consolas"/>
              </a:rPr>
              <a:t>#   the machine keeps:  a constant force F held for a fixed window dt</a:t>
            </a:r>
          </a:p>
          <a:p>
            <a:pPr>
              <a:spcAft>
                <a:spcPts val="0"/>
              </a:spcAft>
            </a:pPr>
            <a:r>
              <a:rPr sz="700">
                <a:solidFill>
                  <a:srgbClr val="7FAF7F"/>
                </a:solidFill>
                <a:latin typeface="Consolas"/>
              </a:rPr>
              <a:t>#</a:t>
            </a:r>
          </a:p>
          <a:p>
            <a:pPr>
              <a:spcAft>
                <a:spcPts val="0"/>
              </a:spcAft>
            </a:pPr>
            <a:r>
              <a:rPr sz="700">
                <a:solidFill>
                  <a:srgbClr val="7FAF7F"/>
                </a:solidFill>
                <a:latin typeface="Consolas"/>
              </a:rPr>
              <a:t>#   impulse  J = F * dt      both printed, both logged</a:t>
            </a:r>
          </a:p>
          <a:p>
            <a:pPr>
              <a:spcAft>
                <a:spcPts val="0"/>
              </a:spcAft>
            </a:pPr>
            <a:r>
              <a:rPr sz="700">
                <a:solidFill>
                  <a:srgbClr val="7FAF7F"/>
                </a:solidFill>
                <a:latin typeface="Consolas"/>
              </a:rPr>
              <a:t>#</a:t>
            </a:r>
          </a:p>
          <a:p>
            <a:pPr>
              <a:spcAft>
                <a:spcPts val="0"/>
              </a:spcAft>
            </a:pPr>
            <a:r>
              <a:rPr sz="700">
                <a:solidFill>
                  <a:srgbClr val="7FAF7F"/>
                </a:solidFill>
                <a:latin typeface="Consolas"/>
              </a:rPr>
              <a:t># A freehand drag cannot answer 'how hard can I shove it', because</a:t>
            </a:r>
          </a:p>
          <a:p>
            <a:pPr>
              <a:spcAft>
                <a:spcPts val="0"/>
              </a:spcAft>
            </a:pPr>
            <a:r>
              <a:rPr sz="700">
                <a:solidFill>
                  <a:srgbClr val="7FAF7F"/>
                </a:solidFill>
                <a:latin typeface="Consolas"/>
              </a:rPr>
              <a:t># no two drags are the same: the force depends on how fast a hand</a:t>
            </a:r>
          </a:p>
          <a:p>
            <a:pPr>
              <a:spcAft>
                <a:spcPts val="0"/>
              </a:spcAft>
            </a:pPr>
            <a:r>
              <a:rPr sz="700">
                <a:solidFill>
                  <a:srgbClr val="7FAF7F"/>
                </a:solidFill>
                <a:latin typeface="Consolas"/>
              </a:rPr>
              <a:t># moved and how long a button was held. There is no number at the end.</a:t>
            </a:r>
          </a:p>
          <a:p>
            <a:pPr>
              <a:spcAft>
                <a:spcPts val="0"/>
              </a:spcAft>
            </a:pPr>
            <a:r>
              <a:rPr sz="700">
                <a:solidFill>
                  <a:srgbClr val="7FAF7F"/>
                </a:solidFill>
                <a:latin typeface="Consolas"/>
              </a:rPr>
              <a:t># Script the magnitude and you get one you can put in a report.</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(demos/push/rig.py, lines 165 to 185) ------</a:t>
            </a:r>
          </a:p>
          <a:p>
            <a:pPr>
              <a:spcAft>
                <a:spcPts val="0"/>
              </a:spcAft>
            </a:pPr>
            <a:r>
              <a:rPr sz="700">
                <a:solidFill>
                  <a:srgbClr val="CCCCCC"/>
                </a:solidFill>
                <a:latin typeface="Consolas"/>
              </a:rPr>
              <a:t>def </a:t>
            </a:r>
            <a:r>
              <a:rPr sz="700">
                <a:solidFill>
                  <a:srgbClr val="7FC7E8"/>
                </a:solidFill>
                <a:latin typeface="Consolas"/>
              </a:rPr>
              <a:t>fire</a:t>
            </a:r>
            <a:r>
              <a:rPr sz="700">
                <a:solidFill>
                  <a:srgbClr val="CCCCCC"/>
                </a:solidFill>
                <a:latin typeface="Consolas"/>
              </a:rPr>
              <a:t>(self, cfg, t):</a:t>
            </a:r>
          </a:p>
          <a:p>
            <a:pPr>
              <a:spcAft>
                <a:spcPts val="0"/>
              </a:spcAft>
            </a:pPr>
            <a:r>
              <a:rPr sz="700">
                <a:solidFill>
                  <a:srgbClr val="CCCCCC"/>
                </a:solidFill>
                <a:latin typeface="Consolas"/>
              </a:rPr>
              <a:t>    body = cfg.body</a:t>
            </a:r>
          </a:p>
          <a:p>
            <a:pPr>
              <a:spcAft>
                <a:spcPts val="0"/>
              </a:spcAft>
            </a:pPr>
            <a:r>
              <a:rPr sz="700">
                <a:solidFill>
                  <a:srgbClr val="CCCCCC"/>
                </a:solidFill>
                <a:latin typeface="Consolas"/>
              </a:rPr>
              <a:t>    self.active = (body, cfg.</a:t>
            </a:r>
            <a:r>
              <a:rPr sz="700">
                <a:solidFill>
                  <a:srgbClr val="7FC7E8"/>
                </a:solidFill>
                <a:latin typeface="Consolas"/>
              </a:rPr>
              <a:t>force</a:t>
            </a:r>
            <a:r>
              <a:rPr sz="700">
                <a:solidFill>
                  <a:srgbClr val="CCCCCC"/>
                </a:solidFill>
                <a:latin typeface="Consolas"/>
              </a:rPr>
              <a:t>(), chrono.</a:t>
            </a:r>
            <a:r>
              <a:rPr sz="700">
                <a:solidFill>
                  <a:srgbClr val="F0A040"/>
                </a:solidFill>
                <a:latin typeface="Consolas"/>
              </a:rPr>
              <a:t>ChVector3d</a:t>
            </a:r>
            <a:r>
              <a:rPr sz="700">
                <a:solidFill>
                  <a:srgbClr val="CCCCCC"/>
                </a:solidFill>
                <a:latin typeface="Consolas"/>
              </a:rPr>
              <a:t>(cfg.local_point),</a:t>
            </a:r>
          </a:p>
          <a:p>
            <a:pPr>
              <a:spcAft>
                <a:spcPts val="0"/>
              </a:spcAft>
            </a:pPr>
            <a:r>
              <a:rPr sz="700">
                <a:solidFill>
                  <a:srgbClr val="CCCCCC"/>
                </a:solidFill>
                <a:latin typeface="Consolas"/>
              </a:rPr>
              <a:t>                   t + cfg.duration)</a:t>
            </a:r>
          </a:p>
          <a:p>
            <a:pPr>
              <a:spcAft>
                <a:spcPts val="0"/>
              </a:spcAft>
            </a:pPr>
            <a:r>
              <a:rPr sz="700">
                <a:solidFill>
                  <a:srgbClr val="CCCCCC"/>
                </a:solidFill>
                <a:latin typeface="Consolas"/>
              </a:rPr>
              <a:t>    self.fired_at = t</a:t>
            </a:r>
          </a:p>
          <a:p>
            <a:pPr>
              <a:spcAft>
                <a:spcPts val="0"/>
              </a:spcAft>
            </a:pPr>
            <a:r>
              <a:rPr sz="700">
                <a:solidFill>
                  <a:srgbClr val="CCCCCC"/>
                </a:solidFill>
                <a:latin typeface="Consolas"/>
              </a:rPr>
              <a:t>    return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a:t>
            </a:r>
          </a:p>
          <a:p>
            <a:pPr>
              <a:spcAft>
                <a:spcPts val="0"/>
              </a:spcAft>
            </a:pPr>
            <a:r>
              <a:rPr sz="700">
                <a:solidFill>
                  <a:srgbClr val="CCCCCC"/>
                </a:solidFill>
                <a:latin typeface="Consolas"/>
              </a:rPr>
              <a:t>def </a:t>
            </a:r>
            <a:r>
              <a:rPr sz="700">
                <a:solidFill>
                  <a:srgbClr val="7FC7E8"/>
                </a:solidFill>
                <a:latin typeface="Consolas"/>
              </a:rPr>
              <a:t>update</a:t>
            </a:r>
            <a:r>
              <a:rPr sz="700">
                <a:solidFill>
                  <a:srgbClr val="CCCCCC"/>
                </a:solidFill>
                <a:latin typeface="Consolas"/>
              </a:rPr>
              <a:t>(self, t):</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"Call every step, BEFORE DoStepDynamics. Returns True while pushing."</a:t>
            </a:r>
            <a:r>
              <a:rPr sz="700">
                <a:solidFill>
                  <a:srgbClr val="D8A0C0"/>
                </a:solidFill>
                <a:latin typeface="Consolas"/>
              </a:rPr>
              <a:t>""</a:t>
            </a:r>
          </a:p>
          <a:p>
            <a:pPr>
              <a:spcAft>
                <a:spcPts val="0"/>
              </a:spcAft>
            </a:pPr>
            <a:r>
              <a:rPr sz="700">
                <a:solidFill>
                  <a:srgbClr val="CCCCCC"/>
                </a:solidFill>
                <a:latin typeface="Consolas"/>
              </a:rPr>
              <a:t>    if self.active is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body, force, local, t_end = self.active</a:t>
            </a:r>
          </a:p>
          <a:p>
            <a:pPr>
              <a:spcAft>
                <a:spcPts val="0"/>
              </a:spcAft>
            </a:pPr>
            <a:r>
              <a:rPr sz="700">
                <a:solidFill>
                  <a:srgbClr val="CCCCCC"/>
                </a:solidFill>
                <a:latin typeface="Consolas"/>
              </a:rPr>
              <a:t>    idx =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body.</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Chrono never clears these for you</a:t>
            </a:r>
          </a:p>
          <a:p>
            <a:pPr>
              <a:spcAft>
                <a:spcPts val="0"/>
              </a:spcAft>
            </a:pPr>
            <a:r>
              <a:rPr sz="700">
                <a:solidFill>
                  <a:srgbClr val="CCCCCC"/>
                </a:solidFill>
                <a:latin typeface="Consolas"/>
              </a:rPr>
              <a:t>    if t &gt;= t_end:</a:t>
            </a:r>
          </a:p>
          <a:p>
            <a:pPr>
              <a:spcAft>
                <a:spcPts val="0"/>
              </a:spcAft>
            </a:pPr>
            <a:r>
              <a:rPr sz="700">
                <a:solidFill>
                  <a:srgbClr val="CCCCCC"/>
                </a:solidFill>
                <a:latin typeface="Consolas"/>
              </a:rPr>
              <a:t>        self.active =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a:t>
            </a:r>
            <a:r>
              <a:rPr sz="700">
                <a:solidFill>
                  <a:srgbClr val="7FAF7F"/>
                </a:solidFill>
                <a:latin typeface="Consolas"/>
              </a:rPr>
              <a:t># The point travels with the link: a shove on the shoulder stays on the</a:t>
            </a:r>
          </a:p>
          <a:p>
            <a:pPr>
              <a:spcAft>
                <a:spcPts val="0"/>
              </a:spcAft>
            </a:pPr>
            <a:r>
              <a:rPr sz="700">
                <a:solidFill>
                  <a:srgbClr val="CCCCCC"/>
                </a:solidFill>
                <a:latin typeface="Consolas"/>
              </a:rPr>
              <a:t>    </a:t>
            </a:r>
            <a:r>
              <a:rPr sz="700">
                <a:solidFill>
                  <a:srgbClr val="7FAF7F"/>
                </a:solidFill>
                <a:latin typeface="Consolas"/>
              </a:rPr>
              <a:t># shoulder even as the shoulder is being shoved away.</a:t>
            </a:r>
          </a:p>
          <a:p>
            <a:pPr>
              <a:spcAft>
                <a:spcPts val="0"/>
              </a:spcAft>
            </a:pPr>
            <a:r>
              <a:rPr sz="700">
                <a:solidFill>
                  <a:srgbClr val="CCCCCC"/>
                </a:solidFill>
                <a:latin typeface="Consolas"/>
              </a:rPr>
              <a:t>    body.</a:t>
            </a:r>
            <a:r>
              <a:rPr sz="700">
                <a:solidFill>
                  <a:srgbClr val="7FC7E8"/>
                </a:solidFill>
                <a:latin typeface="Consolas"/>
              </a:rPr>
              <a:t>AccumulateForce</a:t>
            </a:r>
            <a:r>
              <a:rPr sz="700">
                <a:solidFill>
                  <a:srgbClr val="CCCCCC"/>
                </a:solidFill>
                <a:latin typeface="Consolas"/>
              </a:rPr>
              <a:t>(idx, force, body.</a:t>
            </a:r>
            <a:r>
              <a:rPr sz="700">
                <a:solidFill>
                  <a:srgbClr val="7FC7E8"/>
                </a:solidFill>
                <a:latin typeface="Consolas"/>
              </a:rPr>
              <a:t>TransformPointLocalToParent</a:t>
            </a:r>
            <a:r>
              <a:rPr sz="700">
                <a:solidFill>
                  <a:srgbClr val="CCCCCC"/>
                </a:solidFill>
                <a:latin typeface="Consolas"/>
              </a:rPr>
              <a:t>(local),</a:t>
            </a:r>
          </a:p>
          <a:p>
            <a:pPr>
              <a:spcAft>
                <a:spcPts val="0"/>
              </a:spcAft>
            </a:pPr>
            <a:r>
              <a:rPr sz="700">
                <a:solidFill>
                  <a:srgbClr val="CCCCCC"/>
                </a:solidFill>
                <a:latin typeface="Consolas"/>
              </a:rPr>
              <a:t>                         False)</a:t>
            </a:r>
          </a:p>
        </p:txBody>
      </p:sp>
      <p:sp>
        <p:nvSpPr>
          <p:cNvPr id="4" name="NoteBox"/>
          <p:cNvSpPr txBox="1"/>
          <p:nvPr/>
        </p:nvSpPr>
        <p:spPr>
          <a:xfrm>
            <a:off x="402336" y="5480431"/>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4: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r>
            <a:r>
              <a:rPr sz="1500">
                <a:latin typeface="Consolas"/>
              </a:rPr>
              <a:t>1100 N</a:t>
            </a:r>
            <a:r>
              <a:rPr sz="1700"/>
              <a:t> recovers, </a:t>
            </a:r>
            <a:r>
              <a:rPr sz="1500">
                <a:latin typeface="Consolas"/>
              </a:rPr>
              <a:t>1200 N</a:t>
            </a:r>
            <a:r>
              <a:rPr sz="1700"/>
              <a:t> does not.</a:t>
            </a:r>
          </a:p>
          <a:p>
            <a:pPr>
              <a:spcAft>
                <a:spcPts val="500"/>
              </a:spcAft>
            </a:pPr>
            <a:r>
              <a:rPr sz="1700"/>
              <a:t>Change the controller and the threshold moves. The same robot held by a PD stance goes over just past </a:t>
            </a:r>
            <a:r>
              <a:rPr sz="1500">
                <a:latin typeface="Consolas"/>
              </a:rPr>
              <a:t>600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all four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33</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