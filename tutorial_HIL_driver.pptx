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3" r:id="rId15"/>
    <p:sldId id="264" r:id="rId16"/>
    <p:sldId id="265" r:id="rId17"/>
    <p:sldId id="266" r:id="rId18"/>
    <p:sldId id="268" r:id="rId20"/>
    <p:sldId id="270" r:id="rId22"/>
    <p:sldId id="271" r:id="rId23"/>
    <p:sldId id="272" r:id="rId24"/>
    <p:sldId id="273" r:id="rId25"/>
    <p:sldId id="275" r:id="rId27"/>
    <p:sldId id="276" r:id="rId28"/>
    <p:sldId id="306" r:id="rId38"/>
    <p:sldId id="277" r:id="rId29"/>
    <p:sldId id="279" r:id="rId31"/>
    <p:sldId id="282" r:id="rId34"/>
    <p:sldId id="287" r:id="rId39"/>
    <p:sldId id="284" r:id="rId36"/>
    <p:sldId id="307" r:id="rId33"/>
    <p:sldId id="308" r:id="rId32"/>
    <p:sldId id="309" r:id="rId35"/>
    <p:sldId id="310" r:id="rId30"/>
    <p:sldId id="311" r:id="rId37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20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8.xml"/><Relationship Id="rId30" Type="http://schemas.openxmlformats.org/officeDocument/2006/relationships/slide" Target="slides/slide29.xml"/><Relationship Id="rId31" Type="http://schemas.openxmlformats.org/officeDocument/2006/relationships/slide" Target="slides/slide19.xml"/><Relationship Id="rId32" Type="http://schemas.openxmlformats.org/officeDocument/2006/relationships/slide" Target="slides/slide27.xml"/><Relationship Id="rId33" Type="http://schemas.openxmlformats.org/officeDocument/2006/relationships/slide" Target="slides/slide26.xml"/><Relationship Id="rId34" Type="http://schemas.openxmlformats.org/officeDocument/2006/relationships/slide" Target="slides/slide20.xml"/><Relationship Id="rId35" Type="http://schemas.openxmlformats.org/officeDocument/2006/relationships/slide" Target="slides/slide28.xml"/><Relationship Id="rId36" Type="http://schemas.openxmlformats.org/officeDocument/2006/relationships/slide" Target="slides/slide22.xml"/><Relationship Id="rId37" Type="http://schemas.openxmlformats.org/officeDocument/2006/relationships/slide" Target="slides/slide30.xml"/><Relationship Id="rId38" Type="http://schemas.openxmlformats.org/officeDocument/2006/relationships/slide" Target="slides/slide17.xml"/><Relationship Id="rId39" Type="http://schemas.openxmlformats.org/officeDocument/2006/relationships/slide" Target="slides/slide21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Then, briefly: PARTS 6-8 - change gear, drive the Mcity digital twin, steer something that is not a car</a:t>
            </a:r>
          </a:p>
          <a:p>
            <a:pPr lvl="1"/>
            <a:r>
              <a:rPr sz="1800"/>
              <a:t>Parts 3 and 5 (gamepad/wheel, vehicle picker, overlay flags) are in the repo - no time today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python tutorial_HIL_driver.py opens an Irrlicht window with an HMMWV - drive it with the arrow keys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The simulation loop (Lines 674 to 725)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4526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669280"/>
            <a:ext cx="113920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Synchronize: every module reads what it needs from the others at time t. Advance: every module integrates from t to t + step</a:t>
            </a:r>
          </a:p>
          <a:p>
            <a:r>
              <a:rPr sz="1600"/>
              <a:t>The driver is queried BEFORE Synchronize - inputs are sampled once and held for the step</a:t>
            </a:r>
          </a:p>
          <a:p>
            <a:r>
              <a:rPr sz="1600"/>
              <a:t>Elided: the device/gear block (Parts 4 and 6), and the guards that let a plant run with no terrain and no vehicle camera (Part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Measure it - sim time vs wall time (Lines 727 to 743)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383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52628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r>
              <a:rPr sz="1800">
                <a:latin typeface="Consolas"/>
              </a:rPr>
              <a:t>vehicle.GetRTF()</a:t>
            </a:r>
            <a:r>
              <a:rPr sz="1800"/>
              <a:t> is the true RTF of the last step, even when real time is enforced</a:t>
            </a:r>
          </a:p>
          <a:p>
            <a:r>
              <a:rPr sz="1800"/>
              <a:t>PART 8: a rover or a crane has no </a:t>
            </a:r>
            <a:r>
              <a:rPr sz="1800">
                <a:latin typeface="Consolas"/>
              </a:rPr>
              <a:t>GetRTF()</a:t>
            </a:r>
            <a:r>
              <a:rPr sz="1800"/>
              <a:t>, so the same number is measured here over the reporting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Enforce real time, three ways (Lines 630 to 645)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0632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20624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r>
              <a:rPr sz="1800"/>
              <a:t>"per_step": the same timer, called explicitly at the end of the loop (next slide)</a:t>
            </a:r>
          </a:p>
          <a:p>
            <a:r>
              <a:rPr sz="1800"/>
              <a:t>"cumulative": our own timer that compares total simulated time to total wall time</a:t>
            </a:r>
          </a:p>
          <a:p>
            <a:r>
              <a:rPr sz="1800"/>
              <a:t>PART 8: a rover or a crane has no vehicle to spin for it, so "vehicle" quietly becomes "per_step" - same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71 to 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535 to 546)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589 to 592)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316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r>
              <a:rPr sz="1800"/>
              <a:t>Nothing else in the loop changes - the driver still just returns three floats</a:t>
            </a:r>
          </a:p>
          <a:p>
            <a:r>
              <a:rPr sz="1800"/>
              <a:t>The same driver reads a gamepad or wheel natively - SetInputMode(JOYSTICK), presets ship with Chrono</a:t>
            </a:r>
          </a:p>
          <a:p>
            <a:r>
              <a:rPr sz="1800"/>
              <a:t>PART 6: this one call also binds Chrono's own gear keys - Z, X, T, [ and ] - without a line of your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 PART 6 adds the gear as a fourth field, in both directions.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in a second terminal - the operator side has no Chrono dependency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UDP input source (Lines 219 to 269)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78408"/>
            <a:ext cx="12192000" cy="48006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33872"/>
            <a:ext cx="1139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r>
              <a:rPr sz="1600"/>
              <a:t>The operator can be anywhere on the network - and the console has no Chrono dependency at all</a:t>
            </a:r>
          </a:p>
          <a:p>
            <a:r>
              <a:rPr sz="1600"/>
              <a:t>PART 6 added the optional 4th field. Keeping it optional is what stops an older console from breaking: 3 fields still parse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Sample once per step, then hold (Lines 684 to 701)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2004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PART 8: hand the three numbers to whatever is being controlled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plant.apply(driver_inputs)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389120"/>
            <a:ext cx="1139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  <a:p>
            <a:r>
              <a:rPr sz="1800"/>
              <a:t>The three numbers are held; the gear commands are drained. One press of ']' is one upshift, not "keep upshifting"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Send state back at render rate (Lines 745 to 755)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2606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9476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r>
              <a:rPr sz="1800"/>
              <a:t>Send at render rate (50 Hz), not at every physics step - the human cannot use 333 Hz</a:t>
            </a:r>
          </a:p>
          <a:p>
            <a:r>
              <a:rPr sz="1800"/>
              <a:t>Whatever the plant is, the packet has the same shape: the console renders a crane's swing angle the same way it renders a gear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SEND_FEEDBACK = True: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  <a:p>
            <a:pPr/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Parts 6-8: the same loop, three more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changing gear, driving somewhere real, and steering something that is not a car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6: Change gear - and why it is not a fourth float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969" cy="3017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# A ChDriver carries three numbers, and a gear is not one of them: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gearbox belongs to the VEHICLE, so it is reached through the vehicle.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 = vehicle.GetTransmission()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transmission.ShiftUp()                        # or ShiftDown(), SetGear(n)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transmission.asAutomatic().SetDriveMode(...)  # D / N / 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transmission.asAutomatic().SetShiftMode(...)  # let it shift, or row it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On the keyboard you write none of this - vis.AttachDriver(driver) binds: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    Z  D &lt;-&gt; R     X  neutral     T  AUTO &lt;-&gt; MANUAL     [ ]  down /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For a device Chrono has never heard of, nothing is wired up. That is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point of PART 4: hil_gearbox.Gearbox turns one character off the socket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into the calls above, and operator_console.py sends it in a 4th 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4251960"/>
            <a:ext cx="11393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steering value is a LEVEL: re-sent every frame, and a lost packet costs nothing</a:t>
            </a:r>
          </a:p>
          <a:p>
            <a:r>
              <a:rPr sz="1800"/>
              <a:t>A gear change is an EVENT: a lost one is a shift that never happened - so it is sent once, on the key-down edge, and applied exactly once</a:t>
            </a:r>
          </a:p>
          <a:p>
            <a:r>
              <a:rPr sz="1800"/>
              <a:t>VEHICLE = "audi" is the only model here with a manual gearbox: it is assembled from JSON, not from a model wrapper class, and the wrappers each hard-code one powertrain</a:t>
            </a:r>
          </a:p>
        </p:txBody>
      </p:sp>
      <p:sp>
        <p:nvSpPr>
          <p:cNvPr id="5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7: Drive somewhere real - the Mcity digital twin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swaps the 200 x 200 m patch for a real 32-acre test facility</a:t>
            </a:r>
          </a:p>
          <a:p>
            <a:pPr lvl="1"/>
            <a:r>
              <a:rPr sz="1800"/>
              <a:t>road surface driven as a collision mesh; buildings, poles, signal heads drawn from a placement manifest</a:t>
            </a:r>
          </a:p>
          <a:p>
            <a:pPr lvl="1"/>
            <a:r>
              <a:rPr sz="1600">
                <a:latin typeface="Consolas"/>
              </a:rPr>
              <a:t>MCITY_DETAIL</a:t>
            </a:r>
            <a:r>
              <a:rPr sz="1800"/>
              <a:t> = "ground" | "light" | "full" trades scenery for frame rate - start at "ground" on a laptop</a:t>
            </a:r>
          </a:p>
          <a:p>
            <a:pPr lvl="1"/>
            <a:r>
              <a:rPr sz="1800"/>
              <a:t>860 placements cost 230 meshes: one ChVisualShape, added to a body many times, each time with its own frame</a:t>
            </a:r>
          </a:p>
          <a:p>
            <a:pPr/>
            <a:r>
              <a:rPr sz="2000"/>
              <a:t>Third-party and generated, not shipped: a missing dataset falls back to flat terrain with instructions</a:t>
            </a:r>
          </a:p>
          <a:p>
            <a:pPr/>
            <a:r>
              <a:rPr sz="2000"/>
              <a:t>Two things that cost time to rediscover:</a:t>
            </a:r>
          </a:p>
          <a:p>
            <a:pPr lvl="1"/>
            <a:r>
              <a:rPr sz="1800"/>
              <a:t>Drive the DRAWN geometry: Mcity's OpenDRIVE elevation differs from the road mesh by -0.24 to +0.29 m (5th/95th pct)</a:t>
            </a:r>
          </a:p>
          <a:p>
            <a:pPr lvl="1"/>
            <a:r>
              <a:rPr sz="1800"/>
              <a:t>Read the spawn height from the mesh: </a:t>
            </a:r>
            <a:r>
              <a:rPr sz="1600">
                <a:latin typeface="Consolas"/>
              </a:rPr>
              <a:t>RigidTerrain</a:t>
            </a:r>
            <a:r>
              <a:rPr sz="1800"/>
              <a:t> raycasts a collision system that does not exist yet and answers 0, which on a 274 m datum drops the car out of the world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8: Control something that isn't a 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</a:t>
            </a:r>
            <a:r>
              <a:rPr sz="2000"/>
              <a:t> switches what the same three numbers drive. The devices and the loop do not change</a:t>
            </a:r>
          </a:p>
          <a:p>
            <a:pPr lvl="1"/>
            <a:r>
              <a:rPr sz="1600">
                <a:latin typeface="Consolas"/>
              </a:rPr>
              <a:t>"vehicle"</a:t>
            </a:r>
            <a:r>
              <a:rPr sz="1800"/>
              <a:t> a Chrono::Vehicle, as in Parts 1-7</a:t>
            </a:r>
          </a:p>
          <a:p>
            <a:pPr lvl="1"/>
            <a:r>
              <a:rPr sz="1600">
                <a:latin typeface="Consolas"/>
              </a:rPr>
              <a:t>"rover"</a:t>
            </a:r>
            <a:r>
              <a:rPr sz="1800"/>
              <a:t> a Viper rover: steering -&gt; wheel angle, throttle -&gt; commanded wheel speed</a:t>
            </a:r>
          </a:p>
          <a:p>
            <a:pPr lvl="1"/>
            <a:r>
              <a:rPr sz="1600">
                <a:latin typeface="Consolas"/>
              </a:rPr>
              <a:t>"crane"</a:t>
            </a:r>
            <a:r>
              <a:rPr sz="1800"/>
              <a:t> a gantry crane: steering -&gt; cross-travel, throttle/braking -&gt; forward/reverse travel</a:t>
            </a:r>
          </a:p>
          <a:p>
            <a:pPr/>
            <a:r>
              <a:rPr sz="2000"/>
              <a:t>The crane has no Chrono::Vehicle at all: four bodies, two motors, a distance constraint</a:t>
            </a:r>
          </a:p>
          <a:p>
            <a:pPr lvl="1"/>
            <a:r>
              <a:rPr sz="1800"/>
              <a:t>the payload swings with nothing to damp it but the operator - which is the whole point</a:t>
            </a:r>
          </a:p>
          <a:p>
            <a:pPr/>
            <a:r>
              <a:rPr sz="2000"/>
              <a:t>No ChVehicle means no ChInteractiveDriver: both take input over UDP, console unchanged</a:t>
            </a:r>
          </a:p>
          <a:p>
            <a:pPr lvl="1"/>
            <a:r>
              <a:rPr sz="1600">
                <a:latin typeface="Consolas"/>
              </a:rPr>
              <a:t>DriverInputs</a:t>
            </a:r>
            <a:r>
              <a:rPr sz="1800"/>
              <a:t> is the whole ChDriver contract in twelve lines of Python: three floats, three setters, GetInputs()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 over </a:t>
            </a:r>
            <a:r>
              <a:rPr sz="1800">
                <a:latin typeface="Consolas"/>
              </a:rPr>
              <a:t>udp</a:t>
            </a:r>
            <a:r>
              <a:rPr sz="2000"/>
              <a:t>: put the load on the green pad with the swing under 2 degrees</a:t>
            </a:r>
          </a:p>
          <a:p>
            <a:pPr lvl="1"/>
            <a:r>
              <a:rPr sz="1800"/>
              <a:t>the console prints swing angle and miss distance - same telemetry path, same packet shape as the car</a:t>
            </a:r>
          </a:p>
          <a:p>
            <a:pPr/>
            <a:r>
              <a:rPr sz="1800">
                <a:latin typeface="Consolas"/>
              </a:rPr>
              <a:t>VEHICLE = "audi"</a:t>
            </a:r>
            <a:r>
              <a:rPr sz="2000"/>
              <a:t>, </a:t>
            </a:r>
            <a:r>
              <a:rPr sz="1800">
                <a:latin typeface="Consolas"/>
              </a:rPr>
              <a:t>TRANSMISSION = "manual"</a:t>
            </a:r>
            <a:r>
              <a:rPr sz="2000"/>
              <a:t>: pull away in third and feel the engine bog down</a:t>
            </a:r>
          </a:p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with </a:t>
            </a:r>
            <a:r>
              <a:rPr sz="1800">
                <a:latin typeface="Consolas"/>
              </a:rPr>
              <a:t>MCITY_DETAIL = "ground"</a:t>
            </a:r>
            <a:r>
              <a:rPr sz="2000"/>
              <a:t>: the same three numbers, somewhere real</a:t>
            </a:r>
          </a:p>
          <a:p>
            <a:pPr/>
            <a:r>
              <a:rPr sz="1800">
                <a:latin typeface="Consolas"/>
              </a:rPr>
              <a:t>PLANT = "rover"</a:t>
            </a:r>
            <a:r>
              <a:rPr sz="2000"/>
              <a:t> and hold the brake: it coasts rather than stopping - ViperDriver has no brake input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