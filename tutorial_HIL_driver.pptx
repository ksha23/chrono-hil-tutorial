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order is deliberate. The clock comes before the input, because input into a simulation that cannot hold real time is not human-in-the-loop, whatever else it is.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its controller resists,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1894430" y="4026408"/>
            <a:ext cx="2017070" cy="1542287"/>
          </a:xfrm>
          <a:prstGeom prst="rect">
            <a:avLst/>
          </a:prstGeom>
        </p:spPr>
      </p:pic>
      <p:pic>
        <p:nvPicPr>
          <p:cNvPr id="5" name="Picture 4" descr="demo_go2.png"/>
          <p:cNvPicPr>
            <a:picLocks noChangeAspect="1"/>
          </p:cNvPicPr>
          <p:nvPr/>
        </p:nvPicPr>
        <p:blipFill>
          <a:blip r:embed="rId3"/>
          <a:stretch>
            <a:fillRect/>
          </a:stretch>
        </p:blipFill>
        <p:spPr>
          <a:xfrm>
            <a:off x="4185821" y="4026408"/>
            <a:ext cx="1992122" cy="1542287"/>
          </a:xfrm>
          <a:prstGeom prst="rect">
            <a:avLst/>
          </a:prstGeom>
        </p:spPr>
      </p:pic>
      <p:pic>
        <p:nvPicPr>
          <p:cNvPr id="6" name="Picture 5" descr="demo_arm.png"/>
          <p:cNvPicPr>
            <a:picLocks noChangeAspect="1"/>
          </p:cNvPicPr>
          <p:nvPr/>
        </p:nvPicPr>
        <p:blipFill>
          <a:blip r:embed="rId4"/>
          <a:stretch>
            <a:fillRect/>
          </a:stretch>
        </p:blipFill>
        <p:spPr>
          <a:xfrm>
            <a:off x="6452263" y="4026408"/>
            <a:ext cx="1575816" cy="1542287"/>
          </a:xfrm>
          <a:prstGeom prst="rect">
            <a:avLst/>
          </a:prstGeom>
        </p:spPr>
      </p:pic>
      <p:pic>
        <p:nvPicPr>
          <p:cNvPr id="7" name="Picture 6" descr="demo_push.png"/>
          <p:cNvPicPr>
            <a:picLocks noChangeAspect="1"/>
          </p:cNvPicPr>
          <p:nvPr/>
        </p:nvPicPr>
        <p:blipFill>
          <a:blip r:embed="rId5"/>
          <a:stretch>
            <a:fillRect/>
          </a:stretch>
        </p:blipFill>
        <p:spPr>
          <a:xfrm>
            <a:off x="8302399" y="4026408"/>
            <a:ext cx="1992122" cy="1542287"/>
          </a:xfrm>
          <a:prstGeom prst="rect">
            <a:avLst/>
          </a:prstGeom>
        </p:spPr>
      </p:pic>
      <p:sp>
        <p:nvSpPr>
          <p:cNvPr id="8" name="NoteBox"/>
          <p:cNvSpPr txBox="1"/>
          <p:nvPr/>
        </p:nvSpPr>
        <p:spPr>
          <a:xfrm>
            <a:off x="402336" y="5532120"/>
            <a:ext cx="11393424" cy="713232"/>
          </a:xfrm>
          <a:prstGeom prst="rect">
            <a:avLst/>
          </a:prstGeom>
          <a:noFill/>
        </p:spPr>
        <p:txBody>
          <a:bodyPr wrap="square">
            <a:spAutoFit/>
          </a:bodyPr>
          <a:lstStyle/>
          <a:p>
            <a:pPr>
              <a:spcAft>
                <a:spcPts val="400"/>
              </a:spcAft>
            </a:pPr>
            <a:r>
              <a:rPr sz="1600"/>
              <a:t>Two of them are a person inside the loop, one is a person setting up an experiment and watching, and the first one has no human in it at all. That distinction is the next slide.</a:t>
            </a:r>
          </a:p>
        </p:txBody>
      </p:sp>
      <p:sp>
        <p:nvSpPr>
          <p:cNvPr id="9"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0"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Nothing in that definition mentions vehicles. That is the whole point of the tutorial: a car, a crane, a gearbox and a quadruped's leg all satisfy it, and they satisfy it the same way.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300">
                <a:latin typeface="Consolas"/>
              </a:rPr>
              <a:t>Measuring the person.</a:t>
            </a:r>
            <a:r>
              <a:rPr sz="1500"/>
              <a:t> Human factors: what does an operator do when the controls are delayed, when an assist takes authority, when a hazard appears late?</a:t>
            </a:r>
          </a:p>
          <a:p>
            <a:pPr>
              <a:spcAft>
                <a:spcPts val="500"/>
              </a:spcAft>
            </a:pPr>
            <a:r>
              <a:rPr sz="1300">
                <a:latin typeface="Consolas"/>
              </a:rPr>
              <a:t>Training the person.</a:t>
            </a:r>
            <a:r>
              <a:rPr sz="1500"/>
              <a:t> Here the simulator IS the product, and the fidelity bar is whether it feels like the real thing.</a:t>
            </a:r>
          </a:p>
          <a:p>
            <a:pPr>
              <a:spcAft>
                <a:spcPts val="500"/>
              </a:spcAft>
            </a:pPr>
            <a:r>
              <a:rPr sz="1300">
                <a:latin typeface="Consolas"/>
              </a:rPr>
              <a:t>Collecting data from the person.</a:t>
            </a:r>
            <a:r>
              <a:rPr sz="1500"/>
              <a:t> Demonstrations for imitation learning, driver models, reference trajectories no controller would have produced.</a:t>
            </a:r>
          </a:p>
          <a:p>
            <a:pPr>
              <a:spcAft>
                <a:spcPts val="500"/>
              </a:spcAft>
            </a:pPr>
            <a:r>
              <a:rPr sz="1300">
                <a:latin typeface="Consolas"/>
              </a:rPr>
              <a:t>Testing the machine against a person.</a:t>
            </a:r>
            <a:r>
              <a:rPr sz="1500"/>
              <a:t> Someone perturbs a controller in ways a scripted test would never have thought to try.</a:t>
            </a:r>
          </a:p>
          <a:p>
            <a:pPr>
              <a:spcAft>
                <a:spcPts val="500"/>
              </a:spcAft>
            </a:pPr>
            <a:r>
              <a:rPr sz="1300">
                <a:latin typeface="Consolas"/>
              </a:rPr>
              <a:t>Judging the machine by feel.</a:t>
            </a:r>
            <a:r>
              <a:rPr sz="1500"/>
              <a:t> Reach in, pull on it, see whether it behaves plausibly. Faster than any metric at answering 'something is wrong here'.</a:t>
            </a:r>
          </a:p>
          <a:p>
            <a:pPr>
              <a:spcAft>
                <a:spcPts val="500"/>
              </a:spcAft>
            </a:pPr>
            <a:r>
              <a:rPr sz="1300">
                <a:latin typeface="Consolas"/>
              </a:rPr>
              <a:t>Designing shared control.</a:t>
            </a:r>
            <a:r>
              <a:rPr sz="1500"/>
              <a:t> When authority is split between a person and a controller, neither half can be evaluated alone.</a:t>
            </a:r>
          </a:p>
          <a:p>
            <a:pPr>
              <a:spcAft>
                <a:spcPts val="500"/>
              </a:spcAft>
            </a:pPr>
            <a:r>
              <a:rPr sz="1300">
                <a:latin typeface="Consolas"/>
              </a:rPr>
              <a:t>Setting a scene up.</a:t>
            </a:r>
            <a:r>
              <a:rPr sz="1500"/>
              <a:t> Placing things by hand where a script would take twenty guesses. Useful, and not in the loop.</a:t>
            </a:r>
          </a:p>
        </p:txBody>
      </p:sp>
      <p:sp>
        <p:nvSpPr>
          <p:cNvPr id="4" name="NoteBox"/>
          <p:cNvSpPr txBox="1"/>
          <p:nvPr/>
        </p:nvSpPr>
        <p:spPr>
          <a:xfrm>
            <a:off x="402336" y="5532120"/>
            <a:ext cx="11393424" cy="987551"/>
          </a:xfrm>
          <a:prstGeom prst="rect">
            <a:avLst/>
          </a:prstGeom>
          <a:noFill/>
        </p:spPr>
        <p:txBody>
          <a:bodyPr wrap="square">
            <a:spAutoFit/>
          </a:bodyPr>
          <a:lstStyle/>
          <a:p>
            <a:pPr>
              <a:spcAft>
                <a:spcPts val="400"/>
              </a:spcAft>
            </a:pPr>
            <a:r>
              <a:rPr sz="16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1856506" y="3912108"/>
            <a:ext cx="2946500" cy="1656587"/>
          </a:xfrm>
          <a:prstGeom prst="rect">
            <a:avLst/>
          </a:prstGeom>
        </p:spPr>
      </p:pic>
      <p:pic>
        <p:nvPicPr>
          <p:cNvPr id="5" name="Picture 4" descr="remote_driving_study.png"/>
          <p:cNvPicPr>
            <a:picLocks noChangeAspect="1"/>
          </p:cNvPicPr>
          <p:nvPr/>
        </p:nvPicPr>
        <p:blipFill>
          <a:blip r:embed="rId3"/>
          <a:stretch>
            <a:fillRect/>
          </a:stretch>
        </p:blipFill>
        <p:spPr>
          <a:xfrm>
            <a:off x="5077326" y="3912108"/>
            <a:ext cx="5255118" cy="1656587"/>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Worth saying out loud, because 'interactive' and 'in the loop' get used interchangeably and only one of them has a clock in it. All three are useful. Only the first two are what the phrase means.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Unpaced, a box being dragged by hand travelled 88.7 m in one wall-clock second instead of 1.8 m. The physics was right both times. Only one of them was usable by a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drift column is the honest one. RTF can look fine on average while the sim has already lost a second of wall clock.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Reach for them in this order. People tend to start at the solver, which is near the bottom of the list and the easiest place to spend an afternoon for nothing.</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t>1.  </a:t>
            </a:r>
            <a:r>
              <a:rPr sz="1600">
                <a:latin typeface="Consolas"/>
              </a:rPr>
              <a:t>Step size</a:t>
            </a:r>
            <a:r>
              <a:rPr sz="1800"/>
              <a:t>. Everything scales with steps per second. The largest step that stays stable is the single biggest lever there is.</a:t>
            </a:r>
          </a:p>
          <a:p>
            <a:pPr>
              <a:spcAft>
                <a:spcPts val="900"/>
              </a:spcAft>
            </a:pPr>
            <a:r>
              <a:rPr sz="1800"/>
              <a:t>2.  </a:t>
            </a:r>
            <a:r>
              <a:rPr sz="1600">
                <a:latin typeface="Consolas"/>
              </a:rPr>
              <a:t>Collision geometry</a:t>
            </a:r>
            <a:r>
              <a:rPr sz="1800"/>
              <a:t>. Primitives beat convex hulls beat triangle meshes, by a lot. Most imported assets arrive as the slowest option.</a:t>
            </a:r>
          </a:p>
          <a:p>
            <a:pPr>
              <a:spcAft>
                <a:spcPts val="900"/>
              </a:spcAft>
            </a:pPr>
            <a:r>
              <a:rPr sz="1800"/>
              <a:t>3.  </a:t>
            </a:r>
            <a:r>
              <a:rPr sz="1600">
                <a:latin typeface="Consolas"/>
              </a:rPr>
              <a:t>Which pairs are tested at all</a:t>
            </a:r>
            <a:r>
              <a:rPr sz="1800"/>
              <a:t>. Families and masks remove whole classes of pair from the broadphase, including self-collision.</a:t>
            </a:r>
          </a:p>
          <a:p>
            <a:pPr>
              <a:spcAft>
                <a:spcPts val="900"/>
              </a:spcAft>
            </a:pPr>
            <a:r>
              <a:rPr sz="1800"/>
              <a:t>4.  </a:t>
            </a:r>
            <a:r>
              <a:rPr sz="1600">
                <a:latin typeface="Consolas"/>
              </a:rPr>
              <a:t>Active domains</a:t>
            </a:r>
            <a:r>
              <a:rPr sz="1800"/>
              <a:t>. Let the expensive physics happen only where it matters: deformable terrain near the wheels, fluid near the hull.</a:t>
            </a:r>
          </a:p>
          <a:p>
            <a:pPr>
              <a:spcAft>
                <a:spcPts val="900"/>
              </a:spcAft>
            </a:pPr>
            <a:r>
              <a:rPr sz="1800"/>
              <a:t>5.  </a:t>
            </a:r>
            <a:r>
              <a:rPr sz="1600">
                <a:latin typeface="Consolas"/>
              </a:rPr>
              <a:t>Solver type and iteration cap</a:t>
            </a:r>
            <a:r>
              <a:rPr sz="1800"/>
              <a:t>. Iterations buy convergence and cost time, and you pay out of the same step you wanted to sleep in.</a:t>
            </a:r>
          </a:p>
          <a:p>
            <a:pPr>
              <a:spcAft>
                <a:spcPts val="900"/>
              </a:spcAft>
            </a:pPr>
            <a:r>
              <a:rPr sz="1800"/>
              <a:t>6.  </a:t>
            </a:r>
            <a:r>
              <a:rPr sz="1600">
                <a:latin typeface="Consolas"/>
              </a:rPr>
              <a:t>Threads</a:t>
            </a:r>
            <a:r>
              <a:rPr sz="1800"/>
              <a:t>, </a:t>
            </a:r>
            <a:r>
              <a:rPr sz="1600">
                <a:latin typeface="Consolas"/>
              </a:rPr>
              <a:t>sleeping bodies</a:t>
            </a:r>
            <a:r>
              <a:rPr sz="1800"/>
              <a:t>, and </a:t>
            </a:r>
            <a:r>
              <a:rPr sz="1600">
                <a:latin typeface="Consolas"/>
              </a:rPr>
              <a:t>model reduction</a:t>
            </a:r>
            <a:r>
              <a:rPr sz="1800"/>
              <a:t> for elastic subassemblies.</a:t>
            </a:r>
          </a:p>
          <a:p>
            <a:pPr>
              <a:spcAft>
                <a:spcPts val="900"/>
              </a:spcAft>
            </a:pPr>
            <a:r>
              <a:rPr sz="1800"/>
              <a:t>7.  </a:t>
            </a:r>
            <a:r>
              <a:rPr sz="1600">
                <a:latin typeface="Consolas"/>
              </a:rPr>
              <a:t>Render less often than you step</a:t>
            </a:r>
            <a:r>
              <a:rPr sz="1800"/>
              <a:t>. Drawing is not free, and the eye does not need 500 Hz.</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None of this is specific to having a human in the loop. It becomes urgent when there is one, because a batch job that runs at 0.6x real time is merely slow, and an interactive one is broken.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600">
                <a:latin typeface="Consolas"/>
              </a:rPr>
              <a:t>ChInteractiveDriver</a:t>
            </a:r>
            <a:r>
              <a:rPr sz="1800"/>
              <a:t> covers two CLASSES of device, not two devices:</a:t>
            </a:r>
          </a:p>
          <a:p>
            <a:pPr lvl="1">
              <a:spcAft>
                <a:spcPts val="900"/>
              </a:spcAft>
            </a:pPr>
            <a:r>
              <a:rPr sz="1400">
                <a:latin typeface="Consolas"/>
              </a:rPr>
              <a:t>InputMode_KEYBOARD</a:t>
            </a:r>
            <a:r>
              <a:rPr sz="1600"/>
              <a:t>  -  with </a:t>
            </a:r>
            <a:r>
              <a:rPr sz="1400">
                <a:latin typeface="Consolas"/>
              </a:rPr>
              <a:t>KeyboardMode_HELD</a:t>
            </a:r>
            <a:r>
              <a:rPr sz="1600"/>
              <a:t> or </a:t>
            </a:r>
            <a:r>
              <a:rPr sz="1400">
                <a:latin typeface="Consolas"/>
              </a:rPr>
              <a:t>_CUMULATIVE</a:t>
            </a:r>
          </a:p>
          <a:p>
            <a:pPr lvl="1">
              <a:spcAft>
                <a:spcPts val="900"/>
              </a:spcAft>
            </a:pPr>
            <a:r>
              <a:rPr sz="1400">
                <a:latin typeface="Consolas"/>
              </a:rPr>
              <a:t>InputMode_JOYSTICK</a:t>
            </a:r>
            <a:r>
              <a:rPr sz="1600"/>
              <a:t>  -  anything the windowing layer enumerates as one</a:t>
            </a:r>
          </a:p>
          <a:p>
            <a:pPr>
              <a:spcAft>
                <a:spcPts val="900"/>
              </a:spcAft>
            </a:pPr>
            <a:r>
              <a:rPr sz="1800"/>
              <a:t>A joystick is mapped by a JSON file, not by code: </a:t>
            </a:r>
            <a:r>
              <a:rPr sz="1600">
                <a:latin typeface="Consolas"/>
              </a:rPr>
              <a:t>SetJoystickConfigFile(path)</a:t>
            </a:r>
          </a:p>
          <a:p>
            <a:pPr lvl="1">
              <a:spcAft>
                <a:spcPts val="900"/>
              </a:spcAft>
            </a:pPr>
            <a:r>
              <a:rPr sz="1600"/>
              <a:t>mapped axes: steering, throttle, brake, CLUTCH</a:t>
            </a:r>
          </a:p>
          <a:p>
            <a:pPr lvl="1">
              <a:spcAft>
                <a:spcPts val="900"/>
              </a:spcAft>
            </a:pPr>
            <a:r>
              <a:rPr sz="1600"/>
              <a:t>mapped buttons: shift up/down, reverse, gears 1-9, manual-gearbox toggle, plus one user callback</a:t>
            </a:r>
          </a:p>
          <a:p>
            <a:pPr>
              <a:spcAft>
                <a:spcPts val="900"/>
              </a:spcAft>
            </a:pPr>
            <a:r>
              <a:rPr sz="1800"/>
              <a:t>Four configs ship in </a:t>
            </a:r>
            <a:r>
              <a:rPr sz="1600">
                <a:latin typeface="Consolas"/>
              </a:rPr>
              <a:t>data/vehicle/joystick/</a:t>
            </a:r>
            <a:r>
              <a:rPr sz="1800"/>
              <a:t>: Default, Logitech RumblePad 2, Xbox One, and Wheel+Pedals+Shifters</a:t>
            </a:r>
          </a:p>
          <a:p>
            <a:pPr>
              <a:spcAft>
                <a:spcPts val="900"/>
              </a:spcAft>
            </a:pPr>
            <a:r>
              <a:rPr sz="1800"/>
              <a:t>Each control names its own DEVICE, so a wheel, a pedal box and an H-shifter enumerating as three separate USB devices all map at once</a:t>
            </a:r>
          </a:p>
          <a:p>
            <a:pPr>
              <a:spcAft>
                <a:spcPts val="900"/>
              </a:spcAft>
            </a:pPr>
            <a:r>
              <a:rPr sz="1800"/>
              <a:t>Not hypothetical: the remote-driving study on slide 5 ran on a Logitech G29 wheel and pedal set through this path</a:t>
            </a:r>
          </a:p>
        </p:txBody>
      </p:sp>
      <p:sp>
        <p:nvSpPr>
          <p:cNvPr id="4" name="NoteBox"/>
          <p:cNvSpPr txBox="1"/>
          <p:nvPr/>
        </p:nvSpPr>
        <p:spPr>
          <a:xfrm>
            <a:off x="402336" y="5532120"/>
            <a:ext cx="11393424" cy="1261872"/>
          </a:xfrm>
          <a:prstGeom prst="rect">
            <a:avLst/>
          </a:prstGeom>
          <a:noFill/>
        </p:spPr>
        <p:txBody>
          <a:bodyPr wrap="square">
            <a:spAutoFit/>
          </a:bodyPr>
          <a:lstStyle/>
          <a:p>
            <a:pPr>
              <a:spcAft>
                <a:spcPts val="4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400"/>
              </a:spcAft>
            </a:pPr>
            <a:r>
              <a:rPr sz="1600"/>
              <a:t>All of it is exposed to PyChrono.</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tutorial ships one of these, an operator console on UDP, so a second machine can drive the simulation and watch telemetry come back.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p:txBody>
      </p:sp>
      <p:pic>
        <p:nvPicPr>
          <p:cNvPr id="4" name="Picture 3" descr="hmmwv.png"/>
          <p:cNvPicPr>
            <a:picLocks noChangeAspect="1"/>
          </p:cNvPicPr>
          <p:nvPr/>
        </p:nvPicPr>
        <p:blipFill>
          <a:blip r:embed="rId2"/>
          <a:stretch>
            <a:fillRect/>
          </a:stretch>
        </p:blipFill>
        <p:spPr>
          <a:xfrm>
            <a:off x="7269480" y="1707707"/>
            <a:ext cx="4526280" cy="3460873"/>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whole definition satisfied in one window: input reaches the state, the state comes back on screen, and the timer holds the pace.</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gap this tutorial walks into. Everything needed to build one is already exposed; what is missing is the ability to receive the mouse event in the first place.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tries to hold position</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stance controller fights back</a:t>
            </a:r>
          </a:p>
          <a:p>
            <a:pPr>
              <a:spcAft>
                <a:spcPts val="900"/>
              </a:spcAft>
            </a:pPr>
            <a:r>
              <a:rPr sz="2000"/>
              <a:t>Drag a Franka link, hand-guided or fully unactuated</a:t>
            </a:r>
          </a:p>
          <a:p>
            <a:pPr>
              <a:spcAft>
                <a:spcPts val="900"/>
              </a:spcAft>
            </a:pPr>
            <a:r>
              <a:rPr sz="2000"/>
              <a:t>Yanking a link into the floor: </a:t>
            </a:r>
            <a:r>
              <a:rPr sz="1800">
                <a:latin typeface="Consolas"/>
              </a:rPr>
              <a:t>35.14 m/s</a:t>
            </a:r>
            <a:r>
              <a:rPr sz="2000"/>
              <a:t> before the gains were bounded, </a:t>
            </a:r>
            <a:r>
              <a:rPr sz="1800">
                <a:latin typeface="Consolas"/>
              </a:rPr>
              <a:t>3.25 m/s</a:t>
            </a:r>
            <a:r>
              <a:rPr sz="2000"/>
              <a:t> after</a:t>
            </a:r>
          </a:p>
        </p:txBody>
      </p:sp>
      <p:pic>
        <p:nvPicPr>
          <p:cNvPr id="4" name="Picture 3" descr="demo_go2.png"/>
          <p:cNvPicPr>
            <a:picLocks noChangeAspect="1"/>
          </p:cNvPicPr>
          <p:nvPr/>
        </p:nvPicPr>
        <p:blipFill>
          <a:blip r:embed="rId2"/>
          <a:stretch>
            <a:fillRect/>
          </a:stretch>
        </p:blipFill>
        <p:spPr>
          <a:xfrm>
            <a:off x="4305558" y="4140708"/>
            <a:ext cx="1844484" cy="1427987"/>
          </a:xfrm>
          <a:prstGeom prst="rect">
            <a:avLst/>
          </a:prstGeom>
        </p:spPr>
      </p:pic>
      <p:pic>
        <p:nvPicPr>
          <p:cNvPr id="5" name="Picture 4" descr="demo_arm.png"/>
          <p:cNvPicPr>
            <a:picLocks noChangeAspect="1"/>
          </p:cNvPicPr>
          <p:nvPr/>
        </p:nvPicPr>
        <p:blipFill>
          <a:blip r:embed="rId3"/>
          <a:stretch>
            <a:fillRect/>
          </a:stretch>
        </p:blipFill>
        <p:spPr>
          <a:xfrm>
            <a:off x="6424362" y="4140708"/>
            <a:ext cx="1459031" cy="1427987"/>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clearest case of the definition on the whole deck: you pull, the controller resists, you feel it resist, and you pull differently.</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click where the push lands, set direction and magnitude, fire a measured impulse, watch the controller recover or fail</a:t>
            </a:r>
          </a:p>
          <a:p>
            <a:pPr>
              <a:spcAft>
                <a:spcPts val="900"/>
              </a:spcAft>
            </a:pPr>
            <a:r>
              <a:rPr sz="1800">
                <a:latin typeface="Consolas"/>
              </a:rPr>
              <a:t>WHY</a:t>
            </a:r>
            <a:r>
              <a:rPr sz="2000"/>
              <a:t>   robustness testing that produces a NUMBER, so the result can go in a report and somebody else can reproduce it</a:t>
            </a:r>
          </a:p>
          <a:p>
            <a:pPr>
              <a:spcAft>
                <a:spcPts val="900"/>
              </a:spcAft>
            </a:pPr>
            <a:r>
              <a:rPr sz="2000"/>
              <a:t>Forward at the base COM: </a:t>
            </a:r>
            <a:r>
              <a:rPr sz="1800">
                <a:latin typeface="Consolas"/>
              </a:rPr>
              <a:t>325 N</a:t>
            </a:r>
            <a:r>
              <a:rPr sz="2000"/>
              <a:t> recovers, </a:t>
            </a:r>
            <a:r>
              <a:rPr sz="1800">
                <a:latin typeface="Consolas"/>
              </a:rPr>
              <a:t>330 N</a:t>
            </a:r>
            <a:r>
              <a:rPr sz="2000"/>
              <a:t> does not</a:t>
            </a:r>
          </a:p>
          <a:p>
            <a:pPr>
              <a:spcAft>
                <a:spcPts val="900"/>
              </a:spcAft>
            </a:pPr>
            <a:r>
              <a:rPr sz="2000"/>
              <a:t>Sideways: </a:t>
            </a:r>
            <a:r>
              <a:rPr sz="1800">
                <a:latin typeface="Consolas"/>
              </a:rPr>
              <a:t>280 N</a:t>
            </a:r>
            <a:r>
              <a:rPr sz="2000"/>
              <a:t> recovers, </a:t>
            </a:r>
            <a:r>
              <a:rPr sz="1800">
                <a:latin typeface="Consolas"/>
              </a:rPr>
              <a:t>290 N</a:t>
            </a:r>
            <a:r>
              <a:rPr sz="2000"/>
              <a:t> does not</a:t>
            </a:r>
          </a:p>
          <a:p>
            <a:pPr>
              <a:spcAft>
                <a:spcPts val="900"/>
              </a:spcAft>
            </a:pPr>
            <a:r>
              <a:rPr sz="2000"/>
              <a:t>Same impulse, applied 5 cm higher up the torso: the verdict flips</a:t>
            </a:r>
          </a:p>
        </p:txBody>
      </p:sp>
      <p:pic>
        <p:nvPicPr>
          <p:cNvPr id="4" name="Picture 3" descr="demo_push.png"/>
          <p:cNvPicPr>
            <a:picLocks noChangeAspect="1"/>
          </p:cNvPicPr>
          <p:nvPr/>
        </p:nvPicPr>
        <p:blipFill>
          <a:blip r:embed="rId2"/>
          <a:stretch>
            <a:fillRect/>
          </a:stretch>
        </p:blipFill>
        <p:spPr>
          <a:xfrm>
            <a:off x="7269480" y="1686035"/>
            <a:ext cx="4526280" cy="3504216"/>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reason a human is still in this one. Where to push is a judgement call, and it changes the answer as much as how hard you push does.</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gap this talk found is small and specific, which is the good kind: one line to let Python receive the event, and a utility on top of primitives Chrono already exposes. Upstream PR to follow.</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