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making a step cheap enough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All the code is in one repository you can clone.</a:t>
            </a:r>
          </a:p>
          <a:p>
            <a:pPr>
              <a:spcAft>
                <a:spcPts val="900"/>
              </a:spcAft>
            </a:pPr>
            <a:r>
              <a:rPr sz="2000"/>
              <a:t>The order is deliberate. The clock comes before the input, because input into a simulation that cannot hold real time is not human-in-the-loop, whatever else it is.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Demo 1.  </a:t>
            </a:r>
            <a:r>
              <a:rPr sz="1800">
                <a:latin typeface="Consolas"/>
              </a:rPr>
              <a:t>Does the clock matter.</a:t>
            </a:r>
            <a:r>
              <a:rPr sz="2000"/>
              <a:t> The same drive twice, paced and unpaced.</a:t>
            </a:r>
          </a:p>
          <a:p>
            <a:pPr>
              <a:spcAft>
                <a:spcPts val="900"/>
              </a:spcAft>
            </a:pPr>
            <a:r>
              <a:rPr sz="2000"/>
              <a:t>Demo 2.  </a:t>
            </a:r>
            <a:r>
              <a:rPr sz="1800">
                <a:latin typeface="Consolas"/>
              </a:rPr>
              <a:t>A person driving.</a:t>
            </a:r>
            <a:r>
              <a:rPr sz="2000"/>
              <a:t> Keyboard into a vehicle, the textbook case.</a:t>
            </a:r>
          </a:p>
          <a:p>
            <a:pPr>
              <a:spcAft>
                <a:spcPts val="900"/>
              </a:spcAft>
            </a:pPr>
            <a:r>
              <a:rPr sz="2000"/>
              <a:t>Demo 3.  </a:t>
            </a:r>
            <a:r>
              <a:rPr sz="1800">
                <a:latin typeface="Consolas"/>
              </a:rPr>
              <a:t>Reaching in.</a:t>
            </a:r>
            <a:r>
              <a:rPr sz="2000"/>
              <a:t> Drag a quadruped's leg while a trained locomotion policy fights you, and a Franka arm with the motors on or off.</a:t>
            </a:r>
          </a:p>
          <a:p>
            <a:pPr>
              <a:spcAft>
                <a:spcPts val="900"/>
              </a:spcAft>
            </a:pPr>
            <a:r>
              <a:rPr sz="2000"/>
              <a:t>Demo 4.  </a:t>
            </a:r>
            <a:r>
              <a:rPr sz="1800">
                <a:latin typeface="Consolas"/>
              </a:rPr>
              <a:t>How hard can you shove it.</a:t>
            </a:r>
            <a:r>
              <a:rPr sz="2000"/>
              <a:t> A measured impulse at a point you choose, and the magnitude where recovery stops.</a:t>
            </a:r>
          </a:p>
          <a:p>
            <a:pPr>
              <a:spcAft>
                <a:spcPts val="900"/>
              </a:spcAft>
            </a:pPr>
            <a:r>
              <a:rPr sz="2000"/>
              <a:t>The demo numbers are their own: demo 1 closes the clock section, demo 2 the input section, demos 3 and 4 the last one.</a:t>
            </a:r>
          </a:p>
        </p:txBody>
      </p:sp>
      <p:pic>
        <p:nvPicPr>
          <p:cNvPr id="4" name="Picture 3" descr="hmmwv.png"/>
          <p:cNvPicPr>
            <a:picLocks noChangeAspect="1"/>
          </p:cNvPicPr>
          <p:nvPr/>
        </p:nvPicPr>
        <p:blipFill>
          <a:blip r:embed="rId2"/>
          <a:stretch>
            <a:fillRect/>
          </a:stretch>
        </p:blipFill>
        <p:spPr>
          <a:xfrm>
            <a:off x="1511331" y="4702556"/>
            <a:ext cx="2221036" cy="1698244"/>
          </a:xfrm>
          <a:prstGeom prst="rect">
            <a:avLst/>
          </a:prstGeom>
        </p:spPr>
      </p:pic>
      <p:pic>
        <p:nvPicPr>
          <p:cNvPr id="5" name="Picture 4" descr="demo_go2.png"/>
          <p:cNvPicPr>
            <a:picLocks noChangeAspect="1"/>
          </p:cNvPicPr>
          <p:nvPr/>
        </p:nvPicPr>
        <p:blipFill>
          <a:blip r:embed="rId3"/>
          <a:stretch>
            <a:fillRect/>
          </a:stretch>
        </p:blipFill>
        <p:spPr>
          <a:xfrm>
            <a:off x="4006688" y="4702556"/>
            <a:ext cx="2193565" cy="1698244"/>
          </a:xfrm>
          <a:prstGeom prst="rect">
            <a:avLst/>
          </a:prstGeom>
        </p:spPr>
      </p:pic>
      <p:pic>
        <p:nvPicPr>
          <p:cNvPr id="6" name="Picture 5" descr="demo_arm.png"/>
          <p:cNvPicPr>
            <a:picLocks noChangeAspect="1"/>
          </p:cNvPicPr>
          <p:nvPr/>
        </p:nvPicPr>
        <p:blipFill>
          <a:blip r:embed="rId4"/>
          <a:stretch>
            <a:fillRect/>
          </a:stretch>
        </p:blipFill>
        <p:spPr>
          <a:xfrm>
            <a:off x="6474573" y="4702556"/>
            <a:ext cx="1735162" cy="1698244"/>
          </a:xfrm>
          <a:prstGeom prst="rect">
            <a:avLst/>
          </a:prstGeom>
        </p:spPr>
      </p:pic>
      <p:pic>
        <p:nvPicPr>
          <p:cNvPr id="7" name="Picture 6" descr="demo_push.png"/>
          <p:cNvPicPr>
            <a:picLocks noChangeAspect="1"/>
          </p:cNvPicPr>
          <p:nvPr/>
        </p:nvPicPr>
        <p:blipFill>
          <a:blip r:embed="rId5"/>
          <a:stretch>
            <a:fillRect/>
          </a:stretch>
        </p:blipFill>
        <p:spPr>
          <a:xfrm>
            <a:off x="8484055" y="4702556"/>
            <a:ext cx="2193565" cy="1698244"/>
          </a:xfrm>
          <a:prstGeom prst="rect">
            <a:avLst/>
          </a:prstGeom>
        </p:spPr>
      </p:pic>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a:p>
            <a:pPr>
              <a:spcAft>
                <a:spcPts val="900"/>
              </a:spcAft>
            </a:pPr>
            <a:r>
              <a:rPr sz="2000"/>
              <a:t>Nothing in that definition mentions vehicles. That is the whole point of the tutorial: a car, a crane, a gearbox and a quadruped's leg all satisfy it, and they satisfy it the same way.</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a:p>
            <a:pPr>
              <a:spcAft>
                <a:spcPts val="900"/>
              </a:spcAft>
            </a:pPr>
            <a:r>
              <a:rPr sz="2000"/>
              <a:t>Worth saying out loud, because 'interactive' and 'in the loop' get used interchangeably and only one of them has a clock in it. All three are useful. Only the first two are what the phrase means.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3111522" y="4473956"/>
            <a:ext cx="2044750" cy="1149604"/>
          </a:xfrm>
          <a:prstGeom prst="rect">
            <a:avLst/>
          </a:prstGeom>
        </p:spPr>
      </p:pic>
      <p:pic>
        <p:nvPicPr>
          <p:cNvPr id="5" name="Picture 4" descr="remote_driving_study.png"/>
          <p:cNvPicPr>
            <a:picLocks noChangeAspect="1"/>
          </p:cNvPicPr>
          <p:nvPr/>
        </p:nvPicPr>
        <p:blipFill>
          <a:blip r:embed="rId3"/>
          <a:stretch>
            <a:fillRect/>
          </a:stretch>
        </p:blipFill>
        <p:spPr>
          <a:xfrm>
            <a:off x="5430592" y="4473956"/>
            <a:ext cx="3646836" cy="1149604"/>
          </a:xfrm>
          <a:prstGeom prst="rect">
            <a:avLst/>
          </a:prstGeom>
        </p:spPr>
      </p:pic>
      <p:sp>
        <p:nvSpPr>
          <p:cNvPr id="6" name="NoteBox"/>
          <p:cNvSpPr txBox="1"/>
          <p:nvPr/>
        </p:nvSpPr>
        <p:spPr>
          <a:xfrm>
            <a:off x="402336" y="5760720"/>
            <a:ext cx="11393424" cy="713232"/>
          </a:xfrm>
          <a:prstGeom prst="rect">
            <a:avLst/>
          </a:prstGeom>
          <a:noFill/>
        </p:spPr>
        <p:txBody>
          <a:bodyPr wrap="square">
            <a:spAutoFit/>
          </a:bodyPr>
          <a:lstStyle/>
          <a:p>
            <a:pPr>
              <a:spcAft>
                <a:spcPts val="400"/>
              </a:spcAft>
            </a:pPr>
            <a:r>
              <a:rPr sz="13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Measuring the person.</a:t>
            </a:r>
            <a:r>
              <a:rPr sz="1700"/>
              <a:t> Human factors, which is what that study measured: how does an operator behave when the controls are delayed, when an assist takes authority, when a hazard appears late?</a:t>
            </a:r>
          </a:p>
          <a:p>
            <a:pPr>
              <a:spcAft>
                <a:spcPts val="500"/>
              </a:spcAft>
            </a:pPr>
            <a:r>
              <a:rPr sz="1500">
                <a:latin typeface="Consolas"/>
              </a:rPr>
              <a:t>Training the person.</a:t>
            </a:r>
            <a:r>
              <a:rPr sz="1700"/>
              <a:t> Here the simulator IS the product, and the fidelity bar is whether it feels like the real thing.</a:t>
            </a:r>
          </a:p>
          <a:p>
            <a:pPr>
              <a:spcAft>
                <a:spcPts val="500"/>
              </a:spcAft>
            </a:pPr>
            <a:r>
              <a:rPr sz="1500">
                <a:latin typeface="Consolas"/>
              </a:rPr>
              <a:t>Collecting data from the person.</a:t>
            </a:r>
            <a:r>
              <a:rPr sz="1700"/>
              <a:t> Demonstrations for imitation learning, driver models, reference trajectories no controller would have produced.</a:t>
            </a:r>
          </a:p>
          <a:p>
            <a:pPr>
              <a:spcAft>
                <a:spcPts val="500"/>
              </a:spcAft>
            </a:pPr>
            <a:r>
              <a:rPr sz="1500">
                <a:latin typeface="Consolas"/>
              </a:rPr>
              <a:t>Testing the machine against a person.</a:t>
            </a:r>
            <a:r>
              <a:rPr sz="1700"/>
              <a:t> Someone perturbs a controller in ways a scripted test would never have thought to try.</a:t>
            </a:r>
          </a:p>
          <a:p>
            <a:pPr>
              <a:spcAft>
                <a:spcPts val="500"/>
              </a:spcAft>
            </a:pPr>
            <a:r>
              <a:rPr sz="1500">
                <a:latin typeface="Consolas"/>
              </a:rPr>
              <a:t>Judging the machine by feel.</a:t>
            </a:r>
            <a:r>
              <a:rPr sz="1700"/>
              <a:t> Reach in, pull on it, see whether it behaves plausibly. Faster than any metric at answering 'something is wrong here'.</a:t>
            </a:r>
          </a:p>
          <a:p>
            <a:pPr>
              <a:spcAft>
                <a:spcPts val="500"/>
              </a:spcAft>
            </a:pPr>
            <a:r>
              <a:rPr sz="1500">
                <a:latin typeface="Consolas"/>
              </a:rPr>
              <a:t>Designing shared control.</a:t>
            </a:r>
            <a:r>
              <a:rPr sz="1700"/>
              <a:t> When authority is split between a person and a controller, neither half can be evaluated alone.</a:t>
            </a:r>
          </a:p>
          <a:p>
            <a:pPr>
              <a:spcAft>
                <a:spcPts val="500"/>
              </a:spcAft>
            </a:pPr>
            <a:r>
              <a:rPr sz="17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the definition is settled, so start with the clause that decides whether the other two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(demos/driver/tutorial_HIL_driver.py, lines 671 to 675) ------</a:t>
            </a:r>
          </a:p>
          <a:p>
            <a:pPr>
              <a:spcAft>
                <a:spcPts val="0"/>
              </a:spcAft>
            </a:pPr>
            <a:r>
              <a:rPr sz="1100">
                <a:solidFill>
                  <a:srgbClr val="7FAF7F"/>
                </a:solidFill>
                <a:latin typeface="Consolas"/>
              </a:rPr>
              <a:t># Demo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a:t>
            </a:r>
            <a:r>
              <a:rPr sz="1400">
                <a:latin typeface="Consolas"/>
              </a:rPr>
              <a:t>cumulative</a:t>
            </a:r>
            <a:r>
              <a:rPr sz="1600"/>
              <a:t> mode above.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1: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a:p>
            <a:pPr>
              <a:spcAft>
                <a:spcPts val="900"/>
              </a:spcAft>
            </a:pPr>
            <a:r>
              <a:rPr sz="2000"/>
              <a:t>The drift column is the honest one. RTF can look fine on average while the sim has already lost a second of wall clock.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That demo was the easy half. </a:t>
            </a:r>
            <a:r>
              <a:rPr sz="1800">
                <a:latin typeface="Consolas"/>
              </a:rPr>
              <a:t>Spin(step)</a:t>
            </a:r>
            <a:r>
              <a:rPr sz="2000"/>
              <a:t> hands back time the step did not use, and if the step costs more than </a:t>
            </a:r>
            <a:r>
              <a:rPr sz="1800">
                <a:latin typeface="Consolas"/>
              </a:rPr>
              <a:t>step</a:t>
            </a:r>
            <a:r>
              <a:rPr sz="2000"/>
              <a:t> there is nothing to hand back and no call that changes it.</a:t>
            </a:r>
          </a:p>
          <a:p>
            <a:pPr>
              <a:spcAft>
                <a:spcPts val="900"/>
              </a:spcAft>
            </a:pPr>
            <a:r>
              <a:rPr sz="2000"/>
              <a:t>The budget is fixed: one step of wall clock, minus what you spend drawing, minus what you leave as margin for a bad step. Contacts, solver iterations, terrain and drawing all come out of the same one.</a:t>
            </a:r>
          </a:p>
          <a:p>
            <a:pPr>
              <a:spcAft>
                <a:spcPts val="900"/>
              </a:spcAft>
            </a:pPr>
            <a:r>
              <a:rPr sz="2000"/>
              <a:t>So the hard half is the only half left: make the step cheap enough that there is slack to sleep off in the first place.</a:t>
            </a:r>
          </a:p>
          <a:p>
            <a:pPr>
              <a:spcAft>
                <a:spcPts val="900"/>
              </a:spcAft>
            </a:pPr>
            <a:r>
              <a:rPr sz="2000"/>
              <a:t>What follows is the set of levers Chrono gives you for that, in rough order of how much they usually buy.</a:t>
            </a:r>
          </a:p>
          <a:p>
            <a:pPr>
              <a:spcAft>
                <a:spcPts val="900"/>
              </a:spcAft>
            </a:pPr>
            <a:r>
              <a:rPr sz="2000"/>
              <a:t>Reach for them in that order. People tend to start at the solver, which is near the bottom of the list and the easiest place to spend an afternoon for nothing.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700"/>
              <a:t>1.  </a:t>
            </a:r>
            <a:r>
              <a:rPr sz="1500">
                <a:latin typeface="Consolas"/>
              </a:rPr>
              <a:t>Step size</a:t>
            </a:r>
            <a:r>
              <a:rPr sz="1700"/>
              <a:t>. Everything scales with steps per second. The largest step that stays stable is the single biggest lever there is.</a:t>
            </a:r>
          </a:p>
          <a:p>
            <a:pPr>
              <a:spcAft>
                <a:spcPts val="500"/>
              </a:spcAft>
            </a:pPr>
            <a:r>
              <a:rPr sz="1700"/>
              <a:t>2.  </a:t>
            </a:r>
            <a:r>
              <a:rPr sz="1500">
                <a:latin typeface="Consolas"/>
              </a:rPr>
              <a:t>Collision geometry</a:t>
            </a:r>
            <a:r>
              <a:rPr sz="1700"/>
              <a:t>. Primitives beat convex hulls beat triangle meshes, by a lot. Most imported assets arrive as the slowest option.</a:t>
            </a:r>
          </a:p>
          <a:p>
            <a:pPr>
              <a:spcAft>
                <a:spcPts val="500"/>
              </a:spcAft>
            </a:pPr>
            <a:r>
              <a:rPr sz="1700"/>
              <a:t>3.  </a:t>
            </a:r>
            <a:r>
              <a:rPr sz="1500">
                <a:latin typeface="Consolas"/>
              </a:rPr>
              <a:t>Which pairs are tested at all</a:t>
            </a:r>
            <a:r>
              <a:rPr sz="1700"/>
              <a:t>. Families and masks remove whole classes of pair from the broadphase, including self-collision.</a:t>
            </a:r>
          </a:p>
          <a:p>
            <a:pPr>
              <a:spcAft>
                <a:spcPts val="500"/>
              </a:spcAft>
            </a:pPr>
            <a:r>
              <a:rPr sz="1700"/>
              <a:t>4.  </a:t>
            </a:r>
            <a:r>
              <a:rPr sz="1500">
                <a:latin typeface="Consolas"/>
              </a:rPr>
              <a:t>Active domains</a:t>
            </a:r>
            <a:r>
              <a:rPr sz="1700"/>
              <a:t>. Let the expensive physics happen only where it matters: deformable terrain near the wheels, fluid near the hull.</a:t>
            </a:r>
          </a:p>
          <a:p>
            <a:pPr>
              <a:spcAft>
                <a:spcPts val="500"/>
              </a:spcAft>
            </a:pPr>
            <a:r>
              <a:rPr sz="1700"/>
              <a:t>5.  </a:t>
            </a:r>
            <a:r>
              <a:rPr sz="1500">
                <a:latin typeface="Consolas"/>
              </a:rPr>
              <a:t>Solver type and iteration cap</a:t>
            </a:r>
            <a:r>
              <a:rPr sz="1700"/>
              <a:t>. Iterations buy convergence and cost time, and you pay out of the same step you wanted to sleep in.</a:t>
            </a:r>
          </a:p>
          <a:p>
            <a:pPr>
              <a:spcAft>
                <a:spcPts val="500"/>
              </a:spcAft>
            </a:pPr>
            <a:r>
              <a:rPr sz="1700"/>
              <a:t>6.  </a:t>
            </a:r>
            <a:r>
              <a:rPr sz="1500">
                <a:latin typeface="Consolas"/>
              </a:rPr>
              <a:t>Threads</a:t>
            </a:r>
            <a:r>
              <a:rPr sz="1700"/>
              <a:t>, </a:t>
            </a:r>
            <a:r>
              <a:rPr sz="1500">
                <a:latin typeface="Consolas"/>
              </a:rPr>
              <a:t>sleeping bodies</a:t>
            </a:r>
            <a:r>
              <a:rPr sz="1700"/>
              <a:t>, and </a:t>
            </a:r>
            <a:r>
              <a:rPr sz="1500">
                <a:latin typeface="Consolas"/>
              </a:rPr>
              <a:t>model reduction</a:t>
            </a:r>
            <a:r>
              <a:rPr sz="1700"/>
              <a:t> for elastic subassemblies.</a:t>
            </a:r>
          </a:p>
          <a:p>
            <a:pPr>
              <a:spcAft>
                <a:spcPts val="500"/>
              </a:spcAft>
            </a:pPr>
            <a:r>
              <a:rPr sz="1700"/>
              <a:t>7.  </a:t>
            </a:r>
            <a:r>
              <a:rPr sz="1500">
                <a:latin typeface="Consolas"/>
              </a:rPr>
              <a:t>Render less often than you step</a:t>
            </a:r>
            <a:r>
              <a:rPr sz="1700"/>
              <a:t>. Drawing is not free, and the eye does not need 500 Hz.</a:t>
            </a:r>
          </a:p>
          <a:p>
            <a:pPr>
              <a:spcAft>
                <a:spcPts val="500"/>
              </a:spcAft>
            </a:pPr>
            <a:r>
              <a:rPr sz="1700"/>
              <a:t>None of this is specific to having a human in the loop. It becomes urgent when there is one, because a batch job that runs at 0.6x real time is merely slow, and an interactive one is broken.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Requirements 1 and 2: a path in, and a path back</a:t>
            </a:r>
          </a:p>
        </p:txBody>
      </p:sp>
      <p:sp>
        <p:nvSpPr>
          <p:cNvPr id="3" name="Text Placeholder 2"/>
          <p:cNvSpPr>
            <a:spLocks noGrp="1"/>
          </p:cNvSpPr>
          <p:nvPr>
            <p:ph type="body" idx="1"/>
          </p:nvPr>
        </p:nvSpPr>
        <p:spPr/>
        <p:txBody>
          <a:bodyPr/>
          <a:lstStyle/>
          <a:p>
            <a:r>
              <a:t>the clock is held, so now the person needs a way to act on the state and a way to see what happened</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demos 1 and 2, the vehicle</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demos 3 and 4, the drag and the push</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(demos/driver/tutorial_HIL_driver.py, lines 478 to 480)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Driving something that is NOT a vehicle</a:t>
            </a:r>
          </a:p>
        </p:txBody>
      </p:sp>
      <p:sp>
        <p:nvSpPr>
          <p:cNvPr id="3" name="CodeBox"/>
          <p:cNvSpPr txBox="1"/>
          <p:nvPr/>
        </p:nvSpPr>
        <p:spPr>
          <a:xfrm>
            <a:off x="0" y="1207008"/>
            <a:ext cx="12188952" cy="3566160"/>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Nothing outside Chrono::Vehicle has a driver abstraction, so this</a:t>
            </a:r>
          </a:p>
          <a:p>
            <a:pPr>
              <a:spcAft>
                <a:spcPts val="0"/>
              </a:spcAft>
            </a:pPr>
            <a:r>
              <a:rPr sz="900">
                <a:solidFill>
                  <a:srgbClr val="7FAF7F"/>
                </a:solidFill>
                <a:latin typeface="Consolas"/>
              </a:rPr>
              <a:t># is a pattern rather than an API. Three decisions:</a:t>
            </a:r>
          </a:p>
          <a:p>
            <a:pPr>
              <a:spcAft>
                <a:spcPts val="0"/>
              </a:spcAft>
            </a:pPr>
            <a:r>
              <a:rPr sz="900">
                <a:solidFill>
                  <a:srgbClr val="7FAF7F"/>
                </a:solidFill>
                <a:latin typeface="Consolas"/>
              </a:rPr>
              <a:t>#</a:t>
            </a:r>
          </a:p>
          <a:p>
            <a:pPr>
              <a:spcAft>
                <a:spcPts val="0"/>
              </a:spcAft>
            </a:pPr>
            <a:r>
              <a:rPr sz="900">
                <a:solidFill>
                  <a:srgbClr val="7FAF7F"/>
                </a:solidFill>
                <a:latin typeface="Consolas"/>
              </a:rPr>
              <a:t>#   1. NORMALISE THE INPUT. A few bounded numbers a device produces</a:t>
            </a:r>
          </a:p>
          <a:p>
            <a:pPr>
              <a:spcAft>
                <a:spcPts val="0"/>
              </a:spcAft>
            </a:pPr>
            <a:r>
              <a:rPr sz="900">
                <a:solidFill>
                  <a:srgbClr val="7FAF7F"/>
                </a:solidFill>
                <a:latin typeface="Consolas"/>
              </a:rPr>
              <a:t>#      and a plant consumes, so one console drives any of them.</a:t>
            </a:r>
          </a:p>
          <a:p>
            <a:pPr>
              <a:spcAft>
                <a:spcPts val="0"/>
              </a:spcAft>
            </a:pPr>
            <a:r>
              <a:rPr sz="900">
                <a:solidFill>
                  <a:srgbClr val="7FAF7F"/>
                </a:solidFill>
                <a:latin typeface="Consolas"/>
              </a:rPr>
              <a:t>#   2. BIND THEM TO ACTUATION. The only plant-specific part.</a:t>
            </a:r>
          </a:p>
          <a:p>
            <a:pPr>
              <a:spcAft>
                <a:spcPts val="0"/>
              </a:spcAft>
            </a:pPr>
            <a:r>
              <a:rPr sz="900">
                <a:solidFill>
                  <a:srgbClr val="7FAF7F"/>
                </a:solidFill>
                <a:latin typeface="Consolas"/>
              </a:rPr>
              <a:t>#   3. SEND SOMETHING BACK, or the person is driving open loop.</a:t>
            </a:r>
          </a:p>
          <a:p>
            <a:pPr>
              <a:spcAft>
                <a:spcPts val="0"/>
              </a:spcAft>
            </a:pPr>
            <a:r>
              <a:rPr sz="900">
                <a:solidFill>
                  <a:srgbClr val="CCCCCC"/>
                </a:solidFill>
                <a:latin typeface="Consolas"/>
              </a:rPr>
              <a:t> </a:t>
            </a:r>
          </a:p>
          <a:p>
            <a:pPr>
              <a:spcAft>
                <a:spcPts val="0"/>
              </a:spcAft>
            </a:pPr>
            <a:r>
              <a:rPr sz="900">
                <a:solidFill>
                  <a:srgbClr val="CCCCCC"/>
                </a:solidFill>
                <a:latin typeface="Consolas"/>
              </a:rPr>
              <a:t>class Plant:                     </a:t>
            </a:r>
            <a:r>
              <a:rPr sz="900">
                <a:solidFill>
                  <a:srgbClr val="7FAF7F"/>
                </a:solidFill>
                <a:latin typeface="Consolas"/>
              </a:rPr>
              <a:t># every plant, one shape</a:t>
            </a:r>
          </a:p>
          <a:p>
            <a:pPr>
              <a:spcAft>
                <a:spcPts val="0"/>
              </a:spcAft>
            </a:pPr>
            <a:r>
              <a:rPr sz="900">
                <a:solidFill>
                  <a:srgbClr val="CCCCCC"/>
                </a:solidFill>
                <a:latin typeface="Consolas"/>
              </a:rPr>
              <a:t>    def </a:t>
            </a:r>
            <a:r>
              <a:rPr sz="900">
                <a:solidFill>
                  <a:srgbClr val="7FC7E8"/>
                </a:solidFill>
                <a:latin typeface="Consolas"/>
              </a:rPr>
              <a:t>apply</a:t>
            </a:r>
            <a:r>
              <a:rPr sz="900">
                <a:solidFill>
                  <a:srgbClr val="CCCCCC"/>
                </a:solidFill>
                <a:latin typeface="Consolas"/>
              </a:rPr>
              <a:t>(self, inputs):          ...  </a:t>
            </a:r>
            <a:r>
              <a:rPr sz="900">
                <a:solidFill>
                  <a:srgbClr val="7FAF7F"/>
                </a:solidFill>
                <a:latin typeface="Consolas"/>
              </a:rPr>
              <a:t># THE BINDING</a:t>
            </a:r>
          </a:p>
          <a:p>
            <a:pPr>
              <a:spcAft>
                <a:spcPts val="0"/>
              </a:spcAft>
            </a:pPr>
            <a:r>
              <a:rPr sz="900">
                <a:solidFill>
                  <a:srgbClr val="CCCCCC"/>
                </a:solidFill>
                <a:latin typeface="Consolas"/>
              </a:rPr>
              <a:t>    def </a:t>
            </a:r>
            <a:r>
              <a:rPr sz="900">
                <a:solidFill>
                  <a:srgbClr val="7FC7E8"/>
                </a:solidFill>
                <a:latin typeface="Consolas"/>
              </a:rPr>
              <a:t>synchronize</a:t>
            </a:r>
            <a:r>
              <a:rPr sz="900">
                <a:solidFill>
                  <a:srgbClr val="CCCCCC"/>
                </a:solidFill>
                <a:latin typeface="Consolas"/>
              </a:rPr>
              <a:t>(self, t, inputs): ...</a:t>
            </a:r>
          </a:p>
          <a:p>
            <a:pPr>
              <a:spcAft>
                <a:spcPts val="0"/>
              </a:spcAft>
            </a:pPr>
            <a:r>
              <a:rPr sz="900">
                <a:solidFill>
                  <a:srgbClr val="CCCCCC"/>
                </a:solidFill>
                <a:latin typeface="Consolas"/>
              </a:rPr>
              <a:t>    def </a:t>
            </a:r>
            <a:r>
              <a:rPr sz="900">
                <a:solidFill>
                  <a:srgbClr val="7FC7E8"/>
                </a:solidFill>
                <a:latin typeface="Consolas"/>
              </a:rPr>
              <a:t>advance</a:t>
            </a:r>
            <a:r>
              <a:rPr sz="900">
                <a:solidFill>
                  <a:srgbClr val="CCCCCC"/>
                </a:solidFill>
                <a:latin typeface="Consolas"/>
              </a:rPr>
              <a:t>(self, step):          ...</a:t>
            </a:r>
          </a:p>
          <a:p>
            <a:pPr>
              <a:spcAft>
                <a:spcPts val="0"/>
              </a:spcAft>
            </a:pPr>
            <a:r>
              <a:rPr sz="900">
                <a:solidFill>
                  <a:srgbClr val="CCCCCC"/>
                </a:solidFill>
                <a:latin typeface="Consolas"/>
              </a:rPr>
              <a:t>    def </a:t>
            </a:r>
            <a:r>
              <a:rPr sz="900">
                <a:solidFill>
                  <a:srgbClr val="7FC7E8"/>
                </a:solidFill>
                <a:latin typeface="Consolas"/>
              </a:rPr>
              <a:t>speed</a:t>
            </a:r>
            <a:r>
              <a:rPr sz="900">
                <a:solidFill>
                  <a:srgbClr val="CCCCCC"/>
                </a:solidFill>
                <a:latin typeface="Consolas"/>
              </a:rPr>
              <a:t>(self): ...; def </a:t>
            </a:r>
            <a:r>
              <a:rPr sz="900">
                <a:solidFill>
                  <a:srgbClr val="7FC7E8"/>
                </a:solidFill>
                <a:latin typeface="Consolas"/>
              </a:rPr>
              <a:t>status</a:t>
            </a:r>
            <a:r>
              <a:rPr sz="900">
                <a:solidFill>
                  <a:srgbClr val="CCCCCC"/>
                </a:solidFill>
                <a:latin typeface="Consolas"/>
              </a:rPr>
              <a:t>(self): ...</a:t>
            </a:r>
          </a:p>
          <a:p>
            <a:pPr>
              <a:spcAft>
                <a:spcPts val="0"/>
              </a:spcAft>
            </a:pPr>
            <a:r>
              <a:rPr sz="900">
                <a:solidFill>
                  <a:srgbClr val="CCCCCC"/>
                </a:solidFill>
                <a:latin typeface="Consolas"/>
              </a:rPr>
              <a:t> </a:t>
            </a:r>
          </a:p>
          <a:p>
            <a:pPr>
              <a:spcAft>
                <a:spcPts val="0"/>
              </a:spcAft>
            </a:pPr>
            <a:r>
              <a:rPr sz="900">
                <a:solidFill>
                  <a:srgbClr val="7FAF7F"/>
                </a:solidFill>
                <a:latin typeface="Consolas"/>
              </a:rPr>
              <a:t># A crane's entire input surface: two motors and a setpoint each.</a:t>
            </a:r>
          </a:p>
          <a:p>
            <a:pPr>
              <a:spcAft>
                <a:spcPts val="0"/>
              </a:spcAft>
            </a:pPr>
            <a:r>
              <a:rPr sz="900">
                <a:solidFill>
                  <a:srgbClr val="CCCCCC"/>
                </a:solidFill>
                <a:latin typeface="Consolas"/>
              </a:rPr>
              <a:t>self.long_motor = chrono.</a:t>
            </a:r>
            <a:r>
              <a:rPr sz="900">
                <a:solidFill>
                  <a:srgbClr val="F0A040"/>
                </a:solidFill>
                <a:latin typeface="Consolas"/>
              </a:rPr>
              <a:t>ChLinkMotorLinearSpeed</a:t>
            </a:r>
            <a:r>
              <a:rPr sz="900">
                <a:solidFill>
                  <a:srgbClr val="CCCCCC"/>
                </a:solidFill>
                <a:latin typeface="Consolas"/>
              </a:rPr>
              <a:t>()</a:t>
            </a:r>
          </a:p>
          <a:p>
            <a:pPr>
              <a:spcAft>
                <a:spcPts val="0"/>
              </a:spcAft>
            </a:pPr>
            <a:r>
              <a:rPr sz="900">
                <a:solidFill>
                  <a:srgbClr val="CCCCCC"/>
                </a:solidFill>
                <a:latin typeface="Consolas"/>
              </a:rPr>
              <a:t>self.long_speed = chrono.</a:t>
            </a:r>
            <a:r>
              <a:rPr sz="900">
                <a:solidFill>
                  <a:srgbClr val="F0A040"/>
                </a:solidFill>
                <a:latin typeface="Consolas"/>
              </a:rPr>
              <a:t>ChFunctionSetpoint</a:t>
            </a:r>
            <a:r>
              <a:rPr sz="900">
                <a:solidFill>
                  <a:srgbClr val="CCCCCC"/>
                </a:solidFill>
                <a:latin typeface="Consolas"/>
              </a:rPr>
              <a:t>()</a:t>
            </a:r>
          </a:p>
          <a:p>
            <a:pPr>
              <a:spcAft>
                <a:spcPts val="0"/>
              </a:spcAft>
            </a:pPr>
            <a:r>
              <a:rPr sz="900">
                <a:solidFill>
                  <a:srgbClr val="CCCCCC"/>
                </a:solidFill>
                <a:latin typeface="Consolas"/>
              </a:rPr>
              <a:t>self.long_motor.</a:t>
            </a:r>
            <a:r>
              <a:rPr sz="900">
                <a:solidFill>
                  <a:srgbClr val="7FC7E8"/>
                </a:solidFill>
                <a:latin typeface="Consolas"/>
              </a:rPr>
              <a:t>SetSpeedFunction</a:t>
            </a:r>
            <a:r>
              <a:rPr sz="900">
                <a:solidFill>
                  <a:srgbClr val="CCCCCC"/>
                </a:solidFill>
                <a:latin typeface="Consolas"/>
              </a:rPr>
              <a:t>(self.long_speed)</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(demos/driver/hil_plants.py, lines 241 to 244) ------</a:t>
            </a:r>
          </a:p>
          <a:p>
            <a:pPr>
              <a:spcAft>
                <a:spcPts val="0"/>
              </a:spcAft>
            </a:pPr>
            <a:r>
              <a:rPr sz="900">
                <a:solidFill>
                  <a:srgbClr val="7FAF7F"/>
                </a:solidFill>
                <a:latin typeface="Consolas"/>
              </a:rPr>
              <a:t># Throttle drives forward, braking drives back: two pedals, one axis.</a:t>
            </a:r>
          </a:p>
          <a:p>
            <a:pPr>
              <a:spcAft>
                <a:spcPts val="0"/>
              </a:spcAft>
            </a:pPr>
            <a:r>
              <a:rPr sz="900">
                <a:solidFill>
                  <a:srgbClr val="CCCCCC"/>
                </a:solidFill>
                <a:latin typeface="Consolas"/>
              </a:rPr>
              <a:t>long_cmd = (inputs.m_throttle - inputs.m_braking) * self.MAX_LONG_SPEED</a:t>
            </a:r>
          </a:p>
          <a:p>
            <a:pPr>
              <a:spcAft>
                <a:spcPts val="0"/>
              </a:spcAft>
            </a:pPr>
            <a:r>
              <a:rPr sz="900">
                <a:solidFill>
                  <a:srgbClr val="CCCCCC"/>
                </a:solidFill>
                <a:latin typeface="Consolas"/>
              </a:rPr>
              <a:t>self.long_speed.</a:t>
            </a:r>
            <a:r>
              <a:rPr sz="900">
                <a:solidFill>
                  <a:srgbClr val="7FC7E8"/>
                </a:solidFill>
                <a:latin typeface="Consolas"/>
              </a:rPr>
              <a:t>SetSetpoint</a:t>
            </a:r>
            <a:r>
              <a:rPr sz="900">
                <a:solidFill>
                  <a:srgbClr val="CCCCCC"/>
                </a:solidFill>
                <a:latin typeface="Consolas"/>
              </a:rPr>
              <a:t>(long_cmd, t)</a:t>
            </a:r>
          </a:p>
          <a:p>
            <a:pPr>
              <a:spcAft>
                <a:spcPts val="0"/>
              </a:spcAft>
            </a:pPr>
            <a:r>
              <a:rPr sz="900">
                <a:solidFill>
                  <a:srgbClr val="CCCCCC"/>
                </a:solidFill>
                <a:latin typeface="Consolas"/>
              </a:rPr>
              <a:t>self.cross_speed.</a:t>
            </a:r>
            <a:r>
              <a:rPr sz="900">
                <a:solidFill>
                  <a:srgbClr val="7FC7E8"/>
                </a:solidFill>
                <a:latin typeface="Consolas"/>
              </a:rPr>
              <a:t>SetSetpoint</a:t>
            </a:r>
            <a:r>
              <a:rPr sz="900">
                <a:solidFill>
                  <a:srgbClr val="CCCCCC"/>
                </a:solidFill>
                <a:latin typeface="Consolas"/>
              </a:rPr>
              <a:t>(inputs.m_steering * self.MAX_CROSS_SPEED, t)</a:t>
            </a:r>
          </a:p>
        </p:txBody>
      </p:sp>
      <p:sp>
        <p:nvSpPr>
          <p:cNvPr id="4" name="NoteBox"/>
          <p:cNvSpPr txBox="1"/>
          <p:nvPr/>
        </p:nvSpPr>
        <p:spPr>
          <a:xfrm>
            <a:off x="402336" y="4882896"/>
            <a:ext cx="11393424" cy="1536192"/>
          </a:xfrm>
          <a:prstGeom prst="rect">
            <a:avLst/>
          </a:prstGeom>
          <a:noFill/>
        </p:spPr>
        <p:txBody>
          <a:bodyPr wrap="square">
            <a:spAutoFit/>
          </a:bodyPr>
          <a:lstStyle/>
          <a:p>
            <a:pPr>
              <a:spcAft>
                <a:spcPts val="400"/>
              </a:spcAft>
            </a:pPr>
            <a:r>
              <a:rPr sz="1400">
                <a:latin typeface="Consolas"/>
              </a:rPr>
              <a:t>ChFunctionSetpoint</a:t>
            </a:r>
            <a:r>
              <a:rPr sz="1600"/>
              <a:t> is the piece worth knowing. A Chrono motor is driven by a </a:t>
            </a:r>
            <a:r>
              <a:rPr sz="1400">
                <a:latin typeface="Consolas"/>
              </a:rPr>
              <a:t>ChFunction</a:t>
            </a:r>
            <a:r>
              <a:rPr sz="1600"/>
              <a:t> of time, and a human's input is not a function of time anyone can write down in advance. The setpoint function is the adapter: push a value in each step, the motor reads it as the current one.</a:t>
            </a:r>
          </a:p>
          <a:p>
            <a:pPr>
              <a:spcAft>
                <a:spcPts val="400"/>
              </a:spcAft>
            </a:pPr>
            <a:r>
              <a:rPr sz="1600"/>
              <a:t>The convention costs something, and the crane shows the bill: it has one travel axis and was handed two pedals, so it computes </a:t>
            </a:r>
            <a:r>
              <a:rPr sz="1400">
                <a:latin typeface="Consolas"/>
              </a:rPr>
              <a:t>throttle - braking</a:t>
            </a:r>
            <a:r>
              <a:rPr sz="1600"/>
              <a:t>. No crane operator would recognise that.</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ChInteractiveDriver</a:t>
            </a:r>
            <a:r>
              <a:rPr sz="1700"/>
              <a:t> covers two CLASSES of device, not two devices:</a:t>
            </a:r>
          </a:p>
          <a:p>
            <a:pPr lvl="1">
              <a:spcAft>
                <a:spcPts val="500"/>
              </a:spcAft>
            </a:pPr>
            <a:r>
              <a:rPr sz="1300">
                <a:latin typeface="Consolas"/>
              </a:rPr>
              <a:t>InputMode_KEYBOARD</a:t>
            </a:r>
            <a:r>
              <a:rPr sz="1500"/>
              <a:t>  -  with </a:t>
            </a:r>
            <a:r>
              <a:rPr sz="1300">
                <a:latin typeface="Consolas"/>
              </a:rPr>
              <a:t>KeyboardMode_HELD</a:t>
            </a:r>
            <a:r>
              <a:rPr sz="1500"/>
              <a:t> or </a:t>
            </a:r>
            <a:r>
              <a:rPr sz="1300">
                <a:latin typeface="Consolas"/>
              </a:rPr>
              <a:t>_CUMULATIVE</a:t>
            </a:r>
          </a:p>
          <a:p>
            <a:pPr lvl="1">
              <a:spcAft>
                <a:spcPts val="500"/>
              </a:spcAft>
            </a:pPr>
            <a:r>
              <a:rPr sz="1300">
                <a:latin typeface="Consolas"/>
              </a:rPr>
              <a:t>InputMode_JOYSTICK</a:t>
            </a:r>
            <a:r>
              <a:rPr sz="1500"/>
              <a:t>  -  anything the windowing layer enumerates as one</a:t>
            </a:r>
          </a:p>
          <a:p>
            <a:pPr>
              <a:spcAft>
                <a:spcPts val="500"/>
              </a:spcAft>
            </a:pPr>
            <a:r>
              <a:rPr sz="1700"/>
              <a:t>A joystick is mapped by a JSON file, not by code: </a:t>
            </a:r>
            <a:r>
              <a:rPr sz="1500">
                <a:latin typeface="Consolas"/>
              </a:rPr>
              <a:t>SetJoystickConfigFile(path)</a:t>
            </a:r>
          </a:p>
          <a:p>
            <a:pPr lvl="1">
              <a:spcAft>
                <a:spcPts val="500"/>
              </a:spcAft>
            </a:pPr>
            <a:r>
              <a:rPr sz="1500"/>
              <a:t>mapped axes: steering, throttle, brake, CLUTCH</a:t>
            </a:r>
          </a:p>
          <a:p>
            <a:pPr lvl="1">
              <a:spcAft>
                <a:spcPts val="500"/>
              </a:spcAft>
            </a:pPr>
            <a:r>
              <a:rPr sz="1500"/>
              <a:t>mapped buttons: shift up/down, reverse, gears 1-9, manual-gearbox toggle, plus one user callback</a:t>
            </a:r>
          </a:p>
          <a:p>
            <a:pPr>
              <a:spcAft>
                <a:spcPts val="500"/>
              </a:spcAft>
            </a:pPr>
            <a:r>
              <a:rPr sz="1700"/>
              <a:t>So a G923-class rig is a config file, not a port. Four ship in </a:t>
            </a:r>
            <a:r>
              <a:rPr sz="1500">
                <a:latin typeface="Consolas"/>
              </a:rPr>
              <a:t>data/vehicle/joystick/</a:t>
            </a:r>
            <a:r>
              <a:rPr sz="1700"/>
              <a:t>: Default, Logitech RumblePad 2, Xbox One, and Wheel+Pedals+Shifters.</a:t>
            </a:r>
          </a:p>
          <a:p>
            <a:pPr>
              <a:spcAft>
                <a:spcPts val="500"/>
              </a:spcAft>
            </a:pPr>
            <a:r>
              <a:rPr sz="1700"/>
              <a:t>Each control names its own DEVICE, so a wheel, a pedal box and an H-shifter enumerating as three separate USB devices all map at once.</a:t>
            </a:r>
          </a:p>
          <a:p>
            <a:pPr>
              <a:spcAft>
                <a:spcPts val="500"/>
              </a:spcAft>
            </a:pPr>
            <a:r>
              <a:rPr sz="1700"/>
              <a:t>Not hypothetical: the car-following study earlier in this talk ran on a Logitech G29 wheel and pedal set through this path.</a:t>
            </a:r>
          </a:p>
          <a:p>
            <a:pPr>
              <a:spcAft>
                <a:spcPts val="500"/>
              </a:spcAft>
            </a:pPr>
            <a:r>
              <a:rPr sz="1700"/>
              <a:t>The mapping and the semantics are Chrono's, and all of it is exposed to PyChrono. Enumerating the device is delegated to the windowing layer, so which platforms see your wheel follows that layer, and I have not tested it here.</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a:p>
            <a:pPr>
              <a:spcAft>
                <a:spcPts val="900"/>
              </a:spcAft>
            </a:pPr>
            <a:r>
              <a:rPr sz="2000"/>
              <a:t>Demo 3 is one of these: its input console is a small window of our own that reads the keys and the mouse, hands the loop the same numbers, and takes the readout back.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2: a person driving the vehicle</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a:p>
            <a:pPr>
              <a:spcAft>
                <a:spcPts val="900"/>
              </a:spcAft>
            </a:pPr>
            <a:r>
              <a:rPr sz="2000"/>
              <a:t>This is the whole definition satisfied in one window: input reaches the state, the state comes back on screen, and the timer holds the pace.</a:t>
            </a:r>
          </a:p>
        </p:txBody>
      </p:sp>
      <p:pic>
        <p:nvPicPr>
          <p:cNvPr id="4" name="Picture 3" descr="hmmwv.png"/>
          <p:cNvPicPr>
            <a:picLocks noChangeAspect="1"/>
          </p:cNvPicPr>
          <p:nvPr/>
        </p:nvPicPr>
        <p:blipFill>
          <a:blip r:embed="rId2"/>
          <a:stretch>
            <a:fillRect/>
          </a:stretch>
        </p:blipFill>
        <p:spPr>
          <a:xfrm>
            <a:off x="7269480" y="2187767"/>
            <a:ext cx="4526280" cy="3460873"/>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the driver class only covers vehicles, so here is what Chrono gives everything else,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a:p>
            <a:pPr>
              <a:spcAft>
                <a:spcPts val="900"/>
              </a:spcAft>
            </a:pPr>
            <a:r>
              <a:rPr sz="2000"/>
              <a:t>A mouse drag is three steps: hear the click, turn it into a body, turn the pull into physics. Chrono exposes the last two, and they come next. The first one is the gap, and it comes after them.</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(chronohil/picking.py, lines 21 to 32)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(chronohil/picking.py, lines 171 to 185)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GRAB_MIN_MASS)</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14 to 30)</a:t>
            </a:r>
          </a:p>
        </p:txBody>
      </p:sp>
      <p:sp>
        <p:nvSpPr>
          <p:cNvPr id="3" name="CodeBox"/>
          <p:cNvSpPr txBox="1"/>
          <p:nvPr/>
        </p:nvSpPr>
        <p:spPr>
          <a:xfrm>
            <a:off x="0" y="1207008"/>
            <a:ext cx="12188952" cy="3496944"/>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chrono_swig/interface/irrlicht/ChModuleIrrlicht.i</a:t>
            </a:r>
          </a:p>
          <a:p>
            <a:pPr>
              <a:spcAft>
                <a:spcPts val="0"/>
              </a:spcAft>
            </a:pPr>
            <a:r>
              <a:rPr sz="700">
                <a:solidFill>
                  <a:srgbClr val="CCCCCC"/>
                </a:solidFill>
                <a:latin typeface="Consolas"/>
              </a:rPr>
              <a:t>+%</a:t>
            </a:r>
            <a:r>
              <a:rPr sz="700">
                <a:solidFill>
                  <a:srgbClr val="7FC7E8"/>
                </a:solidFill>
                <a:latin typeface="Consolas"/>
              </a:rPr>
              <a:t>feature</a:t>
            </a:r>
            <a:r>
              <a:rPr sz="700">
                <a:solidFill>
                  <a:srgbClr val="CCCCCC"/>
                </a:solidFill>
                <a:latin typeface="Consolas"/>
              </a:rPr>
              <a:t>(</a:t>
            </a:r>
            <a:r>
              <a:rPr sz="700">
                <a:solidFill>
                  <a:srgbClr val="D8A0C0"/>
                </a:solidFill>
                <a:latin typeface="Consolas"/>
              </a:rPr>
              <a:t>"director"</a:t>
            </a:r>
            <a:r>
              <a:rPr sz="700">
                <a:solidFill>
                  <a:srgbClr val="CCCCCC"/>
                </a:solidFill>
                <a:latin typeface="Consolas"/>
              </a:rPr>
              <a:t>) irr::IEventReceiver;</a:t>
            </a:r>
          </a:p>
          <a:p>
            <a:pPr>
              <a:spcAft>
                <a:spcPts val="0"/>
              </a:spcAft>
            </a:pPr>
            <a:r>
              <a:rPr sz="700">
                <a:solidFill>
                  <a:srgbClr val="CCCCCC"/>
                </a:solidFill>
                <a:latin typeface="Consolas"/>
              </a:rPr>
              <a:t>%include </a:t>
            </a:r>
            <a:r>
              <a:rPr sz="700">
                <a:solidFill>
                  <a:srgbClr val="D8A0C0"/>
                </a:solidFill>
                <a:latin typeface="Consolas"/>
              </a:rPr>
              <a:t>"IEventReceiver.h"</a:t>
            </a:r>
          </a:p>
          <a:p>
            <a:pPr>
              <a:spcAft>
                <a:spcPts val="0"/>
              </a:spcAft>
            </a:pPr>
            <a:r>
              <a:rPr sz="700">
                <a:solidFill>
                  <a:srgbClr val="CCCCCC"/>
                </a:solidFill>
                <a:latin typeface="Consolas"/>
              </a:rPr>
              <a:t> </a:t>
            </a:r>
          </a:p>
          <a:p>
            <a:pPr>
              <a:spcAft>
                <a:spcPts val="0"/>
              </a:spcAft>
            </a:pPr>
            <a:r>
              <a:rPr sz="700">
                <a:solidFill>
                  <a:srgbClr val="7FAF7F"/>
                </a:solidFill>
                <a:latin typeface="Consolas"/>
              </a:rPr>
              <a:t># The module ALREADY compiles with directors enabled:</a:t>
            </a:r>
          </a:p>
          <a:p>
            <a:pPr>
              <a:spcAft>
                <a:spcPts val="0"/>
              </a:spcAft>
            </a:pPr>
            <a:r>
              <a:rPr sz="700">
                <a:solidFill>
                  <a:srgbClr val="7FAF7F"/>
                </a:solidFill>
                <a:latin typeface="Consolas"/>
              </a:rPr>
              <a:t>#     %module(directors="1", threads="1") irrlicht</a:t>
            </a:r>
          </a:p>
          <a:p>
            <a:pPr>
              <a:spcAft>
                <a:spcPts val="0"/>
              </a:spcAft>
            </a:pPr>
            <a:r>
              <a:rPr sz="700">
                <a:solidFill>
                  <a:srgbClr val="7FAF7F"/>
                </a:solidFill>
                <a:latin typeface="Consolas"/>
              </a:rPr>
              <a:t># and AddUserEventReceiver is ALREADY bound. Without the</a:t>
            </a:r>
          </a:p>
          <a:p>
            <a:pPr>
              <a:spcAft>
                <a:spcPts val="0"/>
              </a:spcAft>
            </a:pPr>
            <a:r>
              <a:rPr sz="700">
                <a:solidFill>
                  <a:srgbClr val="7FAF7F"/>
                </a:solidFill>
                <a:latin typeface="Consolas"/>
              </a:rPr>
              <a:t># director, though, Python gets an abstract class:</a:t>
            </a:r>
          </a:p>
          <a:p>
            <a:pPr>
              <a:spcAft>
                <a:spcPts val="0"/>
              </a:spcAft>
            </a:pPr>
            <a:r>
              <a:rPr sz="700">
                <a:solidFill>
                  <a:srgbClr val="7FAF7F"/>
                </a:solidFill>
                <a:latin typeface="Consolas"/>
              </a:rPr>
              <a:t>#     &gt;&gt;&gt; ci.IEventReceiver()</a:t>
            </a:r>
          </a:p>
          <a:p>
            <a:pPr>
              <a:spcAft>
                <a:spcPts val="0"/>
              </a:spcAft>
            </a:pPr>
            <a:r>
              <a:rPr sz="700">
                <a:solidFill>
                  <a:srgbClr val="7FAF7F"/>
                </a:solidFill>
                <a:latin typeface="Consolas"/>
              </a:rPr>
              <a:t>#     AttributeError: No constructor defined - class is abstract</a:t>
            </a:r>
          </a:p>
          <a:p>
            <a:pPr>
              <a:spcAft>
                <a:spcPts val="0"/>
              </a:spcAft>
            </a:pPr>
            <a:r>
              <a:rPr sz="700">
                <a:solidFill>
                  <a:srgbClr val="7FAF7F"/>
                </a:solidFill>
                <a:latin typeface="Consolas"/>
              </a:rPr>
              <a:t># so there is a socket, and nothing you can plug into it.</a:t>
            </a:r>
          </a:p>
          <a:p>
            <a:pPr>
              <a:spcAft>
                <a:spcPts val="0"/>
              </a:spcAft>
            </a:pPr>
            <a:r>
              <a:rPr sz="700">
                <a:solidFill>
                  <a:srgbClr val="CCCCCC"/>
                </a:solidFill>
                <a:latin typeface="Consolas"/>
              </a:rPr>
              <a:t> </a:t>
            </a:r>
          </a:p>
          <a:p>
            <a:pPr>
              <a:spcAft>
                <a:spcPts val="0"/>
              </a:spcAft>
            </a:pPr>
            <a:r>
              <a:rPr sz="700">
                <a:solidFill>
                  <a:srgbClr val="CCCCCC"/>
                </a:solidFill>
                <a:latin typeface="Consolas"/>
              </a:rPr>
              <a:t>class </a:t>
            </a:r>
            <a:r>
              <a:rPr sz="700">
                <a:solidFill>
                  <a:srgbClr val="7FC7E8"/>
                </a:solidFill>
                <a:latin typeface="Consolas"/>
              </a:rPr>
              <a:t>MouseReceiver</a:t>
            </a:r>
            <a:r>
              <a:rPr sz="700">
                <a:solidFill>
                  <a:srgbClr val="CCCCCC"/>
                </a:solidFill>
                <a:latin typeface="Consolas"/>
              </a:rPr>
              <a:t>(irr.IEventReceiver):</a:t>
            </a:r>
          </a:p>
          <a:p>
            <a:pPr>
              <a:spcAft>
                <a:spcPts val="0"/>
              </a:spcAft>
            </a:pPr>
            <a:r>
              <a:rPr sz="700">
                <a:solidFill>
                  <a:srgbClr val="CCCCCC"/>
                </a:solidFill>
                <a:latin typeface="Consolas"/>
              </a:rPr>
              <a:t>    </a:t>
            </a:r>
            <a:r>
              <a:rPr sz="700">
                <a:solidFill>
                  <a:srgbClr val="D8A0C0"/>
                </a:solidFill>
                <a:latin typeface="Consolas"/>
              </a:rPr>
              <a:t>""</a:t>
            </a:r>
            <a:r>
              <a:rPr sz="700">
                <a:solidFill>
                  <a:srgbClr val="D8A0C0"/>
                </a:solidFill>
                <a:latin typeface="Consolas"/>
              </a:rPr>
              <a:t>"No Quartz, no CGWindowList, no NSEvent. No macOS. Just Irrlicht."</a:t>
            </a:r>
            <a:r>
              <a:rPr sz="700">
                <a:solidFill>
                  <a:srgbClr val="D8A0C0"/>
                </a:solidFill>
                <a:latin typeface="Consolas"/>
              </a:rPr>
              <a:t>""</a:t>
            </a:r>
          </a:p>
          <a:p>
            <a:pPr>
              <a:spcAft>
                <a:spcPts val="0"/>
              </a:spcAft>
            </a:pPr>
            <a:r>
              <a:rPr sz="700">
                <a:solidFill>
                  <a:srgbClr val="CCCCCC"/>
                </a:solidFill>
                <a:latin typeface="Consolas"/>
              </a:rPr>
              <a:t> </a:t>
            </a:r>
          </a:p>
          <a:p>
            <a:pPr>
              <a:spcAft>
                <a:spcPts val="0"/>
              </a:spcAft>
            </a:pPr>
            <a:r>
              <a:rPr sz="700">
                <a:solidFill>
                  <a:srgbClr val="CCCCCC"/>
                </a:solidFill>
                <a:latin typeface="Consolas"/>
              </a:rPr>
              <a:t>    def </a:t>
            </a:r>
            <a:r>
              <a:rPr sz="700">
                <a:solidFill>
                  <a:srgbClr val="7FC7E8"/>
                </a:solidFill>
                <a:latin typeface="Consolas"/>
              </a:rPr>
              <a:t>__init__</a:t>
            </a:r>
            <a:r>
              <a:rPr sz="700">
                <a:solidFill>
                  <a:srgbClr val="CCCCCC"/>
                </a:solidFill>
                <a:latin typeface="Consolas"/>
              </a:rPr>
              <a:t>(self):</a:t>
            </a:r>
          </a:p>
          <a:p>
            <a:pPr>
              <a:spcAft>
                <a:spcPts val="0"/>
              </a:spcAft>
            </a:pPr>
            <a:r>
              <a:rPr sz="700">
                <a:solidFill>
                  <a:srgbClr val="CCCCCC"/>
                </a:solidFill>
                <a:latin typeface="Consolas"/>
              </a:rPr>
              <a:t>        </a:t>
            </a:r>
            <a:r>
              <a:rPr sz="700">
                <a:solidFill>
                  <a:srgbClr val="7FC7E8"/>
                </a:solidFill>
                <a:latin typeface="Consolas"/>
              </a:rPr>
              <a:t>super</a:t>
            </a:r>
            <a:r>
              <a:rPr sz="700">
                <a:solidFill>
                  <a:srgbClr val="CCCCCC"/>
                </a:solidFill>
                <a:latin typeface="Consolas"/>
              </a:rPr>
              <a:t>().</a:t>
            </a:r>
            <a:r>
              <a:rPr sz="700">
                <a:solidFill>
                  <a:srgbClr val="7FC7E8"/>
                </a:solidFill>
                <a:latin typeface="Consolas"/>
              </a:rPr>
              <a:t>__init__</a:t>
            </a:r>
            <a:r>
              <a:rPr sz="700">
                <a:solidFill>
                  <a:srgbClr val="CCCCCC"/>
                </a:solidFill>
                <a:latin typeface="Consolas"/>
              </a:rPr>
              <a:t>()</a:t>
            </a:r>
          </a:p>
          <a:p>
            <a:pPr>
              <a:spcAft>
                <a:spcPts val="0"/>
              </a:spcAft>
            </a:pPr>
            <a:r>
              <a:rPr sz="700">
                <a:solidFill>
                  <a:srgbClr val="CCCCCC"/>
                </a:solidFill>
                <a:latin typeface="Consolas"/>
              </a:rPr>
              <a:t>        self.x = self.y = 0</a:t>
            </a:r>
          </a:p>
          <a:p>
            <a:pPr>
              <a:spcAft>
                <a:spcPts val="0"/>
              </a:spcAft>
            </a:pPr>
            <a:r>
              <a:rPr sz="700">
                <a:solidFill>
                  <a:srgbClr val="CCCCCC"/>
                </a:solidFill>
                <a:latin typeface="Consolas"/>
              </a:rPr>
              <a:t>        self.down = False</a:t>
            </a:r>
          </a:p>
          <a:p>
            <a:pPr>
              <a:spcAft>
                <a:spcPts val="0"/>
              </a:spcAft>
            </a:pPr>
            <a:r>
              <a:rPr sz="700">
                <a:solidFill>
                  <a:srgbClr val="CCCCCC"/>
                </a:solidFill>
                <a:latin typeface="Consolas"/>
              </a:rPr>
              <a:t>        self.pressed = False          </a:t>
            </a:r>
            <a:r>
              <a:rPr sz="700">
                <a:solidFill>
                  <a:srgbClr val="7FAF7F"/>
                </a:solidFill>
                <a:latin typeface="Consolas"/>
              </a:rPr>
              <a:t># edge, consumed by the loop</a:t>
            </a:r>
          </a:p>
          <a:p>
            <a:pPr>
              <a:spcAft>
                <a:spcPts val="0"/>
              </a:spcAft>
            </a:pPr>
            <a:r>
              <a:rPr sz="700">
                <a:solidFill>
                  <a:srgbClr val="CCCCCC"/>
                </a:solidFill>
                <a:latin typeface="Consolas"/>
              </a:rPr>
              <a:t>        self.keys = </a:t>
            </a:r>
            <a:r>
              <a:rPr sz="700">
                <a:solidFill>
                  <a:srgbClr val="7FC7E8"/>
                </a:solidFill>
                <a:latin typeface="Consolas"/>
              </a:rPr>
              <a:t>set</a:t>
            </a:r>
            <a:r>
              <a:rPr sz="700">
                <a:solidFill>
                  <a:srgbClr val="CCCCCC"/>
                </a:solidFill>
                <a:latin typeface="Consolas"/>
              </a:rPr>
              <a:t>()</a:t>
            </a:r>
          </a:p>
          <a:p>
            <a:pPr>
              <a:spcAft>
                <a:spcPts val="0"/>
              </a:spcAft>
            </a:pPr>
            <a:r>
              <a:rPr sz="700">
                <a:solidFill>
                  <a:srgbClr val="CCCCCC"/>
                </a:solidFill>
                <a:latin typeface="Consolas"/>
              </a:rPr>
              <a:t> </a:t>
            </a:r>
          </a:p>
          <a:p>
            <a:pPr>
              <a:spcAft>
                <a:spcPts val="0"/>
              </a:spcAft>
            </a:pPr>
            <a:r>
              <a:rPr sz="700">
                <a:solidFill>
                  <a:srgbClr val="CCCCCC"/>
                </a:solidFill>
                <a:latin typeface="Consolas"/>
              </a:rPr>
              <a:t>    def </a:t>
            </a:r>
            <a:r>
              <a:rPr sz="700">
                <a:solidFill>
                  <a:srgbClr val="7FC7E8"/>
                </a:solidFill>
                <a:latin typeface="Consolas"/>
              </a:rPr>
              <a:t>OnEvent</a:t>
            </a:r>
            <a:r>
              <a:rPr sz="700">
                <a:solidFill>
                  <a:srgbClr val="CCCCCC"/>
                </a:solidFill>
                <a:latin typeface="Consolas"/>
              </a:rPr>
              <a:t>(self, ev):</a:t>
            </a:r>
          </a:p>
          <a:p>
            <a:pPr>
              <a:spcAft>
                <a:spcPts val="0"/>
              </a:spcAft>
            </a:pPr>
            <a:r>
              <a:rPr sz="700">
                <a:solidFill>
                  <a:srgbClr val="CCCCCC"/>
                </a:solidFill>
                <a:latin typeface="Consolas"/>
              </a:rPr>
              <a:t>        if ev.EventType == irr.EET_MOUSE_INPUT_EVENT:</a:t>
            </a:r>
          </a:p>
          <a:p>
            <a:pPr>
              <a:spcAft>
                <a:spcPts val="0"/>
              </a:spcAft>
            </a:pPr>
            <a:r>
              <a:rPr sz="700">
                <a:solidFill>
                  <a:srgbClr val="CCCCCC"/>
                </a:solidFill>
                <a:latin typeface="Consolas"/>
              </a:rPr>
              <a:t>            self.x, self.y = ev.MouseInput.X, ev.MouseInput.Y</a:t>
            </a:r>
          </a:p>
          <a:p>
            <a:pPr>
              <a:spcAft>
                <a:spcPts val="0"/>
              </a:spcAft>
            </a:pPr>
            <a:r>
              <a:rPr sz="700">
                <a:solidFill>
                  <a:srgbClr val="CCCCCC"/>
                </a:solidFill>
                <a:latin typeface="Consolas"/>
              </a:rPr>
              <a:t>            if ev.MouseInput.Event == irr.EMIE_LMOUSE_PRESSED_DOWN:</a:t>
            </a:r>
          </a:p>
          <a:p>
            <a:pPr>
              <a:spcAft>
                <a:spcPts val="0"/>
              </a:spcAft>
            </a:pPr>
            <a:r>
              <a:rPr sz="700">
                <a:solidFill>
                  <a:srgbClr val="CCCCCC"/>
                </a:solidFill>
                <a:latin typeface="Consolas"/>
              </a:rPr>
              <a:t>                self.down = self.pressed = True</a:t>
            </a:r>
          </a:p>
          <a:p>
            <a:pPr>
              <a:spcAft>
                <a:spcPts val="0"/>
              </a:spcAft>
            </a:pPr>
            <a:r>
              <a:rPr sz="700">
                <a:solidFill>
                  <a:srgbClr val="CCCCCC"/>
                </a:solidFill>
                <a:latin typeface="Consolas"/>
              </a:rPr>
              <a:t>            elif ev.MouseInput.Event == irr.EMIE_LMOUSE_LEFT_UP:</a:t>
            </a:r>
          </a:p>
          <a:p>
            <a:pPr>
              <a:spcAft>
                <a:spcPts val="0"/>
              </a:spcAft>
            </a:pPr>
            <a:r>
              <a:rPr sz="700">
                <a:solidFill>
                  <a:srgbClr val="CCCCCC"/>
                </a:solidFill>
                <a:latin typeface="Consolas"/>
              </a:rPr>
              <a:t>                self.down = False</a:t>
            </a:r>
          </a:p>
        </p:txBody>
      </p:sp>
      <p:sp>
        <p:nvSpPr>
          <p:cNvPr id="4" name="NoteBox"/>
          <p:cNvSpPr txBox="1"/>
          <p:nvPr/>
        </p:nvSpPr>
        <p:spPr>
          <a:xfrm>
            <a:off x="402336" y="4813681"/>
            <a:ext cx="11393424" cy="1536192"/>
          </a:xfrm>
          <a:prstGeom prst="rect">
            <a:avLst/>
          </a:prstGeom>
          <a:noFill/>
        </p:spPr>
        <p:txBody>
          <a:bodyPr wrap="square">
            <a:spAutoFit/>
          </a:bodyPr>
          <a:lstStyle/>
          <a:p>
            <a:pPr>
              <a:spcAft>
                <a:spcPts val="400"/>
              </a:spcAft>
            </a:pPr>
            <a:r>
              <a:rPr sz="1600"/>
              <a:t>The pick and the pull were both one call. Hearing the click is the step that is not: without the director it means going around Chrono to the operating system: </a:t>
            </a:r>
            <a:r>
              <a:rPr sz="1400">
                <a:latin typeface="Consolas"/>
              </a:rPr>
              <a:t>724 lines</a:t>
            </a:r>
            <a:r>
              <a:rPr sz="1600"/>
              <a:t> across three backends, one per platform, each asking where the cursor is, whether the button is down, and where our window sits on screen.</a:t>
            </a:r>
          </a:p>
          <a:p>
            <a:pPr>
              <a:spcAft>
                <a:spcPts val="400"/>
              </a:spcAft>
            </a:pPr>
            <a:r>
              <a:rPr sz="1600"/>
              <a:t>With it, the same capability is </a:t>
            </a:r>
            <a:r>
              <a:rPr sz="1400">
                <a:latin typeface="Consolas"/>
              </a:rPr>
              <a:t>81 lines</a:t>
            </a:r>
            <a:r>
              <a:rPr sz="1600"/>
              <a:t> that run wherever Irrlicht does, because the events already arrive in window coordinates.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3: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keeps working</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1800">
                <a:latin typeface="Consolas"/>
              </a:rPr>
              <a:t>Go2</a:t>
            </a:r>
            <a:r>
              <a:rPr sz="2000"/>
              <a:t>, driven by a trained locomotion policy: pull on a leg and it steps to keep its feet.</a:t>
            </a:r>
          </a:p>
          <a:p>
            <a:pPr>
              <a:spcAft>
                <a:spcPts val="900"/>
              </a:spcAft>
            </a:pPr>
            <a:r>
              <a:rPr sz="1800">
                <a:latin typeface="Consolas"/>
              </a:rPr>
              <a:t>Franka</a:t>
            </a:r>
            <a:r>
              <a:rPr sz="2000"/>
              <a:t>, hand-guided: the motors hold position, and the arm follows your hand and returns when you let go.</a:t>
            </a:r>
          </a:p>
          <a:p>
            <a:pPr>
              <a:spcAft>
                <a:spcPts val="900"/>
              </a:spcAft>
            </a:pPr>
            <a:r>
              <a:rPr sz="1800">
                <a:latin typeface="Consolas"/>
              </a:rPr>
              <a:t>Franka</a:t>
            </a:r>
            <a:r>
              <a:rPr sz="2000"/>
              <a:t>, unactuated: the motors are off, so it collapses under gravity and you can pose the dead weight by hand.</a:t>
            </a:r>
          </a:p>
        </p:txBody>
      </p:sp>
      <p:pic>
        <p:nvPicPr>
          <p:cNvPr id="4" name="Picture 3" descr="demo_go2.png"/>
          <p:cNvPicPr>
            <a:picLocks noChangeAspect="1"/>
          </p:cNvPicPr>
          <p:nvPr/>
        </p:nvPicPr>
        <p:blipFill>
          <a:blip r:embed="rId2"/>
          <a:stretch>
            <a:fillRect/>
          </a:stretch>
        </p:blipFill>
        <p:spPr>
          <a:xfrm>
            <a:off x="4360205" y="5020055"/>
            <a:ext cx="1783461" cy="1380744"/>
          </a:xfrm>
          <a:prstGeom prst="rect">
            <a:avLst/>
          </a:prstGeom>
        </p:spPr>
      </p:pic>
      <p:pic>
        <p:nvPicPr>
          <p:cNvPr id="5" name="Picture 4" descr="demo_arm.png"/>
          <p:cNvPicPr>
            <a:picLocks noChangeAspect="1"/>
          </p:cNvPicPr>
          <p:nvPr/>
        </p:nvPicPr>
        <p:blipFill>
          <a:blip r:embed="rId3"/>
          <a:stretch>
            <a:fillRect/>
          </a:stretch>
        </p:blipFill>
        <p:spPr>
          <a:xfrm>
            <a:off x="6417986" y="5020055"/>
            <a:ext cx="1410760" cy="1380744"/>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1636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The pattern, not the API: decide which half of the human's input</a:t>
            </a:r>
          </a:p>
          <a:p>
            <a:pPr>
              <a:spcAft>
                <a:spcPts val="0"/>
              </a:spcAft>
            </a:pPr>
            <a:r>
              <a:rPr sz="700">
                <a:solidFill>
                  <a:srgbClr val="7FAF7F"/>
                </a:solidFill>
                <a:latin typeface="Consolas"/>
              </a:rPr>
              <a:t># has to be repeatable, and script only that half.</a:t>
            </a:r>
          </a:p>
          <a:p>
            <a:pPr>
              <a:spcAft>
                <a:spcPts val="0"/>
              </a:spcAft>
            </a:pPr>
            <a:r>
              <a:rPr sz="700">
                <a:solidFill>
                  <a:srgbClr val="7FAF7F"/>
                </a:solidFill>
                <a:latin typeface="Consolas"/>
              </a:rPr>
              <a:t>#</a:t>
            </a:r>
          </a:p>
          <a:p>
            <a:pPr>
              <a:spcAft>
                <a:spcPts val="0"/>
              </a:spcAft>
            </a:pPr>
            <a:r>
              <a:rPr sz="700">
                <a:solidFill>
                  <a:srgbClr val="7FAF7F"/>
                </a:solidFill>
                <a:latin typeface="Consolas"/>
              </a:rPr>
              <a:t>#   the person keeps:   WHERE on the body, and WHICH DIRECTION</a:t>
            </a:r>
          </a:p>
          <a:p>
            <a:pPr>
              <a:spcAft>
                <a:spcPts val="0"/>
              </a:spcAft>
            </a:pPr>
            <a:r>
              <a:rPr sz="700">
                <a:solidFill>
                  <a:srgbClr val="7FAF7F"/>
                </a:solidFill>
                <a:latin typeface="Consolas"/>
              </a:rPr>
              <a:t>#   the machine keeps:  a constant force F held for a fixed window dt</a:t>
            </a:r>
          </a:p>
          <a:p>
            <a:pPr>
              <a:spcAft>
                <a:spcPts val="0"/>
              </a:spcAft>
            </a:pPr>
            <a:r>
              <a:rPr sz="700">
                <a:solidFill>
                  <a:srgbClr val="7FAF7F"/>
                </a:solidFill>
                <a:latin typeface="Consolas"/>
              </a:rPr>
              <a:t>#</a:t>
            </a:r>
          </a:p>
          <a:p>
            <a:pPr>
              <a:spcAft>
                <a:spcPts val="0"/>
              </a:spcAft>
            </a:pPr>
            <a:r>
              <a:rPr sz="700">
                <a:solidFill>
                  <a:srgbClr val="7FAF7F"/>
                </a:solidFill>
                <a:latin typeface="Consolas"/>
              </a:rPr>
              <a:t>#   impulse  J = F * dt      both printed, both logged</a:t>
            </a:r>
          </a:p>
          <a:p>
            <a:pPr>
              <a:spcAft>
                <a:spcPts val="0"/>
              </a:spcAft>
            </a:pPr>
            <a:r>
              <a:rPr sz="700">
                <a:solidFill>
                  <a:srgbClr val="7FAF7F"/>
                </a:solidFill>
                <a:latin typeface="Consolas"/>
              </a:rPr>
              <a:t>#</a:t>
            </a:r>
          </a:p>
          <a:p>
            <a:pPr>
              <a:spcAft>
                <a:spcPts val="0"/>
              </a:spcAft>
            </a:pPr>
            <a:r>
              <a:rPr sz="700">
                <a:solidFill>
                  <a:srgbClr val="7FAF7F"/>
                </a:solidFill>
                <a:latin typeface="Consolas"/>
              </a:rPr>
              <a:t># A freehand drag cannot answer 'how hard can I shove it', because</a:t>
            </a:r>
          </a:p>
          <a:p>
            <a:pPr>
              <a:spcAft>
                <a:spcPts val="0"/>
              </a:spcAft>
            </a:pPr>
            <a:r>
              <a:rPr sz="700">
                <a:solidFill>
                  <a:srgbClr val="7FAF7F"/>
                </a:solidFill>
                <a:latin typeface="Consolas"/>
              </a:rPr>
              <a:t># no two drags are the same: the force depends on how fast a hand</a:t>
            </a:r>
          </a:p>
          <a:p>
            <a:pPr>
              <a:spcAft>
                <a:spcPts val="0"/>
              </a:spcAft>
            </a:pPr>
            <a:r>
              <a:rPr sz="700">
                <a:solidFill>
                  <a:srgbClr val="7FAF7F"/>
                </a:solidFill>
                <a:latin typeface="Consolas"/>
              </a:rPr>
              <a:t># moved and how long a button was held. There is no number at the end.</a:t>
            </a:r>
          </a:p>
          <a:p>
            <a:pPr>
              <a:spcAft>
                <a:spcPts val="0"/>
              </a:spcAft>
            </a:pPr>
            <a:r>
              <a:rPr sz="700">
                <a:solidFill>
                  <a:srgbClr val="7FAF7F"/>
                </a:solidFill>
                <a:latin typeface="Consolas"/>
              </a:rPr>
              <a:t># Script the magnitude and you get one you can put in a report.</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(demos/push/rig.py, lines 165 to 185) ------</a:t>
            </a:r>
          </a:p>
          <a:p>
            <a:pPr>
              <a:spcAft>
                <a:spcPts val="0"/>
              </a:spcAft>
            </a:pPr>
            <a:r>
              <a:rPr sz="700">
                <a:solidFill>
                  <a:srgbClr val="CCCCCC"/>
                </a:solidFill>
                <a:latin typeface="Consolas"/>
              </a:rPr>
              <a:t>def </a:t>
            </a:r>
            <a:r>
              <a:rPr sz="700">
                <a:solidFill>
                  <a:srgbClr val="7FC7E8"/>
                </a:solidFill>
                <a:latin typeface="Consolas"/>
              </a:rPr>
              <a:t>fire</a:t>
            </a:r>
            <a:r>
              <a:rPr sz="700">
                <a:solidFill>
                  <a:srgbClr val="CCCCCC"/>
                </a:solidFill>
                <a:latin typeface="Consolas"/>
              </a:rPr>
              <a:t>(self, cfg, t):</a:t>
            </a:r>
          </a:p>
          <a:p>
            <a:pPr>
              <a:spcAft>
                <a:spcPts val="0"/>
              </a:spcAft>
            </a:pPr>
            <a:r>
              <a:rPr sz="700">
                <a:solidFill>
                  <a:srgbClr val="CCCCCC"/>
                </a:solidFill>
                <a:latin typeface="Consolas"/>
              </a:rPr>
              <a:t>    body = cfg.body</a:t>
            </a:r>
          </a:p>
          <a:p>
            <a:pPr>
              <a:spcAft>
                <a:spcPts val="0"/>
              </a:spcAft>
            </a:pPr>
            <a:r>
              <a:rPr sz="700">
                <a:solidFill>
                  <a:srgbClr val="CCCCCC"/>
                </a:solidFill>
                <a:latin typeface="Consolas"/>
              </a:rPr>
              <a:t>    self.active = (body, cfg.</a:t>
            </a:r>
            <a:r>
              <a:rPr sz="700">
                <a:solidFill>
                  <a:srgbClr val="7FC7E8"/>
                </a:solidFill>
                <a:latin typeface="Consolas"/>
              </a:rPr>
              <a:t>force</a:t>
            </a:r>
            <a:r>
              <a:rPr sz="700">
                <a:solidFill>
                  <a:srgbClr val="CCCCCC"/>
                </a:solidFill>
                <a:latin typeface="Consolas"/>
              </a:rPr>
              <a:t>(), chrono.</a:t>
            </a:r>
            <a:r>
              <a:rPr sz="700">
                <a:solidFill>
                  <a:srgbClr val="F0A040"/>
                </a:solidFill>
                <a:latin typeface="Consolas"/>
              </a:rPr>
              <a:t>ChVector3d</a:t>
            </a:r>
            <a:r>
              <a:rPr sz="700">
                <a:solidFill>
                  <a:srgbClr val="CCCCCC"/>
                </a:solidFill>
                <a:latin typeface="Consolas"/>
              </a:rPr>
              <a:t>(cfg.local_point),</a:t>
            </a:r>
          </a:p>
          <a:p>
            <a:pPr>
              <a:spcAft>
                <a:spcPts val="0"/>
              </a:spcAft>
            </a:pPr>
            <a:r>
              <a:rPr sz="700">
                <a:solidFill>
                  <a:srgbClr val="CCCCCC"/>
                </a:solidFill>
                <a:latin typeface="Consolas"/>
              </a:rPr>
              <a:t>                   t + cfg.duration)</a:t>
            </a:r>
          </a:p>
          <a:p>
            <a:pPr>
              <a:spcAft>
                <a:spcPts val="0"/>
              </a:spcAft>
            </a:pPr>
            <a:r>
              <a:rPr sz="700">
                <a:solidFill>
                  <a:srgbClr val="CCCCCC"/>
                </a:solidFill>
                <a:latin typeface="Consolas"/>
              </a:rPr>
              <a:t>    self.fired_at = t</a:t>
            </a:r>
          </a:p>
          <a:p>
            <a:pPr>
              <a:spcAft>
                <a:spcPts val="0"/>
              </a:spcAft>
            </a:pPr>
            <a:r>
              <a:rPr sz="700">
                <a:solidFill>
                  <a:srgbClr val="CCCCCC"/>
                </a:solidFill>
                <a:latin typeface="Consolas"/>
              </a:rPr>
              <a:t>    return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a:t>
            </a:r>
          </a:p>
          <a:p>
            <a:pPr>
              <a:spcAft>
                <a:spcPts val="0"/>
              </a:spcAft>
            </a:pPr>
            <a:r>
              <a:rPr sz="700">
                <a:solidFill>
                  <a:srgbClr val="CCCCCC"/>
                </a:solidFill>
                <a:latin typeface="Consolas"/>
              </a:rPr>
              <a:t>def </a:t>
            </a:r>
            <a:r>
              <a:rPr sz="700">
                <a:solidFill>
                  <a:srgbClr val="7FC7E8"/>
                </a:solidFill>
                <a:latin typeface="Consolas"/>
              </a:rPr>
              <a:t>update</a:t>
            </a:r>
            <a:r>
              <a:rPr sz="700">
                <a:solidFill>
                  <a:srgbClr val="CCCCCC"/>
                </a:solidFill>
                <a:latin typeface="Consolas"/>
              </a:rPr>
              <a:t>(self, t):</a:t>
            </a:r>
          </a:p>
          <a:p>
            <a:pPr>
              <a:spcAft>
                <a:spcPts val="0"/>
              </a:spcAft>
            </a:pPr>
            <a:r>
              <a:rPr sz="700">
                <a:solidFill>
                  <a:srgbClr val="CCCCCC"/>
                </a:solidFill>
                <a:latin typeface="Consolas"/>
              </a:rPr>
              <a:t>    </a:t>
            </a:r>
            <a:r>
              <a:rPr sz="700">
                <a:solidFill>
                  <a:srgbClr val="D8A0C0"/>
                </a:solidFill>
                <a:latin typeface="Consolas"/>
              </a:rPr>
              <a:t>""</a:t>
            </a:r>
            <a:r>
              <a:rPr sz="700">
                <a:solidFill>
                  <a:srgbClr val="D8A0C0"/>
                </a:solidFill>
                <a:latin typeface="Consolas"/>
              </a:rPr>
              <a:t>"Call every step, BEFORE DoStepDynamics. Returns True while pushing."</a:t>
            </a:r>
            <a:r>
              <a:rPr sz="700">
                <a:solidFill>
                  <a:srgbClr val="D8A0C0"/>
                </a:solidFill>
                <a:latin typeface="Consolas"/>
              </a:rPr>
              <a:t>""</a:t>
            </a:r>
          </a:p>
          <a:p>
            <a:pPr>
              <a:spcAft>
                <a:spcPts val="0"/>
              </a:spcAft>
            </a:pPr>
            <a:r>
              <a:rPr sz="700">
                <a:solidFill>
                  <a:srgbClr val="CCCCCC"/>
                </a:solidFill>
                <a:latin typeface="Consolas"/>
              </a:rPr>
              <a:t>    if self.active is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body, force, local, t_end = self.active</a:t>
            </a:r>
          </a:p>
          <a:p>
            <a:pPr>
              <a:spcAft>
                <a:spcPts val="0"/>
              </a:spcAft>
            </a:pPr>
            <a:r>
              <a:rPr sz="700">
                <a:solidFill>
                  <a:srgbClr val="CCCCCC"/>
                </a:solidFill>
                <a:latin typeface="Consolas"/>
              </a:rPr>
              <a:t>    idx =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body.</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Chrono never clears these for you</a:t>
            </a:r>
          </a:p>
          <a:p>
            <a:pPr>
              <a:spcAft>
                <a:spcPts val="0"/>
              </a:spcAft>
            </a:pPr>
            <a:r>
              <a:rPr sz="700">
                <a:solidFill>
                  <a:srgbClr val="CCCCCC"/>
                </a:solidFill>
                <a:latin typeface="Consolas"/>
              </a:rPr>
              <a:t>    if t &gt;= t_end:</a:t>
            </a:r>
          </a:p>
          <a:p>
            <a:pPr>
              <a:spcAft>
                <a:spcPts val="0"/>
              </a:spcAft>
            </a:pPr>
            <a:r>
              <a:rPr sz="700">
                <a:solidFill>
                  <a:srgbClr val="CCCCCC"/>
                </a:solidFill>
                <a:latin typeface="Consolas"/>
              </a:rPr>
              <a:t>        self.active =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a:t>
            </a:r>
            <a:r>
              <a:rPr sz="700">
                <a:solidFill>
                  <a:srgbClr val="7FAF7F"/>
                </a:solidFill>
                <a:latin typeface="Consolas"/>
              </a:rPr>
              <a:t># The point travels with the link: a shove on the shoulder stays on the</a:t>
            </a:r>
          </a:p>
          <a:p>
            <a:pPr>
              <a:spcAft>
                <a:spcPts val="0"/>
              </a:spcAft>
            </a:pPr>
            <a:r>
              <a:rPr sz="700">
                <a:solidFill>
                  <a:srgbClr val="CCCCCC"/>
                </a:solidFill>
                <a:latin typeface="Consolas"/>
              </a:rPr>
              <a:t>    </a:t>
            </a:r>
            <a:r>
              <a:rPr sz="700">
                <a:solidFill>
                  <a:srgbClr val="7FAF7F"/>
                </a:solidFill>
                <a:latin typeface="Consolas"/>
              </a:rPr>
              <a:t># shoulder even as the shoulder is being shoved away.</a:t>
            </a:r>
          </a:p>
          <a:p>
            <a:pPr>
              <a:spcAft>
                <a:spcPts val="0"/>
              </a:spcAft>
            </a:pPr>
            <a:r>
              <a:rPr sz="700">
                <a:solidFill>
                  <a:srgbClr val="CCCCCC"/>
                </a:solidFill>
                <a:latin typeface="Consolas"/>
              </a:rPr>
              <a:t>    body.</a:t>
            </a:r>
            <a:r>
              <a:rPr sz="700">
                <a:solidFill>
                  <a:srgbClr val="7FC7E8"/>
                </a:solidFill>
                <a:latin typeface="Consolas"/>
              </a:rPr>
              <a:t>AccumulateForce</a:t>
            </a:r>
            <a:r>
              <a:rPr sz="700">
                <a:solidFill>
                  <a:srgbClr val="CCCCCC"/>
                </a:solidFill>
                <a:latin typeface="Consolas"/>
              </a:rPr>
              <a:t>(idx, force, body.</a:t>
            </a:r>
            <a:r>
              <a:rPr sz="700">
                <a:solidFill>
                  <a:srgbClr val="7FC7E8"/>
                </a:solidFill>
                <a:latin typeface="Consolas"/>
              </a:rPr>
              <a:t>TransformPointLocalToParent</a:t>
            </a:r>
            <a:r>
              <a:rPr sz="700">
                <a:solidFill>
                  <a:srgbClr val="CCCCCC"/>
                </a:solidFill>
                <a:latin typeface="Consolas"/>
              </a:rPr>
              <a:t>(local),</a:t>
            </a:r>
          </a:p>
          <a:p>
            <a:pPr>
              <a:spcAft>
                <a:spcPts val="0"/>
              </a:spcAft>
            </a:pPr>
            <a:r>
              <a:rPr sz="700">
                <a:solidFill>
                  <a:srgbClr val="CCCCCC"/>
                </a:solidFill>
                <a:latin typeface="Consolas"/>
              </a:rPr>
              <a:t>                         False)</a:t>
            </a:r>
          </a:p>
        </p:txBody>
      </p:sp>
      <p:sp>
        <p:nvSpPr>
          <p:cNvPr id="4" name="NoteBox"/>
          <p:cNvSpPr txBox="1"/>
          <p:nvPr/>
        </p:nvSpPr>
        <p:spPr>
          <a:xfrm>
            <a:off x="402336" y="5480431"/>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4: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500"/>
              </a:spcAft>
            </a:pPr>
            <a:r>
              <a:rPr sz="1500">
                <a:latin typeface="Consolas"/>
              </a:rPr>
              <a:t>WHAT</a:t>
            </a:r>
            <a:r>
              <a:rPr sz="1700"/>
              <a:t>  click a point on the robot, set a direction and a magnitude, and fire an impulse of fixed duration</a:t>
            </a:r>
          </a:p>
          <a:p>
            <a:pPr>
              <a:spcAft>
                <a:spcPts val="500"/>
              </a:spcAft>
            </a:pPr>
            <a:r>
              <a:rPr sz="1500">
                <a:latin typeface="Consolas"/>
              </a:rPr>
              <a:t>WHY</a:t>
            </a:r>
            <a:r>
              <a:rPr sz="1700"/>
              <a:t>   it turns 'is this controller robust' into a number, which is something you can put in a report and somebody else can reproduce</a:t>
            </a:r>
          </a:p>
          <a:p>
            <a:pPr>
              <a:spcAft>
                <a:spcPts val="500"/>
              </a:spcAft>
            </a:pPr>
            <a:r>
              <a:rPr sz="1700"/>
              <a:t>The panel reports the impulse, the peak tilt, how far the robot was carried, and how long it took to settle.</a:t>
            </a:r>
          </a:p>
          <a:p>
            <a:pPr>
              <a:spcAft>
                <a:spcPts val="500"/>
              </a:spcAft>
            </a:pPr>
            <a:r>
              <a:rPr sz="1700"/>
              <a:t>Sweep the magnitude and it finds the threshold. With the locomotion policy driving: </a:t>
            </a:r>
            <a:r>
              <a:rPr sz="1500">
                <a:latin typeface="Consolas"/>
              </a:rPr>
              <a:t>1850 N</a:t>
            </a:r>
            <a:r>
              <a:rPr sz="1700"/>
              <a:t> recovers, </a:t>
            </a:r>
            <a:r>
              <a:rPr sz="1500">
                <a:latin typeface="Consolas"/>
              </a:rPr>
              <a:t>1900 N</a:t>
            </a:r>
            <a:r>
              <a:rPr sz="1700"/>
              <a:t> does not. Sideways is weaker: </a:t>
            </a:r>
            <a:r>
              <a:rPr sz="1500">
                <a:latin typeface="Consolas"/>
              </a:rPr>
              <a:t>1100 N</a:t>
            </a:r>
            <a:r>
              <a:rPr sz="1700"/>
              <a:t> recovers, </a:t>
            </a:r>
            <a:r>
              <a:rPr sz="1500">
                <a:latin typeface="Consolas"/>
              </a:rPr>
              <a:t>1200 N</a:t>
            </a:r>
            <a:r>
              <a:rPr sz="1700"/>
              <a:t> does not.</a:t>
            </a:r>
          </a:p>
          <a:p>
            <a:pPr>
              <a:spcAft>
                <a:spcPts val="500"/>
              </a:spcAft>
            </a:pPr>
            <a:r>
              <a:rPr sz="1700"/>
              <a:t>Change the controller and the threshold moves. The same robot held by a PD stance goes over just past </a:t>
            </a:r>
            <a:r>
              <a:rPr sz="1500">
                <a:latin typeface="Consolas"/>
              </a:rPr>
              <a:t>600 N</a:t>
            </a:r>
            <a:r>
              <a:rPr sz="1700"/>
              <a:t>, because a stance can only stiffen while the policy steps into the push.</a:t>
            </a:r>
          </a:p>
          <a:p>
            <a:pPr>
              <a:spcAft>
                <a:spcPts val="500"/>
              </a:spcAft>
            </a:pPr>
            <a:r>
              <a:rPr sz="1700"/>
              <a:t>Where you click matters too: the same impulse 5 cm higher up the torso can flip the verdict.</a:t>
            </a:r>
          </a:p>
        </p:txBody>
      </p:sp>
      <p:pic>
        <p:nvPicPr>
          <p:cNvPr id="4" name="Picture 3" descr="demo_push.png"/>
          <p:cNvPicPr>
            <a:picLocks noChangeAspect="1"/>
          </p:cNvPicPr>
          <p:nvPr/>
        </p:nvPicPr>
        <p:blipFill>
          <a:blip r:embed="rId2"/>
          <a:stretch>
            <a:fillRect/>
          </a:stretch>
        </p:blipFill>
        <p:spPr>
          <a:xfrm>
            <a:off x="7269480" y="2166095"/>
            <a:ext cx="4526280" cy="3504216"/>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all four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a:p>
            <a:pPr>
              <a:spcAft>
                <a:spcPts val="900"/>
              </a:spcAft>
            </a:pPr>
            <a:r>
              <a:rPr sz="2000"/>
              <a:t>The gap this talk found is small and specific, which is the good kind: one line to let Python receive the event, and a utility on top of primitives Chrono already exposes. Upstream PR to follow.</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33</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