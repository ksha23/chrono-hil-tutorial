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Nothing in that definition mentions vehicles. That is the whole point of the tutorial: a car, a crane, a gearbox and a quadruped's leg all satisfy it, and they satisfy it the same way.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Why a person at all</a:t>
            </a:r>
          </a:p>
        </p:txBody>
      </p:sp>
      <p:sp>
        <p:nvSpPr>
          <p:cNvPr id="3" name="Content Placeholder 2"/>
          <p:cNvSpPr>
            <a:spLocks noGrp="1"/>
          </p:cNvSpPr>
          <p:nvPr>
            <p:ph idx="1"/>
          </p:nvPr>
        </p:nvSpPr>
        <p:spPr/>
        <p:txBody>
          <a:bodyPr wrap="square"/>
          <a:lstStyle/>
          <a:p>
            <a:pPr>
              <a:spcAft>
                <a:spcPts val="900"/>
              </a:spcAft>
            </a:pPr>
            <a:r>
              <a:rPr sz="2000"/>
              <a:t>A gantry crane. Four bodies, two speed motors, one distance constraint. No vehicle, no terrain, no tires.</a:t>
            </a:r>
          </a:p>
          <a:p>
            <a:pPr>
              <a:spcAft>
                <a:spcPts val="900"/>
              </a:spcAft>
            </a:pPr>
            <a:r>
              <a:rPr sz="2000"/>
              <a:t>The payload hangs free and NOTHING damps the swing but the operator.</a:t>
            </a:r>
          </a:p>
          <a:p>
            <a:pPr lvl="1">
              <a:spcAft>
                <a:spcPts val="900"/>
              </a:spcAft>
            </a:pPr>
            <a:r>
              <a:rPr sz="1800"/>
              <a:t>accelerate hard and the load swings</a:t>
            </a:r>
          </a:p>
          <a:p>
            <a:pPr lvl="1">
              <a:spcAft>
                <a:spcPts val="900"/>
              </a:spcAft>
            </a:pPr>
            <a:r>
              <a:rPr sz="1800"/>
              <a:t>it keeps swinging until someone drives the trolley back under it</a:t>
            </a:r>
          </a:p>
          <a:p>
            <a:pPr>
              <a:spcAft>
                <a:spcPts val="900"/>
              </a:spcAft>
            </a:pPr>
            <a:r>
              <a:rPr sz="1800">
                <a:latin typeface="Consolas"/>
              </a:rPr>
              <a:t>status()</a:t>
            </a:r>
            <a:r>
              <a:rPr sz="2000"/>
              <a:t> reports the swing angle, so the console scores how badly you are doing without your having to watch the window.</a:t>
            </a:r>
          </a:p>
        </p:txBody>
      </p:sp>
      <p:sp>
        <p:nvSpPr>
          <p:cNvPr id="4" name="NoteBox"/>
          <p:cNvSpPr txBox="1"/>
          <p:nvPr/>
        </p:nvSpPr>
        <p:spPr>
          <a:xfrm>
            <a:off x="402336" y="5532120"/>
            <a:ext cx="11393424" cy="987551"/>
          </a:xfrm>
          <a:prstGeom prst="rect">
            <a:avLst/>
          </a:prstGeom>
          <a:noFill/>
        </p:spPr>
        <p:txBody>
          <a:bodyPr wrap="square">
            <a:spAutoFit/>
          </a:bodyPr>
          <a:lstStyle/>
          <a:p>
            <a:pPr>
              <a:spcAft>
                <a:spcPts val="400"/>
              </a:spcAft>
            </a:pPr>
            <a:r>
              <a:rPr sz="1600"/>
              <a:t>No controller in this tutorial can land that load, which is the cleanest answer to 'why not just automate it'. It also settles the generality question early: if the pattern reaches a crane, it is not a Chrono::Vehicle feature.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Worth saying out loud, because 'interactive' and 'in the loop' get used interchangeably and only one of them has a clock in it. All three are useful. Only the first two are what the phrase means.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Unpaced, a box being dragged by hand travelled 88.7 m in one wall-clock second instead of 1.8 m. The physics was right both times. Only one of them was usable by a person.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3719576"/>
          </a:xfrm>
          <a:prstGeom prst="rect">
            <a:avLst/>
          </a:prstGeom>
          <a:solidFill>
            <a:srgbClr val="000000"/>
          </a:solidFill>
        </p:spPr>
        <p:txBody>
          <a:bodyPr wrap="none" lIns="320040" tIns="91440">
            <a:spAutoFit/>
          </a:bodyPr>
          <a:lstStyle/>
          <a:p>
            <a:pPr>
              <a:spcAft>
                <a:spcPts val="0"/>
              </a:spcAft>
            </a:pPr>
            <a:r>
              <a:rPr sz="1100">
                <a:solidFill>
                  <a:srgbClr val="CCCCCC"/>
                </a:solidFill>
                <a:latin typeface="Consolas"/>
              </a:rPr>
              <a:t>// chrono/core/ChRealtimeStep.h</a:t>
            </a:r>
          </a:p>
          <a:p>
            <a:pPr>
              <a:spcAft>
                <a:spcPts val="0"/>
              </a:spcAft>
            </a:pPr>
            <a:r>
              <a:rPr sz="1100">
                <a:solidFill>
                  <a:srgbClr val="CCCCCC"/>
                </a:solidFill>
                <a:latin typeface="Consolas"/>
              </a:rPr>
              <a:t>class ChRealtimeStepTimer : public ChTimer {</a:t>
            </a:r>
          </a:p>
          <a:p>
            <a:pPr>
              <a:spcAft>
                <a:spcPts val="0"/>
              </a:spcAft>
            </a:pPr>
            <a:r>
              <a:rPr sz="1100">
                <a:solidFill>
                  <a:srgbClr val="CCCCCC"/>
                </a:solidFill>
                <a:latin typeface="Consolas"/>
              </a:rPr>
              <a:t>    void Spin(double step);    //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CCCCCC"/>
                </a:solidFill>
                <a:latin typeface="Consolas"/>
              </a:rPr>
              <a:t>// chrono_vehicle/ChVehicle.h -- same policy, applied inside Advance()</a:t>
            </a:r>
          </a:p>
          <a:p>
            <a:pPr>
              <a:spcAft>
                <a:spcPts val="0"/>
              </a:spcAft>
            </a:pPr>
            <a:r>
              <a:rPr sz="1100">
                <a:solidFill>
                  <a:srgbClr val="CCCCCC"/>
                </a:solidFill>
                <a:latin typeface="Consolas"/>
              </a:rPr>
              <a:t>void   ChVehicle::EnableRealtime(bool val);</a:t>
            </a:r>
          </a:p>
          <a:p>
            <a:pPr>
              <a:spcAft>
                <a:spcPts val="0"/>
              </a:spcAft>
            </a:pPr>
            <a:r>
              <a:rPr sz="1100">
                <a:solidFill>
                  <a:srgbClr val="CCCCCC"/>
                </a:solidFill>
                <a:latin typeface="Consolas"/>
              </a:rPr>
              <a:t>double ChVehicle::GetRTF() const;   // wall / simulated, per step</a:t>
            </a:r>
          </a:p>
          <a:p>
            <a:pPr>
              <a:spcAft>
                <a:spcPts val="0"/>
              </a:spcAft>
            </a:pPr>
            <a:r>
              <a:rPr sz="1100">
                <a:solidFill>
                  <a:srgbClr val="CCCCCC"/>
                </a:solidFill>
                <a:latin typeface="Consolas"/>
              </a:rPr>
              <a:t> </a:t>
            </a:r>
          </a:p>
          <a:p>
            <a:pPr>
              <a:spcAft>
                <a:spcPts val="0"/>
              </a:spcAft>
            </a:pPr>
            <a:r>
              <a:rPr sz="1100">
                <a:solidFill>
                  <a:srgbClr val="CCCCCC"/>
                </a:solidFill>
                <a:latin typeface="Consolas"/>
              </a:rPr>
              <a:t>// The pattern, whatever is being simulated:</a:t>
            </a:r>
          </a:p>
          <a:p>
            <a:pPr>
              <a:spcAft>
                <a:spcPts val="0"/>
              </a:spcAft>
            </a:pPr>
            <a:r>
              <a:rPr sz="1100">
                <a:solidFill>
                  <a:srgbClr val="CCCCCC"/>
                </a:solidFill>
                <a:latin typeface="Consolas"/>
              </a:rPr>
              <a:t>//     while running:</a:t>
            </a:r>
          </a:p>
          <a:p>
            <a:pPr>
              <a:spcAft>
                <a:spcPts val="0"/>
              </a:spcAft>
            </a:pPr>
            <a:r>
              <a:rPr sz="1100">
                <a:solidFill>
                  <a:srgbClr val="CCCCCC"/>
                </a:solidFill>
                <a:latin typeface="Consolas"/>
              </a:rPr>
              <a:t>//         inputs = read_human()      # never blocking</a:t>
            </a:r>
          </a:p>
          <a:p>
            <a:pPr>
              <a:spcAft>
                <a:spcPts val="0"/>
              </a:spcAft>
            </a:pPr>
            <a:r>
              <a:rPr sz="1100">
                <a:solidFill>
                  <a:srgbClr val="CCCCCC"/>
                </a:solidFill>
                <a:latin typeface="Consolas"/>
              </a:rPr>
              <a:t>//         sys.DoStepDynamics(step)</a:t>
            </a:r>
          </a:p>
          <a:p>
            <a:pPr>
              <a:spcAft>
                <a:spcPts val="0"/>
              </a:spcAft>
            </a:pPr>
            <a:r>
              <a:rPr sz="1100">
                <a:solidFill>
                  <a:srgbClr val="CCCCCC"/>
                </a:solidFill>
                <a:latin typeface="Consolas"/>
              </a:rPr>
              <a:t>//         if time to draw: render()</a:t>
            </a:r>
          </a:p>
          <a:p>
            <a:pPr>
              <a:spcAft>
                <a:spcPts val="0"/>
              </a:spcAft>
            </a:pPr>
            <a:r>
              <a:rPr sz="1100">
                <a:solidFill>
                  <a:srgbClr val="CCCCCC"/>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"per_step":</a:t>
            </a:r>
          </a:p>
          <a:p>
            <a:pPr>
              <a:spcAft>
                <a:spcPts val="0"/>
              </a:spcAft>
            </a:pPr>
            <a:r>
              <a:rPr sz="1100">
                <a:solidFill>
                  <a:srgbClr val="CCCCCC"/>
                </a:solidFill>
                <a:latin typeface="Consolas"/>
              </a:rPr>
              <a:t>    rt_timer.Spin(step_size)</a:t>
            </a:r>
          </a:p>
          <a:p>
            <a:pPr>
              <a:spcAft>
                <a:spcPts val="0"/>
              </a:spcAft>
            </a:pPr>
            <a:r>
              <a:rPr sz="1100">
                <a:solidFill>
                  <a:srgbClr val="CCCCCC"/>
                </a:solidFill>
                <a:latin typeface="Consolas"/>
              </a:rPr>
              <a:t>elif realtime_mode == "cumulative":</a:t>
            </a:r>
          </a:p>
          <a:p>
            <a:pPr>
              <a:spcAft>
                <a:spcPts val="0"/>
              </a:spcAft>
            </a:pPr>
            <a:r>
              <a:rPr sz="1100">
                <a:solidFill>
                  <a:srgbClr val="CCCCCC"/>
                </a:solidFill>
                <a:latin typeface="Consolas"/>
              </a:rPr>
              <a:t>    cum_timer.spin(system.GetChTime())</a:t>
            </a:r>
          </a:p>
        </p:txBody>
      </p:sp>
      <p:sp>
        <p:nvSpPr>
          <p:cNvPr id="4" name="NoteBox"/>
          <p:cNvSpPr txBox="1"/>
          <p:nvPr/>
        </p:nvSpPr>
        <p:spPr>
          <a:xfrm>
            <a:off x="402336" y="5036312"/>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Show Time</a:t>
            </a:r>
          </a:p>
        </p:txBody>
      </p:sp>
      <p:sp>
        <p:nvSpPr>
          <p:cNvPr id="3" name="Content Placeholder 2"/>
          <p:cNvSpPr>
            <a:spLocks noGrp="1"/>
          </p:cNvSpPr>
          <p:nvPr>
            <p:ph idx="1"/>
          </p:nvPr>
        </p:nvSpPr>
        <p:spPr/>
        <p:txBody>
          <a:bodyPr wrap="square"/>
          <a:lstStyle/>
          <a:p>
            <a:pPr>
              <a:spcAft>
                <a:spcPts val="1000"/>
              </a:spcAft>
            </a:pPr>
            <a:r>
              <a:rPr sz="1800">
                <a:latin typeface="Consolas"/>
              </a:rPr>
              <a:t>REALTIME = "none"</a:t>
            </a:r>
            <a:r>
              <a:rPr sz="2000"/>
              <a:t>: watch the drift column run away</a:t>
            </a:r>
          </a:p>
          <a:p>
            <a:pPr>
              <a:spcAft>
                <a:spcPts val="1000"/>
              </a:spcAft>
            </a:pPr>
            <a:r>
              <a:rPr sz="1800">
                <a:latin typeface="Consolas"/>
              </a:rPr>
              <a:t>REALTIME = "vehicle"</a:t>
            </a:r>
            <a:r>
              <a:rPr sz="2000"/>
              <a:t>: drift pinned near zero, RTF at 1</a:t>
            </a:r>
          </a:p>
          <a:p>
            <a:pPr>
              <a:spcAft>
                <a:spcPts val="1000"/>
              </a:spcAft>
            </a:pPr>
            <a:r>
              <a:rPr sz="2000"/>
              <a:t>Same physics in both runs. The only difference is whether the process sleeps.</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drift column is the honest one. RTF can look fine on average while the sim has already lost a second of wall clock.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Reach for them in this order. People tend to start at the solver, which is near the bottom of the list and the easiest place to spend an afternoon for nothing.</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p:txBody>
          <a:bodyPr wrap="square"/>
          <a:lstStyle/>
          <a:p>
            <a:pPr>
              <a:spcAft>
                <a:spcPts val="500"/>
              </a:spcAft>
            </a:pPr>
            <a:r>
              <a:rPr sz="1500"/>
              <a:t>1.  </a:t>
            </a:r>
            <a:r>
              <a:rPr sz="1300">
                <a:latin typeface="Consolas"/>
              </a:rPr>
              <a:t>Step size</a:t>
            </a:r>
            <a:r>
              <a:rPr sz="1500"/>
              <a:t>. Everything scales with steps per second. The largest step that stays stable is the single biggest lever there is.</a:t>
            </a:r>
          </a:p>
          <a:p>
            <a:pPr>
              <a:spcAft>
                <a:spcPts val="500"/>
              </a:spcAft>
            </a:pPr>
            <a:r>
              <a:rPr sz="1500"/>
              <a:t>2.  </a:t>
            </a:r>
            <a:r>
              <a:rPr sz="1300">
                <a:latin typeface="Consolas"/>
              </a:rPr>
              <a:t>Collision geometry</a:t>
            </a:r>
            <a:r>
              <a:rPr sz="1500"/>
              <a:t>. Primitives beat convex hulls beat triangle meshes, by a lot. Most imported assets arrive as the slowest option.</a:t>
            </a:r>
          </a:p>
          <a:p>
            <a:pPr>
              <a:spcAft>
                <a:spcPts val="500"/>
              </a:spcAft>
            </a:pPr>
            <a:r>
              <a:rPr sz="1500"/>
              <a:t>3.  </a:t>
            </a:r>
            <a:r>
              <a:rPr sz="1300">
                <a:latin typeface="Consolas"/>
              </a:rPr>
              <a:t>Which pairs are tested at all</a:t>
            </a:r>
            <a:r>
              <a:rPr sz="1500"/>
              <a:t>. Families and masks remove whole classes of pair from the broadphase, including self-collision.</a:t>
            </a:r>
          </a:p>
          <a:p>
            <a:pPr>
              <a:spcAft>
                <a:spcPts val="500"/>
              </a:spcAft>
            </a:pPr>
            <a:r>
              <a:rPr sz="1500"/>
              <a:t>4.  </a:t>
            </a:r>
            <a:r>
              <a:rPr sz="1300">
                <a:latin typeface="Consolas"/>
              </a:rPr>
              <a:t>Active domains</a:t>
            </a:r>
            <a:r>
              <a:rPr sz="1500"/>
              <a:t>. Let the expensive physics happen only where it matters: deformable terrain near the wheels, fluid near the hull.</a:t>
            </a:r>
          </a:p>
          <a:p>
            <a:pPr>
              <a:spcAft>
                <a:spcPts val="500"/>
              </a:spcAft>
            </a:pPr>
            <a:r>
              <a:rPr sz="1500"/>
              <a:t>5.  </a:t>
            </a:r>
            <a:r>
              <a:rPr sz="1300">
                <a:latin typeface="Consolas"/>
              </a:rPr>
              <a:t>Solver type and iteration cap</a:t>
            </a:r>
            <a:r>
              <a:rPr sz="1500"/>
              <a:t>. Iterations buy convergence and cost time, and you pay out of the same step you wanted to sleep in.</a:t>
            </a:r>
          </a:p>
          <a:p>
            <a:pPr>
              <a:spcAft>
                <a:spcPts val="500"/>
              </a:spcAft>
            </a:pPr>
            <a:r>
              <a:rPr sz="1500"/>
              <a:t>6.  </a:t>
            </a:r>
            <a:r>
              <a:rPr sz="1300">
                <a:latin typeface="Consolas"/>
              </a:rPr>
              <a:t>Threads</a:t>
            </a:r>
            <a:r>
              <a:rPr sz="1500"/>
              <a:t>, </a:t>
            </a:r>
            <a:r>
              <a:rPr sz="1300">
                <a:latin typeface="Consolas"/>
              </a:rPr>
              <a:t>sleeping bodies</a:t>
            </a:r>
            <a:r>
              <a:rPr sz="1500"/>
              <a:t>, and </a:t>
            </a:r>
            <a:r>
              <a:rPr sz="1300">
                <a:latin typeface="Consolas"/>
              </a:rPr>
              <a:t>model reduction</a:t>
            </a:r>
            <a:r>
              <a:rPr sz="1500"/>
              <a:t> for elastic subassemblies.</a:t>
            </a:r>
          </a:p>
          <a:p>
            <a:pPr>
              <a:spcAft>
                <a:spcPts val="500"/>
              </a:spcAft>
            </a:pPr>
            <a:r>
              <a:rPr sz="1500"/>
              <a:t>7.  </a:t>
            </a:r>
            <a:r>
              <a:rPr sz="1300">
                <a:latin typeface="Consolas"/>
              </a:rPr>
              <a:t>Render less often than you step</a:t>
            </a:r>
            <a:r>
              <a:rPr sz="1500"/>
              <a:t>. Drawing is not free, and the eye does not need 500 Hz.</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None of this is specific to having a human in the loop. It becomes urgent when there is one, because a batch job that runs at 0.6x real time is merely slow, and an interactive one is broken.</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564635"/>
          </a:xfrm>
          <a:prstGeom prst="rect">
            <a:avLst/>
          </a:prstGeom>
          <a:solidFill>
            <a:srgbClr val="000000"/>
          </a:solidFill>
        </p:spPr>
        <p:txBody>
          <a:bodyPr wrap="none" lIns="320040" tIns="91440">
            <a:spAutoFit/>
          </a:bodyPr>
          <a:lstStyle/>
          <a:p>
            <a:pPr>
              <a:spcAft>
                <a:spcPts val="0"/>
              </a:spcAft>
            </a:pPr>
            <a:r>
              <a:rPr sz="1100">
                <a:solidFill>
                  <a:srgbClr val="CCCCCC"/>
                </a:solidFill>
                <a:latin typeface="Consolas"/>
              </a:rPr>
              <a:t>// the step, and how it is integrated</a:t>
            </a:r>
          </a:p>
          <a:p>
            <a:pPr>
              <a:spcAft>
                <a:spcPts val="0"/>
              </a:spcAft>
            </a:pPr>
            <a:r>
              <a:rPr sz="1100">
                <a:solidFill>
                  <a:srgbClr val="CCCCCC"/>
                </a:solidFill>
                <a:latin typeface="Consolas"/>
              </a:rPr>
              <a:t>sys.DoStepDynamics(step);</a:t>
            </a:r>
          </a:p>
          <a:p>
            <a:pPr>
              <a:spcAft>
                <a:spcPts val="0"/>
              </a:spcAft>
            </a:pPr>
            <a:r>
              <a:rPr sz="1100">
                <a:solidFill>
                  <a:srgbClr val="CCCCCC"/>
                </a:solidFill>
                <a:latin typeface="Consolas"/>
              </a:rPr>
              <a:t>sys.SetTimestepperType(ChTimestepper::Type::...);</a:t>
            </a:r>
          </a:p>
          <a:p>
            <a:pPr>
              <a:spcAft>
                <a:spcPts val="0"/>
              </a:spcAft>
            </a:pPr>
            <a:r>
              <a:rPr sz="1100">
                <a:solidFill>
                  <a:srgbClr val="CCCCCC"/>
                </a:solidFill>
                <a:latin typeface="Consolas"/>
              </a:rPr>
              <a:t> </a:t>
            </a:r>
          </a:p>
          <a:p>
            <a:pPr>
              <a:spcAft>
                <a:spcPts val="0"/>
              </a:spcAft>
            </a:pPr>
            <a:r>
              <a:rPr sz="1100">
                <a:solidFill>
                  <a:srgbClr val="CCCCCC"/>
                </a:solidFill>
                <a:latin typeface="Consolas"/>
              </a:rPr>
              <a:t>// the solver: type, and how long it is allowed to work</a:t>
            </a:r>
          </a:p>
          <a:p>
            <a:pPr>
              <a:spcAft>
                <a:spcPts val="0"/>
              </a:spcAft>
            </a:pPr>
            <a:r>
              <a:rPr sz="1100">
                <a:solidFill>
                  <a:srgbClr val="CCCCCC"/>
                </a:solidFill>
                <a:latin typeface="Consolas"/>
              </a:rPr>
              <a:t>sys.SetSolverType(ChSolver::Type::BARZILAIBORWEIN);</a:t>
            </a:r>
          </a:p>
          <a:p>
            <a:pPr>
              <a:spcAft>
                <a:spcPts val="0"/>
              </a:spcAft>
            </a:pPr>
            <a:r>
              <a:rPr sz="1100">
                <a:solidFill>
                  <a:srgbClr val="CCCCCC"/>
                </a:solidFill>
                <a:latin typeface="Consolas"/>
              </a:rPr>
              <a:t>sys.GetSolver()-&gt;AsIterative()-&gt;SetMaxIterations(n);</a:t>
            </a:r>
          </a:p>
          <a:p>
            <a:pPr>
              <a:spcAft>
                <a:spcPts val="0"/>
              </a:spcAft>
            </a:pPr>
            <a:r>
              <a:rPr sz="1100">
                <a:solidFill>
                  <a:srgbClr val="CCCCCC"/>
                </a:solidFill>
                <a:latin typeface="Consolas"/>
              </a:rPr>
              <a:t> </a:t>
            </a:r>
          </a:p>
          <a:p>
            <a:pPr>
              <a:spcAft>
                <a:spcPts val="0"/>
              </a:spcAft>
            </a:pPr>
            <a:r>
              <a:rPr sz="1100">
                <a:solidFill>
                  <a:srgbClr val="CCCCCC"/>
                </a:solidFill>
                <a:latin typeface="Consolas"/>
              </a:rPr>
              <a:t>// what the collision system is asked to do</a:t>
            </a:r>
          </a:p>
          <a:p>
            <a:pPr>
              <a:spcAft>
                <a:spcPts val="0"/>
              </a:spcAft>
            </a:pPr>
            <a:r>
              <a:rPr sz="1100">
                <a:solidFill>
                  <a:srgbClr val="CCCCCC"/>
                </a:solidFill>
                <a:latin typeface="Consolas"/>
              </a:rPr>
              <a:t>model-&gt;SetFamily(i);  model-&gt;SetFamilyMask(mask);  // skip whole pairs</a:t>
            </a:r>
          </a:p>
          <a:p>
            <a:pPr>
              <a:spcAft>
                <a:spcPts val="0"/>
              </a:spcAft>
            </a:pPr>
            <a:r>
              <a:rPr sz="1100">
                <a:solidFill>
                  <a:srgbClr val="CCCCCC"/>
                </a:solidFill>
                <a:latin typeface="Consolas"/>
              </a:rPr>
              <a:t>ChCollisionModel::SetDefaultSuggestedEnvelope(e);   // contact envelope</a:t>
            </a:r>
          </a:p>
          <a:p>
            <a:pPr>
              <a:spcAft>
                <a:spcPts val="0"/>
              </a:spcAft>
            </a:pPr>
            <a:r>
              <a:rPr sz="1100">
                <a:solidFill>
                  <a:srgbClr val="CCCCCC"/>
                </a:solidFill>
                <a:latin typeface="Consolas"/>
              </a:rPr>
              <a:t>ChCollisionModel::SetDefaultSuggestedMargin(m);</a:t>
            </a:r>
          </a:p>
          <a:p>
            <a:pPr>
              <a:spcAft>
                <a:spcPts val="0"/>
              </a:spcAft>
            </a:pPr>
            <a:r>
              <a:rPr sz="1100">
                <a:solidFill>
                  <a:srgbClr val="CCCCCC"/>
                </a:solidFill>
                <a:latin typeface="Consolas"/>
              </a:rPr>
              <a:t> </a:t>
            </a:r>
          </a:p>
          <a:p>
            <a:pPr>
              <a:spcAft>
                <a:spcPts val="0"/>
              </a:spcAft>
            </a:pPr>
            <a:r>
              <a:rPr sz="1100">
                <a:solidFill>
                  <a:srgbClr val="CCCCCC"/>
                </a:solidFill>
                <a:latin typeface="Consolas"/>
              </a:rPr>
              <a:t>// where the expensive physics is allowed to happen</a:t>
            </a:r>
          </a:p>
          <a:p>
            <a:pPr>
              <a:spcAft>
                <a:spcPts val="0"/>
              </a:spcAft>
            </a:pPr>
            <a:r>
              <a:rPr sz="1100">
                <a:solidFill>
                  <a:srgbClr val="CCCCCC"/>
                </a:solidFill>
                <a:latin typeface="Consolas"/>
              </a:rPr>
              <a:t>SCMTerrain::AddActiveDomain(body, ...);   // deform near the wheels only</a:t>
            </a:r>
          </a:p>
          <a:p>
            <a:pPr>
              <a:spcAft>
                <a:spcPts val="0"/>
              </a:spcAft>
            </a:pPr>
            <a:r>
              <a:rPr sz="1100">
                <a:solidFill>
                  <a:srgbClr val="CCCCCC"/>
                </a:solidFill>
                <a:latin typeface="Consolas"/>
              </a:rPr>
              <a:t>ChFsiSystemSPH::SetActiveDomain(box);     // fluid where it matters only</a:t>
            </a:r>
          </a:p>
          <a:p>
            <a:pPr>
              <a:spcAft>
                <a:spcPts val="0"/>
              </a:spcAft>
            </a:pPr>
            <a:r>
              <a:rPr sz="1100">
                <a:solidFill>
                  <a:srgbClr val="CCCCCC"/>
                </a:solidFill>
                <a:latin typeface="Consolas"/>
              </a:rPr>
              <a:t> </a:t>
            </a:r>
          </a:p>
          <a:p>
            <a:pPr>
              <a:spcAft>
                <a:spcPts val="0"/>
              </a:spcAft>
            </a:pPr>
            <a:r>
              <a:rPr sz="1100">
                <a:solidFill>
                  <a:srgbClr val="CCCCCC"/>
                </a:solidFill>
                <a:latin typeface="Consolas"/>
              </a:rPr>
              <a:t>// spend less on what is not moving, or not detailed</a:t>
            </a:r>
          </a:p>
          <a:p>
            <a:pPr>
              <a:spcAft>
                <a:spcPts val="0"/>
              </a:spcAft>
            </a:pPr>
            <a:r>
              <a:rPr sz="1100">
                <a:solidFill>
                  <a:srgbClr val="CCCCCC"/>
                </a:solidFill>
                <a:latin typeface="Consolas"/>
              </a:rPr>
              <a:t>sys.SetNumThreads(n_chrono, n_collision, n_eigen);  // three pools</a:t>
            </a:r>
          </a:p>
          <a:p>
            <a:pPr>
              <a:spcAft>
                <a:spcPts val="0"/>
              </a:spcAft>
            </a:pPr>
            <a:r>
              <a:rPr sz="1100">
                <a:solidFill>
                  <a:srgbClr val="CCCCCC"/>
                </a:solidFill>
                <a:latin typeface="Consolas"/>
              </a:rPr>
              <a:t>sys.SetSleepingAllowed(true);             // bodies at rest drop out</a:t>
            </a:r>
          </a:p>
          <a:p>
            <a:pPr>
              <a:spcAft>
                <a:spcPts val="0"/>
              </a:spcAft>
            </a:pPr>
            <a:r>
              <a:rPr sz="1100">
                <a:solidFill>
                  <a:srgbClr val="CCCCCC"/>
                </a:solidFill>
                <a:latin typeface="Consolas"/>
              </a:rPr>
              <a:t>ChModalAssembly::DoModalReduction(...);   // internal DOFs -&gt; a few modes</a:t>
            </a:r>
          </a:p>
        </p:txBody>
      </p:sp>
      <p:sp>
        <p:nvSpPr>
          <p:cNvPr id="4" name="NoteBox"/>
          <p:cNvSpPr txBox="1"/>
          <p:nvPr/>
        </p:nvSpPr>
        <p:spPr>
          <a:xfrm>
            <a:off x="402336" y="4881372"/>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Two that do not look like performance problems</a:t>
            </a:r>
          </a:p>
        </p:txBody>
      </p:sp>
      <p:sp>
        <p:nvSpPr>
          <p:cNvPr id="3" name="Content Placeholder 2"/>
          <p:cNvSpPr>
            <a:spLocks noGrp="1"/>
          </p:cNvSpPr>
          <p:nvPr>
            <p:ph idx="1"/>
          </p:nvPr>
        </p:nvSpPr>
        <p:spPr/>
        <p:txBody>
          <a:bodyPr wrap="square"/>
          <a:lstStyle/>
          <a:p>
            <a:pPr>
              <a:spcAft>
                <a:spcPts val="900"/>
              </a:spcAft>
            </a:pPr>
            <a:r>
              <a:rPr sz="1800">
                <a:latin typeface="Consolas"/>
              </a:rPr>
              <a:t>Under-resolved friction reads as a frictionless floor.</a:t>
            </a:r>
            <a:r>
              <a:rPr sz="2000"/>
              <a:t> A solver that runs out of iterations before the tangential constraints converge does not report an error: the thing just slides, and you go hunting through friction coefficients instead of iteration counts.</a:t>
            </a:r>
          </a:p>
          <a:p>
            <a:pPr>
              <a:spcAft>
                <a:spcPts val="900"/>
              </a:spcAft>
            </a:pPr>
            <a:r>
              <a:rPr sz="1800">
                <a:latin typeface="Consolas"/>
              </a:rPr>
              <a:t>Imported collision geometry is authored for a different question.</a:t>
            </a:r>
            <a:r>
              <a:rPr sz="2000"/>
              <a:t> A planner's mesh answers 'do these two overlap', once. A dynamics loop asks every step, for every pair, and the file does not know which job it is doing.</a:t>
            </a:r>
          </a:p>
          <a:p>
            <a:pPr>
              <a:spcAft>
                <a:spcPts val="900"/>
              </a:spcAft>
            </a:pPr>
            <a:r>
              <a:rPr sz="2000"/>
              <a:t>Switching one quadruped's URDF triangle meshes to convex hulls, and masking self-collision, took it from </a:t>
            </a:r>
            <a:r>
              <a:rPr sz="1800">
                <a:latin typeface="Consolas"/>
              </a:rPr>
              <a:t>427 contacts</a:t>
            </a:r>
            <a:r>
              <a:rPr sz="2000"/>
              <a:t> standing still to </a:t>
            </a:r>
            <a:r>
              <a:rPr sz="1800">
                <a:latin typeface="Consolas"/>
              </a:rPr>
              <a:t>6</a:t>
            </a:r>
            <a:r>
              <a:rPr sz="2000"/>
              <a:t>, and from slower than real time to roughly fifteen times faster.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Both of these cost days somewhere. They are worth naming out loud because neither presents as a speed problem, and the instinct in both cases sends you somewhere useless.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1536192"/>
          </a:xfrm>
          <a:prstGeom prst="rect">
            <a:avLst/>
          </a:prstGeom>
          <a:noFill/>
        </p:spPr>
        <p:txBody>
          <a:bodyPr wrap="square">
            <a:spAutoFit/>
          </a:bodyPr>
          <a:lstStyle/>
          <a:p>
            <a:pPr>
              <a:spcAft>
                <a:spcPts val="400"/>
              </a:spcAft>
            </a:pPr>
            <a:r>
              <a:rPr sz="1600"/>
              <a:t>The middle column is the general one. A vehicle has a driver class because somebody wrote one; every other plant in this tutorial takes its human input as a force, which is why the same pattern reaches a crane, a gearbox and a quadruped.</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409696"/>
          </a:xfrm>
          <a:prstGeom prst="rect">
            <a:avLst/>
          </a:prstGeom>
          <a:solidFill>
            <a:srgbClr val="000000"/>
          </a:solidFill>
        </p:spPr>
        <p:txBody>
          <a:bodyPr wrap="none" lIns="320040" tIns="91440">
            <a:spAutoFit/>
          </a:bodyPr>
          <a:lstStyle/>
          <a:p>
            <a:pPr>
              <a:spcAft>
                <a:spcPts val="0"/>
              </a:spcAft>
            </a:pPr>
            <a:r>
              <a:rPr sz="1100">
                <a:solidFill>
                  <a:srgbClr val="CCCCCC"/>
                </a:solidFill>
                <a:latin typeface="Consolas"/>
              </a:rPr>
              <a:t>// chrono_vehicle/ChDriver.h -- what EVERY driver exposes, human or not</a:t>
            </a:r>
          </a:p>
          <a:p>
            <a:pPr>
              <a:spcAft>
                <a:spcPts val="0"/>
              </a:spcAft>
            </a:pPr>
            <a:r>
              <a:rPr sz="1100">
                <a:solidFill>
                  <a:srgbClr val="CCCCCC"/>
                </a:solidFill>
                <a:latin typeface="Consolas"/>
              </a:rPr>
              <a:t>class ChDriver {</a:t>
            </a:r>
          </a:p>
          <a:p>
            <a:pPr>
              <a:spcAft>
                <a:spcPts val="0"/>
              </a:spcAft>
            </a:pPr>
            <a:r>
              <a:rPr sz="1100">
                <a:solidFill>
                  <a:srgbClr val="CCCCCC"/>
                </a:solidFill>
                <a:latin typeface="Consolas"/>
              </a:rPr>
              <a:t>    void SetSteering(double s);   // -1 .. +1</a:t>
            </a:r>
          </a:p>
          <a:p>
            <a:pPr>
              <a:spcAft>
                <a:spcPts val="0"/>
              </a:spcAft>
            </a:pPr>
            <a:r>
              <a:rPr sz="1100">
                <a:solidFill>
                  <a:srgbClr val="CCCCCC"/>
                </a:solidFill>
                <a:latin typeface="Consolas"/>
              </a:rPr>
              <a:t>    void SetThrottle(double t);   //  0 .. 1</a:t>
            </a:r>
          </a:p>
          <a:p>
            <a:pPr>
              <a:spcAft>
                <a:spcPts val="0"/>
              </a:spcAft>
            </a:pPr>
            <a:r>
              <a:rPr sz="1100">
                <a:solidFill>
                  <a:srgbClr val="CCCCCC"/>
                </a:solidFill>
                <a:latin typeface="Consolas"/>
              </a:rPr>
              <a:t>    void SetBraking(double b);    //  0 .. 1</a:t>
            </a:r>
          </a:p>
          <a:p>
            <a:pPr>
              <a:spcAft>
                <a:spcPts val="0"/>
              </a:spcAft>
            </a:pPr>
            <a:r>
              <a:rPr sz="1100">
                <a:solidFill>
                  <a:srgbClr val="CCCCCC"/>
                </a:solidFill>
                <a:latin typeface="Consolas"/>
              </a:rPr>
              <a:t>    void SetClutch(double c);     //  0 .. 1</a:t>
            </a:r>
          </a:p>
          <a:p>
            <a:pPr>
              <a:spcAft>
                <a:spcPts val="0"/>
              </a:spcAft>
            </a:pPr>
            <a:r>
              <a:rPr sz="1100">
                <a:solidFill>
                  <a:srgbClr val="CCCCCC"/>
                </a:solidFill>
                <a:latin typeface="Consolas"/>
              </a:rPr>
              <a:t>    DriverInputs GetInputs() const;</a:t>
            </a:r>
          </a:p>
          <a:p>
            <a:pPr>
              <a:spcAft>
                <a:spcPts val="0"/>
              </a:spcAft>
            </a:pPr>
            <a:r>
              <a:rPr sz="1100">
                <a:solidFill>
                  <a:srgbClr val="CCCCCC"/>
                </a:solidFill>
                <a:latin typeface="Consolas"/>
              </a:rPr>
              <a:t>    virtual void Synchronize(double time);  // read the world</a:t>
            </a:r>
          </a:p>
          <a:p>
            <a:pPr>
              <a:spcAft>
                <a:spcPts val="0"/>
              </a:spcAft>
            </a:pPr>
            <a:r>
              <a:rPr sz="1100">
                <a:solidFill>
                  <a:srgbClr val="CCCCCC"/>
                </a:solidFill>
                <a:latin typeface="Consolas"/>
              </a:rPr>
              <a:t>    virtual void Advance(double step);      // advance own state</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CCCCCC"/>
                </a:solidFill>
                <a:latin typeface="Consolas"/>
              </a:rPr>
              <a:t>// Two ways in, and the vehicle cannot tell them apart:</a:t>
            </a:r>
          </a:p>
          <a:p>
            <a:pPr>
              <a:spcAft>
                <a:spcPts val="0"/>
              </a:spcAft>
            </a:pPr>
            <a:r>
              <a:rPr sz="1100">
                <a:solidFill>
                  <a:srgbClr val="CCCCCC"/>
                </a:solidFill>
                <a:latin typeface="Consolas"/>
              </a:rPr>
              <a:t>//   subclass ChDriver and write the setters from your own device, or</a:t>
            </a:r>
          </a:p>
          <a:p>
            <a:pPr>
              <a:spcAft>
                <a:spcPts val="0"/>
              </a:spcAft>
            </a:pPr>
            <a:r>
              <a:rPr sz="1100">
                <a:solidFill>
                  <a:srgbClr val="CCCCCC"/>
                </a:solidFill>
                <a:latin typeface="Consolas"/>
              </a:rPr>
              <a:t>//   take ChInteractiveDriver and let it read a keyboard or a joystick.</a:t>
            </a:r>
          </a:p>
          <a:p>
            <a:pPr>
              <a:spcAft>
                <a:spcPts val="0"/>
              </a:spcAft>
            </a:pPr>
            <a:r>
              <a:rPr sz="1100">
                <a:solidFill>
                  <a:srgbClr val="CCCCCC"/>
                </a:solidFill>
                <a:latin typeface="Consolas"/>
              </a:rPr>
              <a:t>// Either way the vehicle only ever sees a DriverInputs struct.</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583 to 585) ------</a:t>
            </a:r>
          </a:p>
          <a:p>
            <a:pPr>
              <a:spcAft>
                <a:spcPts val="0"/>
              </a:spcAft>
            </a:pPr>
            <a:r>
              <a:rPr sz="1100">
                <a:solidFill>
                  <a:srgbClr val="CCCCCC"/>
                </a:solidFill>
                <a:latin typeface="Consolas"/>
              </a:rPr>
              <a:t>if KEYBOARD_MODE == "held":</a:t>
            </a:r>
          </a:p>
          <a:p>
            <a:pPr>
              <a:spcAft>
                <a:spcPts val="0"/>
              </a:spcAft>
            </a:pPr>
            <a:r>
              <a:rPr sz="1100">
                <a:solidFill>
                  <a:srgbClr val="CCCCCC"/>
                </a:solidFill>
                <a:latin typeface="Consolas"/>
              </a:rPr>
              <a:t>    if hasattr(veh.ChInteractiveDriver, "KeyboardMode_HELD"):</a:t>
            </a:r>
          </a:p>
          <a:p>
            <a:pPr>
              <a:spcAft>
                <a:spcPts val="0"/>
              </a:spcAft>
            </a:pPr>
            <a:r>
              <a:rPr sz="1100">
                <a:solidFill>
                  <a:srgbClr val="CCCCCC"/>
                </a:solidFill>
                <a:latin typeface="Consolas"/>
              </a:rPr>
              <a:t>        driver.SetKeyboardMode(veh.ChInteractiveDriver.KeyboardMode_HELD)</a:t>
            </a:r>
          </a:p>
        </p:txBody>
      </p:sp>
      <p:sp>
        <p:nvSpPr>
          <p:cNvPr id="4" name="NoteBox"/>
          <p:cNvSpPr txBox="1"/>
          <p:nvPr/>
        </p:nvSpPr>
        <p:spPr>
          <a:xfrm>
            <a:off x="402336" y="4726432"/>
            <a:ext cx="11393424" cy="1261872"/>
          </a:xfrm>
          <a:prstGeom prst="rect">
            <a:avLst/>
          </a:prstGeom>
          <a:noFill/>
        </p:spPr>
        <p:txBody>
          <a:bodyPr wrap="square">
            <a:spAutoFit/>
          </a:bodyPr>
          <a:lstStyle/>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p:txBody>
          <a:bodyPr wrap="square"/>
          <a:lstStyle/>
          <a:p>
            <a:pPr>
              <a:spcAft>
                <a:spcPts val="900"/>
              </a:spcAft>
            </a:pPr>
            <a:r>
              <a:rPr sz="1600">
                <a:latin typeface="Consolas"/>
              </a:rPr>
              <a:t>ChInteractiveDriver</a:t>
            </a:r>
            <a:r>
              <a:rPr sz="1800"/>
              <a:t> covers two CLASSES of device, not two devices:</a:t>
            </a:r>
          </a:p>
          <a:p>
            <a:pPr lvl="1">
              <a:spcAft>
                <a:spcPts val="900"/>
              </a:spcAft>
            </a:pPr>
            <a:r>
              <a:rPr sz="1400">
                <a:latin typeface="Consolas"/>
              </a:rPr>
              <a:t>InputMode_KEYBOARD</a:t>
            </a:r>
            <a:r>
              <a:rPr sz="1600"/>
              <a:t>  -  with </a:t>
            </a:r>
            <a:r>
              <a:rPr sz="1400">
                <a:latin typeface="Consolas"/>
              </a:rPr>
              <a:t>KeyboardMode_HELD</a:t>
            </a:r>
            <a:r>
              <a:rPr sz="1600"/>
              <a:t> or </a:t>
            </a:r>
            <a:r>
              <a:rPr sz="1400">
                <a:latin typeface="Consolas"/>
              </a:rPr>
              <a:t>_CUMULATIVE</a:t>
            </a:r>
          </a:p>
          <a:p>
            <a:pPr lvl="1">
              <a:spcAft>
                <a:spcPts val="900"/>
              </a:spcAft>
            </a:pPr>
            <a:r>
              <a:rPr sz="1400">
                <a:latin typeface="Consolas"/>
              </a:rPr>
              <a:t>InputMode_JOYSTICK</a:t>
            </a:r>
            <a:r>
              <a:rPr sz="1600"/>
              <a:t>  -  anything the windowing layer enumerates as one</a:t>
            </a:r>
          </a:p>
          <a:p>
            <a:pPr>
              <a:spcAft>
                <a:spcPts val="900"/>
              </a:spcAft>
            </a:pPr>
            <a:r>
              <a:rPr sz="1800"/>
              <a:t>A joystick is mapped by a JSON file, not by code: </a:t>
            </a:r>
            <a:r>
              <a:rPr sz="1600">
                <a:latin typeface="Consolas"/>
              </a:rPr>
              <a:t>SetJoystickConfigFile(path)</a:t>
            </a:r>
          </a:p>
          <a:p>
            <a:pPr lvl="1">
              <a:spcAft>
                <a:spcPts val="900"/>
              </a:spcAft>
            </a:pPr>
            <a:r>
              <a:rPr sz="1600"/>
              <a:t>mapped axes: steering, throttle, brake, CLUTCH</a:t>
            </a:r>
          </a:p>
          <a:p>
            <a:pPr lvl="1">
              <a:spcAft>
                <a:spcPts val="900"/>
              </a:spcAft>
            </a:pPr>
            <a:r>
              <a:rPr sz="1600"/>
              <a:t>mapped buttons: shift up/down, reverse, gears 1-9, manual-gearbox toggle, plus one user callback</a:t>
            </a:r>
          </a:p>
          <a:p>
            <a:pPr>
              <a:spcAft>
                <a:spcPts val="900"/>
              </a:spcAft>
            </a:pPr>
            <a:r>
              <a:rPr sz="1800"/>
              <a:t>Four configs ship in </a:t>
            </a:r>
            <a:r>
              <a:rPr sz="1600">
                <a:latin typeface="Consolas"/>
              </a:rPr>
              <a:t>data/vehicle/joystick/</a:t>
            </a:r>
            <a:r>
              <a:rPr sz="1800"/>
              <a:t>: Default, Logitech RumblePad 2, Xbox One, and Wheel+Pedals+Shifters</a:t>
            </a:r>
          </a:p>
          <a:p>
            <a:pPr>
              <a:spcAft>
                <a:spcPts val="900"/>
              </a:spcAft>
            </a:pPr>
            <a:r>
              <a:rPr sz="1800"/>
              <a:t>Each control names its own DEVICE, so a wheel, a pedal box and an H-shifter enumerating as three separate USB devices all map at once</a:t>
            </a:r>
          </a:p>
        </p:txBody>
      </p:sp>
      <p:sp>
        <p:nvSpPr>
          <p:cNvPr id="4" name="NoteBox"/>
          <p:cNvSpPr txBox="1"/>
          <p:nvPr/>
        </p:nvSpPr>
        <p:spPr>
          <a:xfrm>
            <a:off x="402336" y="5532120"/>
            <a:ext cx="11393424" cy="1261872"/>
          </a:xfrm>
          <a:prstGeom prst="rect">
            <a:avLst/>
          </a:prstGeom>
          <a:noFill/>
        </p:spPr>
        <p:txBody>
          <a:bodyPr wrap="square">
            <a:spAutoFit/>
          </a:bodyPr>
          <a:lstStyle/>
          <a:p>
            <a:pPr>
              <a:spcAft>
                <a:spcPts val="4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400"/>
              </a:spcAft>
            </a:pPr>
            <a:r>
              <a:rPr sz="1600"/>
              <a:t>All of it is exposed to PyChrono.</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tutorial ships one of these, an operator console on UDP, so a second machine can drive the simulation and watch telemetry come back.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Show Time</a:t>
            </a:r>
          </a:p>
        </p:txBody>
      </p:sp>
      <p:sp>
        <p:nvSpPr>
          <p:cNvPr id="3" name="Content Placeholder 2"/>
          <p:cNvSpPr>
            <a:spLocks noGrp="1"/>
          </p:cNvSpPr>
          <p:nvPr>
            <p:ph idx="1"/>
          </p:nvPr>
        </p:nvSpPr>
        <p:spPr/>
        <p:txBody>
          <a:bodyPr wrap="square"/>
          <a:lstStyle/>
          <a:p>
            <a:pPr>
              <a:spcAft>
                <a:spcPts val="1000"/>
              </a:spcAft>
            </a:pPr>
            <a:r>
              <a:rPr sz="1800">
                <a:latin typeface="Consolas"/>
              </a:rPr>
              <a:t>INPUT_SOURCE = "keyboard"</a:t>
            </a:r>
            <a:r>
              <a:rPr sz="2000"/>
              <a:t>, </a:t>
            </a:r>
            <a:r>
              <a:rPr sz="1800">
                <a:latin typeface="Consolas"/>
              </a:rPr>
              <a:t>KEYBOARD_MODE = "held"</a:t>
            </a:r>
          </a:p>
          <a:p>
            <a:pPr>
              <a:spcAft>
                <a:spcPts val="1000"/>
              </a:spcAft>
            </a:pPr>
            <a:r>
              <a:rPr sz="2000"/>
              <a:t>W/A/S/D drive. The arrow keys are the chase camera, not the car.</a:t>
            </a:r>
          </a:p>
          <a:p>
            <a:pPr>
              <a:spcAft>
                <a:spcPts val="1000"/>
              </a:spcAft>
            </a:pPr>
            <a:r>
              <a:rPr sz="2000"/>
              <a:t>Try </a:t>
            </a:r>
            <a:r>
              <a:rPr sz="1800">
                <a:latin typeface="Consolas"/>
              </a:rPr>
              <a:t>"cumulative"</a:t>
            </a:r>
            <a:r>
              <a:rPr sz="2000"/>
              <a:t> and feel the difference a key-state API makes.</a:t>
            </a:r>
          </a:p>
        </p:txBody>
      </p:sp>
      <p:pic>
        <p:nvPicPr>
          <p:cNvPr id="4" name="Picture 3" descr="hmmwv.png"/>
          <p:cNvPicPr>
            <a:picLocks noChangeAspect="1"/>
          </p:cNvPicPr>
          <p:nvPr/>
        </p:nvPicPr>
        <p:blipFill>
          <a:blip r:embed="rId2"/>
          <a:stretch>
            <a:fillRect/>
          </a:stretch>
        </p:blipFill>
        <p:spPr>
          <a:xfrm>
            <a:off x="4569714" y="2880360"/>
            <a:ext cx="3049524" cy="2331720"/>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whole definition satisfied in one window: input reaches the state, the state comes back on screen, and the timer holds the pace.</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gap this tutorial walks into. Everything needed to build one is already exposed; what is missing is the ability to receive the mouse event in the first place.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4067555"/>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chrono_swig/interface/irrlicht/ChModuleIrrlicht.i</a:t>
            </a:r>
          </a:p>
          <a:p>
            <a:pPr>
              <a:spcAft>
                <a:spcPts val="0"/>
              </a:spcAft>
            </a:pPr>
            <a:r>
              <a:rPr sz="900">
                <a:solidFill>
                  <a:srgbClr val="CCCCCC"/>
                </a:solidFill>
                <a:latin typeface="Consolas"/>
              </a:rPr>
              <a:t>+%feature("director") irr::IEventReceiver;</a:t>
            </a:r>
          </a:p>
          <a:p>
            <a:pPr>
              <a:spcAft>
                <a:spcPts val="0"/>
              </a:spcAft>
            </a:pPr>
            <a:r>
              <a:rPr sz="900">
                <a:solidFill>
                  <a:srgbClr val="CCCCCC"/>
                </a:solidFill>
                <a:latin typeface="Consolas"/>
              </a:rPr>
              <a:t>%include "IEventReceiver.h"</a:t>
            </a:r>
          </a:p>
          <a:p>
            <a:pPr>
              <a:spcAft>
                <a:spcPts val="0"/>
              </a:spcAft>
            </a:pPr>
            <a:r>
              <a:rPr sz="900">
                <a:solidFill>
                  <a:srgbClr val="CCCCCC"/>
                </a:solidFill>
                <a:latin typeface="Consolas"/>
              </a:rPr>
              <a:t> </a:t>
            </a:r>
          </a:p>
          <a:p>
            <a:pPr>
              <a:spcAft>
                <a:spcPts val="0"/>
              </a:spcAft>
            </a:pPr>
            <a:r>
              <a:rPr sz="900">
                <a:solidFill>
                  <a:srgbClr val="7FAF7F"/>
                </a:solidFill>
                <a:latin typeface="Consolas"/>
              </a:rPr>
              <a:t># The module ALREADY compiles with directors enabled:</a:t>
            </a:r>
          </a:p>
          <a:p>
            <a:pPr>
              <a:spcAft>
                <a:spcPts val="0"/>
              </a:spcAft>
            </a:pPr>
            <a:r>
              <a:rPr sz="900">
                <a:solidFill>
                  <a:srgbClr val="7FAF7F"/>
                </a:solidFill>
                <a:latin typeface="Consolas"/>
              </a:rPr>
              <a:t>#     %module(directors="1", threads="1") irrlicht</a:t>
            </a:r>
          </a:p>
          <a:p>
            <a:pPr>
              <a:spcAft>
                <a:spcPts val="0"/>
              </a:spcAft>
            </a:pPr>
            <a:r>
              <a:rPr sz="900">
                <a:solidFill>
                  <a:srgbClr val="7FAF7F"/>
                </a:solidFill>
                <a:latin typeface="Consolas"/>
              </a:rPr>
              <a:t># and AddUserEventReceiver is ALREADY bound. Without the</a:t>
            </a:r>
          </a:p>
          <a:p>
            <a:pPr>
              <a:spcAft>
                <a:spcPts val="0"/>
              </a:spcAft>
            </a:pPr>
            <a:r>
              <a:rPr sz="900">
                <a:solidFill>
                  <a:srgbClr val="7FAF7F"/>
                </a:solidFill>
                <a:latin typeface="Consolas"/>
              </a:rPr>
              <a:t># director, though, Python gets an abstract class:</a:t>
            </a:r>
          </a:p>
          <a:p>
            <a:pPr>
              <a:spcAft>
                <a:spcPts val="0"/>
              </a:spcAft>
            </a:pPr>
            <a:r>
              <a:rPr sz="900">
                <a:solidFill>
                  <a:srgbClr val="7FAF7F"/>
                </a:solidFill>
                <a:latin typeface="Consolas"/>
              </a:rPr>
              <a:t>#     &gt;&gt;&gt; ci.IEventReceiver()</a:t>
            </a:r>
          </a:p>
          <a:p>
            <a:pPr>
              <a:spcAft>
                <a:spcPts val="0"/>
              </a:spcAft>
            </a:pPr>
            <a:r>
              <a:rPr sz="900">
                <a:solidFill>
                  <a:srgbClr val="7FAF7F"/>
                </a:solidFill>
                <a:latin typeface="Consolas"/>
              </a:rPr>
              <a:t>#     AttributeError: No constructor defined - class is abstract</a:t>
            </a:r>
          </a:p>
          <a:p>
            <a:pPr>
              <a:spcAft>
                <a:spcPts val="0"/>
              </a:spcAft>
            </a:pPr>
            <a:r>
              <a:rPr sz="900">
                <a:solidFill>
                  <a:srgbClr val="7FAF7F"/>
                </a:solidFill>
                <a:latin typeface="Consolas"/>
              </a:rPr>
              <a:t># so there is a socket, and nothing you can plug into it.</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MouseReceiver(irr.IEventReceiver):</a:t>
            </a:r>
          </a:p>
          <a:p>
            <a:pPr>
              <a:spcAft>
                <a:spcPts val="0"/>
              </a:spcAft>
            </a:pPr>
            <a:r>
              <a:rPr sz="900">
                <a:solidFill>
                  <a:srgbClr val="CCCCCC"/>
                </a:solidFill>
                <a:latin typeface="Consolas"/>
              </a:rPr>
              <a:t>    """No Quartz, no CGWindowList, no NSEvent. No macOS. Just Irrlicht."""</a:t>
            </a:r>
          </a:p>
          <a:p>
            <a:pPr>
              <a:spcAft>
                <a:spcPts val="0"/>
              </a:spcAft>
            </a:pPr>
            <a:r>
              <a:rPr sz="900">
                <a:solidFill>
                  <a:srgbClr val="CCCCCC"/>
                </a:solidFill>
                <a:latin typeface="Consolas"/>
              </a:rPr>
              <a:t> </a:t>
            </a:r>
          </a:p>
          <a:p>
            <a:pPr>
              <a:spcAft>
                <a:spcPts val="0"/>
              </a:spcAft>
            </a:pPr>
            <a:r>
              <a:rPr sz="900">
                <a:solidFill>
                  <a:srgbClr val="CCCCCC"/>
                </a:solidFill>
                <a:latin typeface="Consolas"/>
              </a:rPr>
              <a:t>    def __init__(self):</a:t>
            </a:r>
          </a:p>
          <a:p>
            <a:pPr>
              <a:spcAft>
                <a:spcPts val="0"/>
              </a:spcAft>
            </a:pPr>
            <a:r>
              <a:rPr sz="900">
                <a:solidFill>
                  <a:srgbClr val="CCCCCC"/>
                </a:solidFill>
                <a:latin typeface="Consolas"/>
              </a:rPr>
              <a:t>        super().__init__()</a:t>
            </a:r>
          </a:p>
          <a:p>
            <a:pPr>
              <a:spcAft>
                <a:spcPts val="0"/>
              </a:spcAft>
            </a:pPr>
            <a:r>
              <a:rPr sz="900">
                <a:solidFill>
                  <a:srgbClr val="CCCCCC"/>
                </a:solidFill>
                <a:latin typeface="Consolas"/>
              </a:rPr>
              <a:t>        self.x = self.y = 0</a:t>
            </a:r>
          </a:p>
          <a:p>
            <a:pPr>
              <a:spcAft>
                <a:spcPts val="0"/>
              </a:spcAft>
            </a:pPr>
            <a:r>
              <a:rPr sz="900">
                <a:solidFill>
                  <a:srgbClr val="CCCCCC"/>
                </a:solidFill>
                <a:latin typeface="Consolas"/>
              </a:rPr>
              <a:t>        self.down = False</a:t>
            </a:r>
          </a:p>
          <a:p>
            <a:pPr>
              <a:spcAft>
                <a:spcPts val="0"/>
              </a:spcAft>
            </a:pPr>
            <a:r>
              <a:rPr sz="900">
                <a:solidFill>
                  <a:srgbClr val="CCCCCC"/>
                </a:solidFill>
                <a:latin typeface="Consolas"/>
              </a:rPr>
              <a:t>        self.pressed = False          # edge, consumed by the loop</a:t>
            </a:r>
          </a:p>
          <a:p>
            <a:pPr>
              <a:spcAft>
                <a:spcPts val="0"/>
              </a:spcAft>
            </a:pPr>
            <a:r>
              <a:rPr sz="900">
                <a:solidFill>
                  <a:srgbClr val="CCCCCC"/>
                </a:solidFill>
                <a:latin typeface="Consolas"/>
              </a:rPr>
              <a:t>        self.keys = set()</a:t>
            </a:r>
          </a:p>
          <a:p>
            <a:pPr>
              <a:spcAft>
                <a:spcPts val="0"/>
              </a:spcAft>
            </a:pPr>
            <a:r>
              <a:rPr sz="900">
                <a:solidFill>
                  <a:srgbClr val="CCCCCC"/>
                </a:solidFill>
                <a:latin typeface="Consolas"/>
              </a:rPr>
              <a:t> </a:t>
            </a:r>
          </a:p>
          <a:p>
            <a:pPr>
              <a:spcAft>
                <a:spcPts val="0"/>
              </a:spcAft>
            </a:pPr>
            <a:r>
              <a:rPr sz="900">
                <a:solidFill>
                  <a:srgbClr val="CCCCCC"/>
                </a:solidFill>
                <a:latin typeface="Consolas"/>
              </a:rPr>
              <a:t>    def OnEvent(self, ev):</a:t>
            </a:r>
          </a:p>
          <a:p>
            <a:pPr>
              <a:spcAft>
                <a:spcPts val="0"/>
              </a:spcAft>
            </a:pPr>
            <a:r>
              <a:rPr sz="900">
                <a:solidFill>
                  <a:srgbClr val="CCCCCC"/>
                </a:solidFill>
                <a:latin typeface="Consolas"/>
              </a:rPr>
              <a:t>        if ev.EventType == irr.EET_MOUSE_INPUT_EVENT:</a:t>
            </a:r>
          </a:p>
          <a:p>
            <a:pPr>
              <a:spcAft>
                <a:spcPts val="0"/>
              </a:spcAft>
            </a:pPr>
            <a:r>
              <a:rPr sz="900">
                <a:solidFill>
                  <a:srgbClr val="CCCCCC"/>
                </a:solidFill>
                <a:latin typeface="Consolas"/>
              </a:rPr>
              <a:t>            self.x, self.y = ev.MouseInput.X, ev.MouseInput.Y</a:t>
            </a:r>
          </a:p>
          <a:p>
            <a:pPr>
              <a:spcAft>
                <a:spcPts val="0"/>
              </a:spcAft>
            </a:pPr>
            <a:r>
              <a:rPr sz="900">
                <a:solidFill>
                  <a:srgbClr val="CCCCCC"/>
                </a:solidFill>
                <a:latin typeface="Consolas"/>
              </a:rPr>
              <a:t>            if ev.MouseInput.Event == irr.EMIE_LMOUSE_PRESSED_DOWN:</a:t>
            </a:r>
          </a:p>
          <a:p>
            <a:pPr>
              <a:spcAft>
                <a:spcPts val="0"/>
              </a:spcAft>
            </a:pPr>
            <a:r>
              <a:rPr sz="900">
                <a:solidFill>
                  <a:srgbClr val="CCCCCC"/>
                </a:solidFill>
                <a:latin typeface="Consolas"/>
              </a:rPr>
              <a:t>                self.down = self.pressed = True</a:t>
            </a:r>
          </a:p>
          <a:p>
            <a:pPr>
              <a:spcAft>
                <a:spcPts val="0"/>
              </a:spcAft>
            </a:pPr>
            <a:r>
              <a:rPr sz="900">
                <a:solidFill>
                  <a:srgbClr val="CCCCCC"/>
                </a:solidFill>
                <a:latin typeface="Consolas"/>
              </a:rPr>
              <a:t>            elif ev.MouseInput.Event == irr.EMIE_LMOUSE_LEFT_UP:</a:t>
            </a:r>
          </a:p>
          <a:p>
            <a:pPr>
              <a:spcAft>
                <a:spcPts val="0"/>
              </a:spcAft>
            </a:pPr>
            <a:r>
              <a:rPr sz="900">
                <a:solidFill>
                  <a:srgbClr val="CCCCCC"/>
                </a:solidFill>
                <a:latin typeface="Consolas"/>
              </a:rPr>
              <a:t>                self.down = False</a:t>
            </a:r>
          </a:p>
        </p:txBody>
      </p:sp>
      <p:sp>
        <p:nvSpPr>
          <p:cNvPr id="4" name="NoteBox"/>
          <p:cNvSpPr txBox="1"/>
          <p:nvPr/>
        </p:nvSpPr>
        <p:spPr>
          <a:xfrm>
            <a:off x="402336" y="5384291"/>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1000">
                <a:solidFill>
                  <a:srgbClr val="CCCCCC"/>
                </a:solidFill>
                <a:latin typeface="Consolas"/>
              </a:rPr>
              <a:t>// chrono/collision/ChCollisionSystem.h</a:t>
            </a:r>
          </a:p>
          <a:p>
            <a:pPr>
              <a:spcAft>
                <a:spcPts val="0"/>
              </a:spcAft>
            </a:pPr>
            <a:r>
              <a:rPr sz="1000">
                <a:solidFill>
                  <a:srgbClr val="CCCCCC"/>
                </a:solidFill>
                <a:latin typeface="Consolas"/>
              </a:rPr>
              <a:t>struct ChRayhitResult {</a:t>
            </a:r>
          </a:p>
          <a:p>
            <a:pPr>
              <a:spcAft>
                <a:spcPts val="0"/>
              </a:spcAft>
            </a:pPr>
            <a:r>
              <a:rPr sz="1000">
                <a:solidFill>
                  <a:srgbClr val="CCCCCC"/>
                </a:solidFill>
                <a:latin typeface="Consolas"/>
              </a:rPr>
              <a:t>    bool hit;</a:t>
            </a:r>
          </a:p>
          <a:p>
            <a:pPr>
              <a:spcAft>
                <a:spcPts val="0"/>
              </a:spcAft>
            </a:pPr>
            <a:r>
              <a:rPr sz="1000">
                <a:solidFill>
                  <a:srgbClr val="CCCCCC"/>
                </a:solidFill>
                <a:latin typeface="Consolas"/>
              </a:rPr>
              <a:t>    ChVector3d abs_hitPoint;     // where, in world coordinates</a:t>
            </a:r>
          </a:p>
          <a:p>
            <a:pPr>
              <a:spcAft>
                <a:spcPts val="0"/>
              </a:spcAft>
            </a:pPr>
            <a:r>
              <a:rPr sz="1000">
                <a:solidFill>
                  <a:srgbClr val="CCCCCC"/>
                </a:solidFill>
                <a:latin typeface="Consolas"/>
              </a:rPr>
              <a:t>    ChVector3d abs_hitNormal;    // the surface normal there</a:t>
            </a:r>
          </a:p>
          <a:p>
            <a:pPr>
              <a:spcAft>
                <a:spcPts val="0"/>
              </a:spcAft>
            </a:pPr>
            <a:r>
              <a:rPr sz="1000">
                <a:solidFill>
                  <a:srgbClr val="CCCCCC"/>
                </a:solidFill>
                <a:latin typeface="Consolas"/>
              </a:rPr>
              <a:t>    double dist_factor;          // 0 .. 1 along the segment</a:t>
            </a:r>
          </a:p>
          <a:p>
            <a:pPr>
              <a:spcAft>
                <a:spcPts val="0"/>
              </a:spcAft>
            </a:pPr>
            <a:r>
              <a:rPr sz="1000">
                <a:solidFill>
                  <a:srgbClr val="CCCCCC"/>
                </a:solidFill>
                <a:latin typeface="Consolas"/>
              </a:rPr>
              <a:t>    ChCollisionModel* hitModel;  // -&gt; CastToChBody() for the body</a:t>
            </a:r>
          </a:p>
          <a:p>
            <a:pPr>
              <a:spcAft>
                <a:spcPts val="0"/>
              </a:spcAft>
            </a:pPr>
            <a:r>
              <a:rPr sz="1000">
                <a:solidFill>
                  <a:srgbClr val="CCCCCC"/>
                </a:solidFill>
                <a:latin typeface="Consolas"/>
              </a:rPr>
              <a:t>};</a:t>
            </a:r>
          </a:p>
          <a:p>
            <a:pPr>
              <a:spcAft>
                <a:spcPts val="0"/>
              </a:spcAft>
            </a:pPr>
            <a:r>
              <a:rPr sz="1000">
                <a:solidFill>
                  <a:srgbClr val="CCCCCC"/>
                </a:solidFill>
                <a:latin typeface="Consolas"/>
              </a:rPr>
              <a:t> </a:t>
            </a:r>
          </a:p>
          <a:p>
            <a:pPr>
              <a:spcAft>
                <a:spcPts val="0"/>
              </a:spcAft>
            </a:pPr>
            <a:r>
              <a:rPr sz="1000">
                <a:solidFill>
                  <a:srgbClr val="CCCCCC"/>
                </a:solidFill>
                <a:latin typeface="Consolas"/>
              </a:rPr>
              <a:t>virtual bool RayHit(const ChVector3d&amp; from,</a:t>
            </a:r>
          </a:p>
          <a:p>
            <a:pPr>
              <a:spcAft>
                <a:spcPts val="0"/>
              </a:spcAft>
            </a:pPr>
            <a:r>
              <a:rPr sz="1000">
                <a:solidFill>
                  <a:srgbClr val="CCCCCC"/>
                </a:solidFill>
                <a:latin typeface="Consolas"/>
              </a:rPr>
              <a:t>                    const ChVector3d&amp; to,</a:t>
            </a:r>
          </a:p>
          <a:p>
            <a:pPr>
              <a:spcAft>
                <a:spcPts val="0"/>
              </a:spcAft>
            </a:pPr>
            <a:r>
              <a:rPr sz="1000">
                <a:solidFill>
                  <a:srgbClr val="CCCCCC"/>
                </a:solidFill>
                <a:latin typeface="Consolas"/>
              </a:rPr>
              <a:t>                    ChRayhitResult&amp; result) const;</a:t>
            </a:r>
          </a:p>
          <a:p>
            <a:pPr>
              <a:spcAft>
                <a:spcPts val="0"/>
              </a:spcAft>
            </a:pPr>
            <a:r>
              <a:rPr sz="1000">
                <a:solidFill>
                  <a:srgbClr val="CCCCCC"/>
                </a:solidFill>
                <a:latin typeface="Consolas"/>
              </a:rPr>
              <a:t> </a:t>
            </a:r>
          </a:p>
          <a:p>
            <a:pPr>
              <a:spcAft>
                <a:spcPts val="0"/>
              </a:spcAft>
            </a:pPr>
            <a:r>
              <a:rPr sz="1000">
                <a:solidFill>
                  <a:srgbClr val="CCCCCC"/>
                </a:solidFill>
                <a:latin typeface="Consolas"/>
              </a:rPr>
              <a:t>// A ray sees COLLISION geometry, never visual geometry. A link you</a:t>
            </a:r>
          </a:p>
          <a:p>
            <a:pPr>
              <a:spcAft>
                <a:spcPts val="0"/>
              </a:spcAft>
            </a:pPr>
            <a:r>
              <a:rPr sz="1000">
                <a:solidFill>
                  <a:srgbClr val="CCCCCC"/>
                </a:solidFill>
                <a:latin typeface="Consolas"/>
              </a:rPr>
              <a:t>// can see but whose collision is off is invisible to every click.</a:t>
            </a:r>
          </a:p>
          <a:p>
            <a:pPr>
              <a:spcAft>
                <a:spcPts val="0"/>
              </a:spcAft>
            </a:pPr>
            <a:r>
              <a:rPr sz="1000">
                <a:solidFill>
                  <a:srgbClr val="CCCCCC"/>
                </a:solidFill>
                <a:latin typeface="Consolas"/>
              </a:rPr>
              <a:t>// That one sentence accounted for every 'it will not pick' bug here.</a:t>
            </a:r>
          </a:p>
          <a:p>
            <a:pPr>
              <a:spcAft>
                <a:spcPts val="0"/>
              </a:spcAft>
            </a:pPr>
            <a:r>
              <a:rPr sz="1000">
                <a:solidFill>
                  <a:srgbClr val="CCCCCC"/>
                </a:solidFill>
                <a:latin typeface="Consolas"/>
              </a:rPr>
              <a:t> </a:t>
            </a:r>
          </a:p>
          <a:p>
            <a:pPr>
              <a:spcAft>
                <a:spcPts val="0"/>
              </a:spcAft>
            </a:pPr>
            <a:r>
              <a:rPr sz="1000">
                <a:solidFill>
                  <a:srgbClr val="7FAF7F"/>
                </a:solidFill>
                <a:latin typeface="Consolas"/>
              </a:rPr>
              <a:t># ---- and how this tutorial calls it (hil_manipulate.py, lines 338 to 349) ------</a:t>
            </a:r>
          </a:p>
          <a:p>
            <a:pPr>
              <a:spcAft>
                <a:spcPts val="0"/>
              </a:spcAft>
            </a:pPr>
            <a:r>
              <a:rPr sz="1000">
                <a:solidFill>
                  <a:srgbClr val="CCCCCC"/>
                </a:solidFill>
                <a:latin typeface="Consolas"/>
              </a:rPr>
              <a:t>def pick_along_ray(system, start, end):</a:t>
            </a:r>
          </a:p>
          <a:p>
            <a:pPr>
              <a:spcAft>
                <a:spcPts val="0"/>
              </a:spcAft>
            </a:pPr>
            <a:r>
              <a:rPr sz="1000">
                <a:solidFill>
                  <a:srgbClr val="CCCCCC"/>
                </a:solidFill>
                <a:latin typeface="Consolas"/>
              </a:rPr>
              <a:t>    """The primitive a mouse click would use. Returns (body, world_point) or None."""</a:t>
            </a:r>
          </a:p>
          <a:p>
            <a:pPr>
              <a:spcAft>
                <a:spcPts val="0"/>
              </a:spcAft>
            </a:pPr>
            <a:r>
              <a:rPr sz="1000">
                <a:solidFill>
                  <a:srgbClr val="CCCCCC"/>
                </a:solidFill>
                <a:latin typeface="Consolas"/>
              </a:rPr>
              <a:t>    res = chrono.ChRayhitResult()</a:t>
            </a:r>
          </a:p>
          <a:p>
            <a:pPr>
              <a:spcAft>
                <a:spcPts val="0"/>
              </a:spcAft>
            </a:pPr>
            <a:r>
              <a:rPr sz="1000">
                <a:solidFill>
                  <a:srgbClr val="CCCCCC"/>
                </a:solidFill>
                <a:latin typeface="Consolas"/>
              </a:rPr>
              <a:t>    system.GetCollisionSystem().RayHit(start, end, res)</a:t>
            </a:r>
          </a:p>
          <a:p>
            <a:pPr>
              <a:spcAft>
                <a:spcPts val="0"/>
              </a:spcAft>
            </a:pPr>
            <a:r>
              <a:rPr sz="1000">
                <a:solidFill>
                  <a:srgbClr val="CCCCCC"/>
                </a:solidFill>
                <a:latin typeface="Consolas"/>
              </a:rPr>
              <a:t>    if not res.hit:</a:t>
            </a:r>
          </a:p>
          <a:p>
            <a:pPr>
              <a:spcAft>
                <a:spcPts val="0"/>
              </a:spcAft>
            </a:pPr>
            <a:r>
              <a:rPr sz="1000">
                <a:solidFill>
                  <a:srgbClr val="CCCCCC"/>
                </a:solidFill>
                <a:latin typeface="Consolas"/>
              </a:rPr>
              <a:t>        return None</a:t>
            </a:r>
          </a:p>
          <a:p>
            <a:pPr>
              <a:spcAft>
                <a:spcPts val="0"/>
              </a:spcAft>
            </a:pPr>
            <a:r>
              <a:rPr sz="1000">
                <a:solidFill>
                  <a:srgbClr val="CCCCCC"/>
                </a:solidFill>
                <a:latin typeface="Consolas"/>
              </a:rPr>
              <a:t>    body = chrono.CastToChBody(res.hitModel.GetContactable())</a:t>
            </a:r>
          </a:p>
          <a:p>
            <a:pPr>
              <a:spcAft>
                <a:spcPts val="0"/>
              </a:spcAft>
            </a:pPr>
            <a:r>
              <a:rPr sz="1000">
                <a:solidFill>
                  <a:srgbClr val="CCCCCC"/>
                </a:solidFill>
                <a:latin typeface="Consolas"/>
              </a:rPr>
              <a:t>    if body is None:</a:t>
            </a:r>
          </a:p>
          <a:p>
            <a:pPr>
              <a:spcAft>
                <a:spcPts val="0"/>
              </a:spcAft>
            </a:pPr>
            <a:r>
              <a:rPr sz="1000">
                <a:solidFill>
                  <a:srgbClr val="CCCCCC"/>
                </a:solidFill>
                <a:latin typeface="Consolas"/>
              </a:rPr>
              <a:t>        return None</a:t>
            </a:r>
          </a:p>
          <a:p>
            <a:pPr>
              <a:spcAft>
                <a:spcPts val="0"/>
              </a:spcAft>
            </a:pPr>
            <a:r>
              <a:rPr sz="1000">
                <a:solidFill>
                  <a:srgbClr val="CCCCCC"/>
                </a:solidFill>
                <a:latin typeface="Consolas"/>
              </a:rPr>
              <a:t>    p, nrm = res.abs_hitPoint, res.abs_hitNormal</a:t>
            </a:r>
          </a:p>
          <a:p>
            <a:pPr>
              <a:spcAft>
                <a:spcPts val="0"/>
              </a:spcAft>
            </a:pPr>
            <a:r>
              <a:rPr sz="1000">
                <a:solidFill>
                  <a:srgbClr val="CCCCCC"/>
                </a:solidFill>
                <a:latin typeface="Consolas"/>
              </a:rPr>
              <a:t>    return (body, chrono.ChVector3d(p.x, p.y, p.z),</a:t>
            </a:r>
          </a:p>
          <a:p>
            <a:pPr>
              <a:spcAft>
                <a:spcPts val="0"/>
              </a:spcAft>
            </a:pPr>
            <a:r>
              <a:rPr sz="1000">
                <a:solidFill>
                  <a:srgbClr val="CCCCCC"/>
                </a:solidFill>
                <a:latin typeface="Consolas"/>
              </a:rPr>
              <a:t>            chrono.ChVector3d(nrm.x,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840479"/>
          </a:xfrm>
          <a:prstGeom prst="rect">
            <a:avLst/>
          </a:prstGeom>
          <a:solidFill>
            <a:srgbClr val="000000"/>
          </a:solidFill>
        </p:spPr>
        <p:txBody>
          <a:bodyPr wrap="none" lIns="320040" tIns="91440">
            <a:spAutoFit/>
          </a:bodyPr>
          <a:lstStyle/>
          <a:p>
            <a:pPr>
              <a:spcAft>
                <a:spcPts val="0"/>
              </a:spcAft>
            </a:pPr>
            <a:r>
              <a:rPr sz="800">
                <a:solidFill>
                  <a:srgbClr val="CCCCCC"/>
                </a:solidFill>
                <a:latin typeface="Consolas"/>
              </a:rPr>
              <a:t>// A human pulling on something is one of exactly two things.</a:t>
            </a:r>
          </a:p>
          <a:p>
            <a:pPr>
              <a:spcAft>
                <a:spcPts val="0"/>
              </a:spcAft>
            </a:pPr>
            <a:r>
              <a:rPr sz="800">
                <a:solidFill>
                  <a:srgbClr val="CCCCCC"/>
                </a:solidFill>
                <a:latin typeface="Consolas"/>
              </a:rPr>
              <a:t> </a:t>
            </a:r>
          </a:p>
          <a:p>
            <a:pPr>
              <a:spcAft>
                <a:spcPts val="0"/>
              </a:spcAft>
            </a:pPr>
            <a:r>
              <a:rPr sz="800">
                <a:solidFill>
                  <a:srgbClr val="CCCCCC"/>
                </a:solidFill>
                <a:latin typeface="Consolas"/>
              </a:rPr>
              <a:t>// 1. A FORCE, when you want a push of known size (chrono/physics/ChBody.h)</a:t>
            </a:r>
          </a:p>
          <a:p>
            <a:pPr>
              <a:spcAft>
                <a:spcPts val="0"/>
              </a:spcAft>
            </a:pPr>
            <a:r>
              <a:rPr sz="800">
                <a:solidFill>
                  <a:srgbClr val="CCCCCC"/>
                </a:solidFill>
                <a:latin typeface="Consolas"/>
              </a:rPr>
              <a:t>unsigned int idx = body-&gt;AddAccumulator();       // ONCE per body</a:t>
            </a:r>
          </a:p>
          <a:p>
            <a:pPr>
              <a:spcAft>
                <a:spcPts val="0"/>
              </a:spcAft>
            </a:pPr>
            <a:r>
              <a:rPr sz="800">
                <a:solidFill>
                  <a:srgbClr val="CCCCCC"/>
                </a:solidFill>
                <a:latin typeface="Consolas"/>
              </a:rPr>
              <a:t>body-&gt;EmptyAccumulator(idx);                     // your job, EVERY step</a:t>
            </a:r>
          </a:p>
          <a:p>
            <a:pPr>
              <a:spcAft>
                <a:spcPts val="0"/>
              </a:spcAft>
            </a:pPr>
            <a:r>
              <a:rPr sz="800">
                <a:solidFill>
                  <a:srgbClr val="CCCCCC"/>
                </a:solidFill>
                <a:latin typeface="Consolas"/>
              </a:rPr>
              <a:t>body-&gt;AccumulateForce(idx, force, appl_point, local);</a:t>
            </a:r>
          </a:p>
          <a:p>
            <a:pPr>
              <a:spcAft>
                <a:spcPts val="0"/>
              </a:spcAft>
            </a:pPr>
            <a:r>
              <a:rPr sz="800">
                <a:solidFill>
                  <a:srgbClr val="CCCCCC"/>
                </a:solidFill>
                <a:latin typeface="Consolas"/>
              </a:rPr>
              <a:t>body-&gt;AccumulateTorque(idx, torque, local);</a:t>
            </a:r>
          </a:p>
          <a:p>
            <a:pPr>
              <a:spcAft>
                <a:spcPts val="0"/>
              </a:spcAft>
            </a:pPr>
            <a:r>
              <a:rPr sz="800">
                <a:solidFill>
                  <a:srgbClr val="CCCCCC"/>
                </a:solidFill>
                <a:latin typeface="Consolas"/>
              </a:rPr>
              <a:t> </a:t>
            </a:r>
          </a:p>
          <a:p>
            <a:pPr>
              <a:spcAft>
                <a:spcPts val="0"/>
              </a:spcAft>
            </a:pPr>
            <a:r>
              <a:rPr sz="800">
                <a:solidFill>
                  <a:srgbClr val="CCCCCC"/>
                </a:solidFill>
                <a:latin typeface="Consolas"/>
              </a:rPr>
              <a:t>// 2. A CONSTRAINT, when you want a hand (chrono/physics/ChLinkTSDA.h)</a:t>
            </a:r>
          </a:p>
          <a:p>
            <a:pPr>
              <a:spcAft>
                <a:spcPts val="0"/>
              </a:spcAft>
            </a:pPr>
            <a:r>
              <a:rPr sz="800">
                <a:solidFill>
                  <a:srgbClr val="CCCCCC"/>
                </a:solidFill>
                <a:latin typeface="Consolas"/>
              </a:rPr>
              <a:t>spring-&gt;Initialize(handle, body, local, point1, point2);</a:t>
            </a:r>
          </a:p>
          <a:p>
            <a:pPr>
              <a:spcAft>
                <a:spcPts val="0"/>
              </a:spcAft>
            </a:pPr>
            <a:r>
              <a:rPr sz="800">
                <a:solidFill>
                  <a:srgbClr val="CCCCCC"/>
                </a:solidFill>
                <a:latin typeface="Consolas"/>
              </a:rPr>
              <a:t>spring-&gt;SetRestLength(0.0);</a:t>
            </a:r>
          </a:p>
          <a:p>
            <a:pPr>
              <a:spcAft>
                <a:spcPts val="0"/>
              </a:spcAft>
            </a:pPr>
            <a:r>
              <a:rPr sz="800">
                <a:solidFill>
                  <a:srgbClr val="CCCCCC"/>
                </a:solidFill>
                <a:latin typeface="Consolas"/>
              </a:rPr>
              <a:t>spring-&gt;SetSpringCoefficient(k);   // k = m*w^2   scale with the MASS</a:t>
            </a:r>
          </a:p>
          <a:p>
            <a:pPr>
              <a:spcAft>
                <a:spcPts val="0"/>
              </a:spcAft>
            </a:pPr>
            <a:r>
              <a:rPr sz="800">
                <a:solidFill>
                  <a:srgbClr val="CCCCCC"/>
                </a:solidFill>
                <a:latin typeface="Consolas"/>
              </a:rPr>
              <a:t>spring-&gt;SetDampingCoefficient(c);  // c = 2*m*w    critically damped</a:t>
            </a:r>
          </a:p>
          <a:p>
            <a:pPr>
              <a:spcAft>
                <a:spcPts val="0"/>
              </a:spcAft>
            </a:pPr>
            <a:r>
              <a:rPr sz="800">
                <a:solidFill>
                  <a:srgbClr val="CCCCCC"/>
                </a:solidFill>
                <a:latin typeface="Consolas"/>
              </a:rPr>
              <a:t>sys.AddLink(spring);</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(hil_manipulate.py, lines 488 to 502) ------</a:t>
            </a:r>
          </a:p>
          <a:p>
            <a:pPr>
              <a:spcAft>
                <a:spcPts val="0"/>
              </a:spcAft>
            </a:pPr>
            <a:r>
              <a:rPr sz="800">
                <a:solidFill>
                  <a:srgbClr val="CCCCCC"/>
                </a:solidFill>
                <a:latin typeface="Consolas"/>
              </a:rPr>
              <a:t>omega = getattr(self.system, "grab_omega", GRAB_OMEGA)</a:t>
            </a:r>
          </a:p>
          <a:p>
            <a:pPr>
              <a:spcAft>
                <a:spcPts val="0"/>
              </a:spcAft>
            </a:pPr>
            <a:r>
              <a:rPr sz="800">
                <a:solidFill>
                  <a:srgbClr val="CCCCCC"/>
                </a:solidFill>
                <a:latin typeface="Consolas"/>
              </a:rPr>
              <a:t>m = max(body.GetMass(), 1e-3)</a:t>
            </a:r>
          </a:p>
          <a:p>
            <a:pPr>
              <a:spcAft>
                <a:spcPts val="0"/>
              </a:spcAft>
            </a:pPr>
            <a:r>
              <a:rPr sz="800">
                <a:solidFill>
                  <a:srgbClr val="CCCCCC"/>
                </a:solidFill>
                <a:latin typeface="Consolas"/>
              </a:rPr>
              <a:t>k = m * omega * omega</a:t>
            </a:r>
          </a:p>
          <a:p>
            <a:pPr>
              <a:spcAft>
                <a:spcPts val="0"/>
              </a:spcAft>
            </a:pPr>
            <a:r>
              <a:rPr sz="800">
                <a:solidFill>
                  <a:srgbClr val="CCCCCC"/>
                </a:solidFill>
                <a:latin typeface="Consolas"/>
              </a:rPr>
              <a:t>c = 2.0 * m * omega * GRAB_ZETA</a:t>
            </a:r>
          </a:p>
          <a:p>
            <a:pPr>
              <a:spcAft>
                <a:spcPts val="0"/>
              </a:spcAft>
            </a:pPr>
            <a:r>
              <a:rPr sz="800">
                <a:solidFill>
                  <a:srgbClr val="7FAF7F"/>
                </a:solidFill>
                <a:latin typeface="Consolas"/>
              </a:rPr>
              <a:t># Belt and braces against tunnelling: a grabbed body may not move faster</a:t>
            </a:r>
          </a:p>
          <a:p>
            <a:pPr>
              <a:spcAft>
                <a:spcPts val="0"/>
              </a:spcAft>
            </a:pPr>
            <a:r>
              <a:rPr sz="800">
                <a:solidFill>
                  <a:srgbClr val="7FAF7F"/>
                </a:solidFill>
                <a:latin typeface="Consolas"/>
              </a:rPr>
              <a:t># than contact detection can keep up with at this step size.</a:t>
            </a:r>
          </a:p>
          <a:p>
            <a:pPr>
              <a:spcAft>
                <a:spcPts val="0"/>
              </a:spcAft>
            </a:pPr>
            <a:r>
              <a:rPr sz="800">
                <a:solidFill>
                  <a:srgbClr val="CCCCCC"/>
                </a:solidFill>
                <a:latin typeface="Consolas"/>
              </a:rPr>
              <a:t>self._had_limit = body.GetLimitSpeed() if hasattr(body, "GetLimitSpeed") else False</a:t>
            </a:r>
          </a:p>
          <a:p>
            <a:pPr>
              <a:spcAft>
                <a:spcPts val="0"/>
              </a:spcAft>
            </a:pPr>
            <a:r>
              <a:rPr sz="800">
                <a:solidFill>
                  <a:srgbClr val="CCCCCC"/>
                </a:solidFill>
                <a:latin typeface="Consolas"/>
              </a:rPr>
              <a:t>body.SetLimitSpeed(True)</a:t>
            </a:r>
          </a:p>
          <a:p>
            <a:pPr>
              <a:spcAft>
                <a:spcPts val="0"/>
              </a:spcAft>
            </a:pPr>
            <a:r>
              <a:rPr sz="800">
                <a:solidFill>
                  <a:srgbClr val="CCCCCC"/>
                </a:solidFill>
                <a:latin typeface="Consolas"/>
              </a:rPr>
              <a:t>body.SetMaxLinVel(GRAB_MAX_SPEED)</a:t>
            </a:r>
          </a:p>
          <a:p>
            <a:pPr>
              <a:spcAft>
                <a:spcPts val="0"/>
              </a:spcAft>
            </a:pPr>
            <a:r>
              <a:rPr sz="800">
                <a:solidFill>
                  <a:srgbClr val="CCCCCC"/>
                </a:solidFill>
                <a:latin typeface="Consolas"/>
              </a:rPr>
              <a:t>self.spring = chrono.ChLinkTSDA()</a:t>
            </a:r>
          </a:p>
          <a:p>
            <a:pPr>
              <a:spcAft>
                <a:spcPts val="0"/>
              </a:spcAft>
            </a:pPr>
            <a:r>
              <a:rPr sz="800">
                <a:solidFill>
                  <a:srgbClr val="CCCCCC"/>
                </a:solidFill>
                <a:latin typeface="Consolas"/>
              </a:rPr>
              <a:t>self.spring.Initialize(self.handle, body, False, point, point)</a:t>
            </a:r>
          </a:p>
          <a:p>
            <a:pPr>
              <a:spcAft>
                <a:spcPts val="0"/>
              </a:spcAft>
            </a:pPr>
            <a:r>
              <a:rPr sz="800">
                <a:solidFill>
                  <a:srgbClr val="CCCCCC"/>
                </a:solidFill>
                <a:latin typeface="Consolas"/>
              </a:rPr>
              <a:t>self.spring.SetRestLength(0.0)</a:t>
            </a:r>
          </a:p>
          <a:p>
            <a:pPr>
              <a:spcAft>
                <a:spcPts val="0"/>
              </a:spcAft>
            </a:pPr>
            <a:r>
              <a:rPr sz="800">
                <a:solidFill>
                  <a:srgbClr val="CCCCCC"/>
                </a:solidFill>
                <a:latin typeface="Consolas"/>
              </a:rPr>
              <a:t>self.spring.SetSpringCoefficient(k)</a:t>
            </a:r>
          </a:p>
          <a:p>
            <a:pPr>
              <a:spcAft>
                <a:spcPts val="0"/>
              </a:spcAft>
            </a:pPr>
            <a:r>
              <a:rPr sz="800">
                <a:solidFill>
                  <a:srgbClr val="CCCCCC"/>
                </a:solidFill>
                <a:latin typeface="Consolas"/>
              </a:rPr>
              <a:t>self.spring.SetDampingCoefficient(c)</a:t>
            </a:r>
          </a:p>
          <a:p>
            <a:pPr>
              <a:spcAft>
                <a:spcPts val="0"/>
              </a:spcAft>
            </a:pPr>
            <a:r>
              <a:rPr sz="800">
                <a:solidFill>
                  <a:srgbClr val="CCCCCC"/>
                </a:solidFill>
                <a:latin typeface="Consolas"/>
              </a:rPr>
              <a:t>self.system.AddLink(self.spring)</a:t>
            </a:r>
          </a:p>
        </p:txBody>
      </p:sp>
      <p:sp>
        <p:nvSpPr>
          <p:cNvPr id="4" name="NoteBox"/>
          <p:cNvSpPr txBox="1"/>
          <p:nvPr/>
        </p:nvSpPr>
        <p:spPr>
          <a:xfrm>
            <a:off x="402336" y="5157216"/>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Show Time</a:t>
            </a:r>
          </a:p>
        </p:txBody>
      </p:sp>
      <p:sp>
        <p:nvSpPr>
          <p:cNvPr id="3" name="Content Placeholder 2"/>
          <p:cNvSpPr>
            <a:spLocks noGrp="1"/>
          </p:cNvSpPr>
          <p:nvPr>
            <p:ph idx="1"/>
          </p:nvPr>
        </p:nvSpPr>
        <p:spPr/>
        <p:txBody>
          <a:bodyPr wrap="square"/>
          <a:lstStyle/>
          <a:p>
            <a:pPr>
              <a:spcAft>
                <a:spcPts val="1000"/>
              </a:spcAft>
            </a:pPr>
            <a:r>
              <a:rPr sz="2000"/>
              <a:t>Drag a leg while the stance controller fights back</a:t>
            </a:r>
          </a:p>
          <a:p>
            <a:pPr>
              <a:spcAft>
                <a:spcPts val="1000"/>
              </a:spcAft>
            </a:pPr>
            <a:r>
              <a:rPr sz="2000"/>
              <a:t>Drag a Franka link, hand-guided or fully unactuated</a:t>
            </a:r>
          </a:p>
          <a:p>
            <a:pPr>
              <a:spcAft>
                <a:spcPts val="1000"/>
              </a:spcAft>
            </a:pPr>
            <a:r>
              <a:rPr sz="2000"/>
              <a:t>Yanking a link into the floor: </a:t>
            </a:r>
            <a:r>
              <a:rPr sz="1800">
                <a:latin typeface="Consolas"/>
              </a:rPr>
              <a:t>35.14 m/s</a:t>
            </a:r>
            <a:r>
              <a:rPr sz="2000"/>
              <a:t> before the gains were bounded, </a:t>
            </a:r>
            <a:r>
              <a:rPr sz="1800">
                <a:latin typeface="Consolas"/>
              </a:rPr>
              <a:t>3.25 m/s</a:t>
            </a:r>
            <a:r>
              <a:rPr sz="2000"/>
              <a:t> after</a:t>
            </a:r>
          </a:p>
        </p:txBody>
      </p:sp>
      <p:pic>
        <p:nvPicPr>
          <p:cNvPr id="4" name="Picture 3" descr="demo_go2.png"/>
          <p:cNvPicPr>
            <a:picLocks noChangeAspect="1"/>
          </p:cNvPicPr>
          <p:nvPr/>
        </p:nvPicPr>
        <p:blipFill>
          <a:blip r:embed="rId2"/>
          <a:stretch>
            <a:fillRect/>
          </a:stretch>
        </p:blipFill>
        <p:spPr>
          <a:xfrm>
            <a:off x="3260208" y="2880360"/>
            <a:ext cx="3011805" cy="2331720"/>
          </a:xfrm>
          <a:prstGeom prst="rect">
            <a:avLst/>
          </a:prstGeom>
        </p:spPr>
      </p:pic>
      <p:pic>
        <p:nvPicPr>
          <p:cNvPr id="5" name="Picture 4" descr="demo_arm.png"/>
          <p:cNvPicPr>
            <a:picLocks noChangeAspect="1"/>
          </p:cNvPicPr>
          <p:nvPr/>
        </p:nvPicPr>
        <p:blipFill>
          <a:blip r:embed="rId3"/>
          <a:stretch>
            <a:fillRect/>
          </a:stretch>
        </p:blipFill>
        <p:spPr>
          <a:xfrm>
            <a:off x="6546333" y="2880360"/>
            <a:ext cx="2382409" cy="2331720"/>
          </a:xfrm>
          <a:prstGeom prst="rect">
            <a:avLst/>
          </a:prstGeom>
        </p:spPr>
      </p:pic>
      <p:sp>
        <p:nvSpPr>
          <p:cNvPr id="6" name="NoteBox"/>
          <p:cNvSpPr txBox="1"/>
          <p:nvPr/>
        </p:nvSpPr>
        <p:spPr>
          <a:xfrm>
            <a:off x="402336" y="5532120"/>
            <a:ext cx="11393424" cy="713232"/>
          </a:xfrm>
          <a:prstGeom prst="rect">
            <a:avLst/>
          </a:prstGeom>
          <a:noFill/>
        </p:spPr>
        <p:txBody>
          <a:bodyPr wrap="square">
            <a:spAutoFit/>
          </a:bodyPr>
          <a:lstStyle/>
          <a:p>
            <a:pPr>
              <a:spcAft>
                <a:spcPts val="400"/>
              </a:spcAft>
            </a:pPr>
            <a:r>
              <a:rPr sz="1600"/>
              <a:t>This is the clearest case of the definition on the whole deck: you pull, the controller resists, you feel it resist, and you pull differently.</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283456"/>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fire(self,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cfg.force(), chrono.ChVector3d(cfg.local_point),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self._slot(body)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update(self, t):</a:t>
            </a:r>
          </a:p>
          <a:p>
            <a:pPr>
              <a:spcAft>
                <a:spcPts val="0"/>
              </a:spcAft>
            </a:pPr>
            <a:r>
              <a:rPr sz="800">
                <a:solidFill>
                  <a:srgbClr val="CCCCCC"/>
                </a:solidFill>
                <a:latin typeface="Consolas"/>
              </a:rPr>
              <a:t>    """Call every step, BEFORE DoStepDynamics. Returns True while pushing."""</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self._slot(body)</a:t>
            </a:r>
          </a:p>
          <a:p>
            <a:pPr>
              <a:spcAft>
                <a:spcPts val="0"/>
              </a:spcAft>
            </a:pPr>
            <a:r>
              <a:rPr sz="800">
                <a:solidFill>
                  <a:srgbClr val="CCCCCC"/>
                </a:solidFill>
                <a:latin typeface="Consolas"/>
              </a:rPr>
              <a:t>    body.EmptyAccumulator(idx)            #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7FAF7F"/>
                </a:solidFill>
                <a:latin typeface="Consolas"/>
              </a:rPr>
              <a:t>    # The point travels with the link: a shove on the shoulder stays on the</a:t>
            </a:r>
          </a:p>
          <a:p>
            <a:pPr>
              <a:spcAft>
                <a:spcPts val="0"/>
              </a:spcAft>
            </a:pPr>
            <a:r>
              <a:rPr sz="800">
                <a:solidFill>
                  <a:srgbClr val="7FAF7F"/>
                </a:solidFill>
                <a:latin typeface="Consolas"/>
              </a:rPr>
              <a:t>    # shoulder even as the shoulder is being shoved away.</a:t>
            </a:r>
          </a:p>
          <a:p>
            <a:pPr>
              <a:spcAft>
                <a:spcPts val="0"/>
              </a:spcAft>
            </a:pPr>
            <a:r>
              <a:rPr sz="800">
                <a:solidFill>
                  <a:srgbClr val="CCCCCC"/>
                </a:solidFill>
                <a:latin typeface="Consolas"/>
              </a:rPr>
              <a:t>    body.AccumulateForce(idx, force, body.TransformPointLocalToParent(local),</a:t>
            </a:r>
          </a:p>
        </p:txBody>
      </p:sp>
      <p:sp>
        <p:nvSpPr>
          <p:cNvPr id="4" name="NoteBox"/>
          <p:cNvSpPr txBox="1"/>
          <p:nvPr/>
        </p:nvSpPr>
        <p:spPr>
          <a:xfrm>
            <a:off x="402336" y="5600192"/>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Show Time</a:t>
            </a:r>
          </a:p>
        </p:txBody>
      </p:sp>
      <p:sp>
        <p:nvSpPr>
          <p:cNvPr id="3" name="Content Placeholder 2"/>
          <p:cNvSpPr>
            <a:spLocks noGrp="1"/>
          </p:cNvSpPr>
          <p:nvPr>
            <p:ph idx="1"/>
          </p:nvPr>
        </p:nvSpPr>
        <p:spPr/>
        <p:txBody>
          <a:bodyPr wrap="square"/>
          <a:lstStyle/>
          <a:p>
            <a:pPr>
              <a:spcAft>
                <a:spcPts val="1000"/>
              </a:spcAft>
            </a:pPr>
            <a:r>
              <a:rPr sz="2000"/>
              <a:t>Forward at the base COM: </a:t>
            </a:r>
            <a:r>
              <a:rPr sz="1800">
                <a:latin typeface="Consolas"/>
              </a:rPr>
              <a:t>325 N</a:t>
            </a:r>
            <a:r>
              <a:rPr sz="2000"/>
              <a:t> recovers, </a:t>
            </a:r>
            <a:r>
              <a:rPr sz="1800">
                <a:latin typeface="Consolas"/>
              </a:rPr>
              <a:t>330 N</a:t>
            </a:r>
            <a:r>
              <a:rPr sz="2000"/>
              <a:t> does not</a:t>
            </a:r>
          </a:p>
          <a:p>
            <a:pPr>
              <a:spcAft>
                <a:spcPts val="1000"/>
              </a:spcAft>
            </a:pPr>
            <a:r>
              <a:rPr sz="2000"/>
              <a:t>Sideways: </a:t>
            </a:r>
            <a:r>
              <a:rPr sz="1800">
                <a:latin typeface="Consolas"/>
              </a:rPr>
              <a:t>280 N</a:t>
            </a:r>
            <a:r>
              <a:rPr sz="2000"/>
              <a:t> recovers, </a:t>
            </a:r>
            <a:r>
              <a:rPr sz="1800">
                <a:latin typeface="Consolas"/>
              </a:rPr>
              <a:t>290 N</a:t>
            </a:r>
            <a:r>
              <a:rPr sz="2000"/>
              <a:t> does not</a:t>
            </a:r>
          </a:p>
          <a:p>
            <a:pPr>
              <a:spcAft>
                <a:spcPts val="1000"/>
              </a:spcAft>
            </a:pPr>
            <a:r>
              <a:rPr sz="2000"/>
              <a:t>Same impulse, applied 5 cm higher up the torso: the verdict flips</a:t>
            </a:r>
          </a:p>
        </p:txBody>
      </p:sp>
      <p:pic>
        <p:nvPicPr>
          <p:cNvPr id="4" name="Picture 3" descr="demo_push.png"/>
          <p:cNvPicPr>
            <a:picLocks noChangeAspect="1"/>
          </p:cNvPicPr>
          <p:nvPr/>
        </p:nvPicPr>
        <p:blipFill>
          <a:blip r:embed="rId2"/>
          <a:stretch>
            <a:fillRect/>
          </a:stretch>
        </p:blipFill>
        <p:spPr>
          <a:xfrm>
            <a:off x="4588573" y="2880360"/>
            <a:ext cx="3011805" cy="2331720"/>
          </a:xfrm>
          <a:prstGeom prst="rect">
            <a:avLst/>
          </a:prstGeom>
        </p:spPr>
      </p:pic>
      <p:sp>
        <p:nvSpPr>
          <p:cNvPr id="5" name="NoteBox"/>
          <p:cNvSpPr txBox="1"/>
          <p:nvPr/>
        </p:nvSpPr>
        <p:spPr>
          <a:xfrm>
            <a:off x="402336" y="5532120"/>
            <a:ext cx="11393424" cy="713232"/>
          </a:xfrm>
          <a:prstGeom prst="rect">
            <a:avLst/>
          </a:prstGeom>
          <a:noFill/>
        </p:spPr>
        <p:txBody>
          <a:bodyPr wrap="square">
            <a:spAutoFit/>
          </a:bodyPr>
          <a:lstStyle/>
          <a:p>
            <a:pPr>
              <a:spcAft>
                <a:spcPts val="400"/>
              </a:spcAft>
            </a:pPr>
            <a:r>
              <a:rPr sz="1600"/>
              <a:t>That last line is the reason a human is still in this one. Where to push is a judgement call, and it changes the answer as much as how hard you push does.</a:t>
            </a:r>
          </a:p>
        </p:txBody>
      </p:sp>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How far this goes</a:t>
            </a:r>
          </a:p>
        </p:txBody>
      </p:sp>
      <p:sp>
        <p:nvSpPr>
          <p:cNvPr id="3" name="Content Placeholder 2"/>
          <p:cNvSpPr>
            <a:spLocks noGrp="1"/>
          </p:cNvSpPr>
          <p:nvPr>
            <p:ph idx="1"/>
          </p:nvPr>
        </p:nvSpPr>
        <p:spPr/>
        <p:txBody>
          <a:bodyPr wrap="square"/>
          <a:lstStyle/>
          <a:p>
            <a:pPr>
              <a:spcAft>
                <a:spcPts val="900"/>
              </a:spcAft>
            </a:pPr>
            <a:r>
              <a:rPr sz="1800">
                <a:latin typeface="Consolas"/>
              </a:rPr>
              <a:t>PART 6</a:t>
            </a:r>
            <a:r>
              <a:rPr sz="2000"/>
              <a:t>  -  change gear. A gear is not a fourth float: it belongs to the transmission, and the human sets it through a different API.</a:t>
            </a:r>
          </a:p>
          <a:p>
            <a:pPr>
              <a:spcAft>
                <a:spcPts val="900"/>
              </a:spcAft>
            </a:pPr>
            <a:r>
              <a:rPr sz="1800">
                <a:latin typeface="Consolas"/>
              </a:rPr>
              <a:t>PART 7</a:t>
            </a:r>
            <a:r>
              <a:rPr sz="2000"/>
              <a:t>  -  drive somewhere real. </a:t>
            </a:r>
            <a:r>
              <a:rPr sz="1800">
                <a:latin typeface="Consolas"/>
              </a:rPr>
              <a:t>SCENE = "mcity"</a:t>
            </a:r>
            <a:r>
              <a:rPr sz="2000"/>
              <a:t> puts the car in the Mcity digital twin.</a:t>
            </a:r>
          </a:p>
          <a:p>
            <a:pPr>
              <a:spcAft>
                <a:spcPts val="900"/>
              </a:spcAft>
            </a:pPr>
            <a:r>
              <a:rPr sz="1800">
                <a:latin typeface="Consolas"/>
              </a:rPr>
              <a:t>PART 8</a:t>
            </a:r>
            <a:r>
              <a:rPr sz="2000"/>
              <a:t>  -  control something that is not a car. </a:t>
            </a:r>
            <a:r>
              <a:rPr sz="1800">
                <a:latin typeface="Consolas"/>
              </a:rPr>
              <a:t>PLANT = "rover"</a:t>
            </a:r>
            <a:r>
              <a:rPr sz="2000"/>
              <a:t> or </a:t>
            </a:r>
            <a:r>
              <a:rPr sz="1800">
                <a:latin typeface="Consolas"/>
              </a:rPr>
              <a:t>"crane"</a:t>
            </a:r>
            <a:r>
              <a:rPr sz="2000"/>
              <a:t>, same three floats, no vehicle class involved.</a:t>
            </a:r>
          </a:p>
          <a:p>
            <a:pPr>
              <a:spcAft>
                <a:spcPts val="900"/>
              </a:spcAft>
            </a:pPr>
            <a:r>
              <a:rPr sz="1800">
                <a:latin typeface="Consolas"/>
              </a:rPr>
              <a:t>PARTS 9-10</a:t>
            </a:r>
            <a:r>
              <a:rPr sz="2000"/>
              <a:t>  -  reach into the scene: drag a limb, push a robot, place a scene.</a:t>
            </a:r>
          </a:p>
        </p:txBody>
      </p:sp>
      <p:sp>
        <p:nvSpPr>
          <p:cNvPr id="4" name="NoteBox"/>
          <p:cNvSpPr txBox="1"/>
          <p:nvPr/>
        </p:nvSpPr>
        <p:spPr>
          <a:xfrm>
            <a:off x="402336" y="5532120"/>
            <a:ext cx="11393424" cy="438912"/>
          </a:xfrm>
          <a:prstGeom prst="rect">
            <a:avLst/>
          </a:prstGeom>
          <a:noFill/>
        </p:spPr>
        <p:txBody>
          <a:bodyPr wrap="square">
            <a:spAutoFit/>
          </a:bodyPr>
          <a:lstStyle/>
          <a:p>
            <a:pPr>
              <a:spcAft>
                <a:spcPts val="400"/>
              </a:spcAft>
            </a:pPr>
            <a:r>
              <a:rPr sz="1600"/>
              <a:t>The through-line: the loop never changed. What changed was where the human's numbers were injected.</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this goes next</a:t>
            </a:r>
          </a:p>
        </p:txBody>
      </p:sp>
      <p:sp>
        <p:nvSpPr>
          <p:cNvPr id="3" name="Content Placeholder 2"/>
          <p:cNvSpPr>
            <a:spLocks noGrp="1"/>
          </p:cNvSpPr>
          <p:nvPr>
            <p:ph idx="1"/>
          </p:nvPr>
        </p:nvSpPr>
        <p:spPr/>
        <p:txBody>
          <a:bodyPr wrap="square"/>
          <a:lstStyle/>
          <a:p>
            <a:pPr>
              <a:spcAft>
                <a:spcPts val="900"/>
              </a:spcAft>
            </a:pPr>
            <a:r>
              <a:rPr sz="1800">
                <a:latin typeface="Consolas"/>
              </a:rPr>
              <a:t>Chrono::HIL</a:t>
            </a:r>
            <a:r>
              <a:rPr sz="2000"/>
              <a:t> (github.com/zzhou292/chrono-HIL)  -  driving rigs, steering wheels, multi-user sessions, the same three floats</a:t>
            </a:r>
          </a:p>
          <a:p>
            <a:pPr>
              <a:spcAft>
                <a:spcPts val="900"/>
              </a:spcAft>
            </a:pPr>
            <a:r>
              <a:rPr sz="2000"/>
              <a:t>The SWIG director change, as an upstream PR</a:t>
            </a:r>
          </a:p>
          <a:p>
            <a:pPr>
              <a:spcAft>
                <a:spcPts val="900"/>
              </a:spcAft>
            </a:pPr>
            <a:r>
              <a:rPr sz="2000"/>
              <a:t>A mouse pick-and-drag utility, so that every PyChrono user does not write the same 56 lines</a:t>
            </a:r>
          </a:p>
          <a:p>
            <a:pPr>
              <a:spcAft>
                <a:spcPts val="900"/>
              </a:spcAft>
            </a:pPr>
            <a:r>
              <a:rPr sz="2000"/>
              <a:t>Policy in the loop: a learned controller on one side, a person perturbing it on the other</a:t>
            </a:r>
          </a:p>
        </p:txBody>
      </p:sp>
      <p:sp>
        <p:nvSpPr>
          <p:cNvPr id="4" name="NoteBox"/>
          <p:cNvSpPr txBox="1"/>
          <p:nvPr/>
        </p:nvSpPr>
        <p:spPr>
          <a:xfrm>
            <a:off x="402336" y="5532120"/>
            <a:ext cx="11393424" cy="713232"/>
          </a:xfrm>
          <a:prstGeom prst="rect">
            <a:avLst/>
          </a:prstGeom>
          <a:noFill/>
        </p:spPr>
        <p:txBody>
          <a:bodyPr wrap="square">
            <a:spAutoFit/>
          </a:bodyPr>
          <a:lstStyle/>
          <a:p>
            <a:pPr>
              <a:spcAft>
                <a:spcPts val="400"/>
              </a:spcAft>
            </a:pPr>
            <a:r>
              <a:rPr sz="1600"/>
              <a:t>The gap this talk found is small and specific, which is the good kind: one line to receive the event, and a utility on top of primitives Chrono already has.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Any questions?</a:t>
            </a:r>
          </a:p>
        </p:txBody>
      </p:sp>
      <p:sp>
        <p:nvSpPr>
          <p:cNvPr id="3" name="Text Placeholder 2"/>
          <p:cNvSpPr>
            <a:spLocks noGrp="1"/>
          </p:cNvSpPr>
          <p:nvPr>
            <p:ph type="body" idx="1"/>
          </p:nvPr>
        </p:nvSpPr>
        <p:spPr/>
        <p:txBody>
          <a:bodyPr/>
          <a:lstStyle/>
          <a:p>
            <a:r>
              <a:t>University of Wisconsin - Madison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