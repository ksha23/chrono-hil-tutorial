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48"/>
  </p:notesMasterIdLst>
  <p:sldIdLst>
    <p:sldId id="256" r:id="rId8"/>
    <p:sldId id="257" r:id="rId9"/>
    <p:sldId id="258" r:id="rId10"/>
    <p:sldId id="259" r:id="rId11"/>
    <p:sldId id="260" r:id="rId12"/>
    <p:sldId id="263" r:id="rId15"/>
    <p:sldId id="264" r:id="rId16"/>
    <p:sldId id="265" r:id="rId17"/>
    <p:sldId id="266" r:id="rId18"/>
    <p:sldId id="268" r:id="rId20"/>
    <p:sldId id="270" r:id="rId22"/>
    <p:sldId id="271" r:id="rId23"/>
    <p:sldId id="272" r:id="rId24"/>
    <p:sldId id="273" r:id="rId25"/>
    <p:sldId id="275" r:id="rId27"/>
    <p:sldId id="276" r:id="rId28"/>
    <p:sldId id="306" r:id="rId38"/>
    <p:sldId id="277" r:id="rId29"/>
    <p:sldId id="279" r:id="rId31"/>
    <p:sldId id="282" r:id="rId34"/>
    <p:sldId id="287" r:id="rId39"/>
    <p:sldId id="284" r:id="rId36"/>
    <p:sldId id="291" r:id="rId43"/>
    <p:sldId id="292" r:id="rId44"/>
    <p:sldId id="29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ning Fang" initials="LF" lastIdx="1" clrIdx="0">
    <p:extLst>
      <p:ext uri="{19B8F6BF-5375-455C-9EA6-DF929625EA0E}">
        <p15:presenceInfo xmlns:p15="http://schemas.microsoft.com/office/powerpoint/2012/main" userId="S::lfang9@wisc.edu::ad8730f6-191a-4e02-aade-5a65010d37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5033" autoAdjust="0"/>
  </p:normalViewPr>
  <p:slideViewPr>
    <p:cSldViewPr snapToGrid="0" snapToObjects="1">
      <p:cViewPr varScale="1">
        <p:scale>
          <a:sx n="61" d="100"/>
          <a:sy n="61" d="100"/>
        </p:scale>
        <p:origin x="9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404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0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8.xml"/><Relationship Id="rId31" Type="http://schemas.openxmlformats.org/officeDocument/2006/relationships/slide" Target="slides/slide19.xml"/><Relationship Id="rId34" Type="http://schemas.openxmlformats.org/officeDocument/2006/relationships/slide" Target="slides/slide20.xml"/><Relationship Id="rId36" Type="http://schemas.openxmlformats.org/officeDocument/2006/relationships/slide" Target="slides/slide22.xml"/><Relationship Id="rId38" Type="http://schemas.openxmlformats.org/officeDocument/2006/relationships/slide" Target="slides/slide17.xml"/><Relationship Id="rId39" Type="http://schemas.openxmlformats.org/officeDocument/2006/relationships/slide" Target="slides/slide21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8" Type="http://schemas.openxmlformats.org/officeDocument/2006/relationships/notesMaster" Target="notesMasters/notesMaster1.xml"/><Relationship Id="rId49" Type="http://schemas.openxmlformats.org/officeDocument/2006/relationships/commentAuthors" Target="commentAuthors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783B2-C5E5-FB41-ACA0-2F481156207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D381F-568E-9849-8D19-16CED507F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6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849365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3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lnSpc>
                <a:spcPts val="192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AB6B121-EA4A-6511-1136-8B5B796F5E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0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552" y="293245"/>
            <a:ext cx="9875520" cy="9061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552" y="1313782"/>
            <a:ext cx="10939848" cy="5203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974" y="6645811"/>
            <a:ext cx="11644805" cy="18852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University of Wisconsin - 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32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70994" y="1759343"/>
            <a:ext cx="5469924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42552" y="4284120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614615"/>
            <a:ext cx="9966960" cy="2147287"/>
          </a:xfrm>
        </p:spPr>
        <p:txBody>
          <a:bodyPr anchor="b">
            <a:noAutofit/>
          </a:bodyPr>
          <a:lstStyle>
            <a:lvl1pPr algn="l">
              <a:lnSpc>
                <a:spcPct val="85000"/>
              </a:lnSpc>
              <a:defRPr sz="4400" b="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72744" y="3682656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6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552" y="2057399"/>
            <a:ext cx="525532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4254" y="2057400"/>
            <a:ext cx="510725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7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856" y="1847511"/>
            <a:ext cx="502920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856" y="2721483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6303" y="1845032"/>
            <a:ext cx="5029200" cy="77724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lang="en-US" sz="2400" b="1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Corbel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6303" y="2719322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9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1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5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875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306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46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706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1140" y="243840"/>
            <a:ext cx="9875520" cy="906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552" y="1749717"/>
            <a:ext cx="10939848" cy="434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0975" y="6645811"/>
            <a:ext cx="2329074" cy="209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503" y="6645811"/>
            <a:ext cx="2142554" cy="220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9563" y="6646310"/>
            <a:ext cx="1706217" cy="188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46C1E0-93BA-7130-A5BE-F281C46CA8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8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Chrono support for Human-in-the-Loop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Speaker: Kyle Sha</a:t>
            </a:r>
          </a:p>
          <a:p>
            <a:r>
              <a:t>(Simulation-Based Engineering Lab)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Overview of the human-in-the-loop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Human-in-the-loop = the simulation runs at wall-clock speed and a person closes the control loop</a:t>
            </a:r>
          </a:p>
          <a:p>
            <a:pPr/>
            <a:r>
              <a:rPr sz="2000"/>
              <a:t>In this tutorial, you will learn how to</a:t>
            </a:r>
          </a:p>
          <a:p>
            <a:pPr lvl="1"/>
            <a:r>
              <a:rPr sz="1800"/>
              <a:t>PART 1: Keep a Chrono::Vehicle simulation real-time and measure how well you did</a:t>
            </a:r>
          </a:p>
          <a:p>
            <a:pPr lvl="1"/>
            <a:r>
              <a:rPr sz="1800"/>
              <a:t>PART 2: Put a human on the keyboard with ChInteractiveDriver</a:t>
            </a:r>
          </a:p>
          <a:p>
            <a:pPr lvl="1"/>
            <a:r>
              <a:rPr sz="1800"/>
              <a:t>PART 4: Bring a device Chrono doesn't know about, and close the loop back to it</a:t>
            </a:r>
          </a:p>
          <a:p>
            <a:pPr lvl="1"/>
            <a:r>
              <a:rPr sz="1800"/>
              <a:t>Parts 3 and 5 (gamepad/wheel, vehicle picker, overlay flags) are in the repo - no time today</a:t>
            </a:r>
          </a:p>
          <a:p>
            <a:pPr/>
            <a:r>
              <a:rPr sz="2000"/>
              <a:t>Everything runs in PyChrono; no special hardware is required</a:t>
            </a:r>
          </a:p>
          <a:p>
            <a:pPr/>
            <a:r>
              <a:rPr sz="2000"/>
              <a:t>The whole human-in-the-loop contract is: spin once per step, three floats in, state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Before we start ......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This is a walkthrough - nothing to install right now; everything runs on my machine</a:t>
            </a:r>
          </a:p>
          <a:p>
            <a:pPr/>
            <a:r>
              <a:rPr sz="2000"/>
              <a:t>Code, slides and a written walkthrough: github.com/ksha23/chrono-hil-tutorial</a:t>
            </a:r>
          </a:p>
          <a:p>
            <a:pPr/>
            <a:r>
              <a:rPr sz="2000"/>
              <a:t>To run it yourself afterward:</a:t>
            </a:r>
          </a:p>
          <a:p>
            <a:pPr lvl="1"/>
            <a:r>
              <a:rPr sz="1800">
                <a:latin typeface="Consolas"/>
              </a:rPr>
              <a:t>conda create -n chrono_hil -c projectchrono -c conda-forge pychrono pygame python=3.13</a:t>
            </a:r>
          </a:p>
          <a:p>
            <a:pPr lvl="1"/>
            <a:r>
              <a:rPr sz="1800">
                <a:latin typeface="Consolas"/>
              </a:rPr>
              <a:t>conda activate chrono_hil</a:t>
            </a:r>
          </a:p>
          <a:p>
            <a:pPr/>
            <a:r>
              <a:rPr sz="2000"/>
              <a:t>Do NOT </a:t>
            </a:r>
            <a:r>
              <a:rPr sz="1800">
                <a:latin typeface="Consolas"/>
              </a:rPr>
              <a:t>pip install pychrono</a:t>
            </a:r>
            <a:r>
              <a:rPr sz="2000"/>
              <a:t> - the PyPI package with that name is an unrelated library</a:t>
            </a:r>
          </a:p>
          <a:p>
            <a:pPr/>
            <a:r>
              <a:rPr sz="2000"/>
              <a:t>python tutorial_HIL_driver.py opens an Irrlicht window with an HMMWV - drive it with the arrow keys</a:t>
            </a:r>
          </a:p>
          <a:p>
            <a:pPr/>
            <a:r>
              <a:rPr sz="2000"/>
              <a:t>All switches are in the CONFIGURATION section at the bottom of tutorial_HIL_driver.py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Keep the simulation real-time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What "real-time" means in Chrono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 integrates as fast as it can; it has no notion of wall-clock time by itself</a:t>
            </a:r>
          </a:p>
          <a:p>
            <a:pPr/>
            <a:r>
              <a:rPr sz="2000"/>
              <a:t>Real Time Factor: RTF = compute time for a step / step size</a:t>
            </a:r>
          </a:p>
          <a:p>
            <a:pPr lvl="1"/>
            <a:r>
              <a:rPr sz="1800"/>
              <a:t>RTF &lt; 1: faster than real time - we must WAIT after each step</a:t>
            </a:r>
          </a:p>
          <a:p>
            <a:pPr lvl="1"/>
            <a:r>
              <a:rPr sz="1800"/>
              <a:t>RTF &gt; 1: slower than real time - nothing can be done except a cheaper model or a bigger step</a:t>
            </a:r>
          </a:p>
          <a:p>
            <a:pPr/>
            <a:r>
              <a:rPr sz="2000"/>
              <a:t>Soft real-time: spin after each step until wall time catches up with simulation time</a:t>
            </a:r>
          </a:p>
          <a:p>
            <a:pPr lvl="1"/>
            <a:r>
              <a:rPr sz="1800"/>
              <a:t>No OS scheduling guarantees; good enough for a driving simulator, not for a control ECU</a:t>
            </a:r>
          </a:p>
          <a:p>
            <a:pPr/>
            <a:r>
              <a:rPr sz="2000"/>
              <a:t>Three equivalent mechanisms in PyChrono (next slides): </a:t>
            </a:r>
            <a:r>
              <a:rPr sz="1800">
                <a:latin typeface="Consolas"/>
              </a:rPr>
              <a:t>ChRealtimeStepTimer</a:t>
            </a:r>
            <a:r>
              <a:rPr sz="2000"/>
              <a:t>, </a:t>
            </a:r>
            <a:r>
              <a:rPr sz="1800">
                <a:latin typeface="Consolas"/>
              </a:rPr>
              <a:t>ChVehicle.EnableRealtime</a:t>
            </a:r>
            <a:r>
              <a:rPr sz="2000"/>
              <a:t>, or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1: The simulation loop (Lines 376 to 404)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0000"/>
            <a:ext cx="12192000" cy="462280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while vis.Run():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sim_time = system.GetChTime()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Render scene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step_number % render_steps == 0: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vis.BeginScene()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vis.Render()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vis.EndScene()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PART 4: sample the device ONCE per step and hold it for the step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device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smoother.set_target(*device.poll())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smoother.advance(step_size)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smoother.apply_to(driver)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Get driver inputs (three floats) - this is the whole human-in-the-loop contract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driver_inputs = driver.GetInputs()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Update modules (process inputs from other modules)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driver.Synchronize(sim_time)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terrain.Synchronize(sim_time)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vehicle_model.Synchronize(sim_time, driver_inputs, terrain)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vis.Synchronize(sim_time, driver_inputs)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Advance simulation for one timestep for all modules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driver.Advance(step_size)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terrain.Advance(step_size)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vehicle_model.Advance(step_size)  # spins here if REALTIME == "vehicle"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vis.Advance(step_size)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5772800"/>
            <a:ext cx="11392000" cy="68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Synchronize: every module reads what it needs from the others at time t</a:t>
            </a:r>
          </a:p>
          <a:p>
            <a:pPr/>
            <a:r>
              <a:rPr sz="1800"/>
              <a:t>Advance: every module integrates from t to t + step</a:t>
            </a:r>
          </a:p>
          <a:p>
            <a:pPr/>
            <a:r>
              <a:rPr sz="1800"/>
              <a:t>The driver is queried BEFORE Synchronize - inputs are sampled once and held for the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2: Measure it - sim time vs wall time (Lines 406 to 412)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0000"/>
            <a:ext cx="12192000" cy="169672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# Console report: how far is the sim from wall time?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if step_number % report_steps == 0: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wall = time.perf_counter() - wall_start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print(f"{sim_time:7.2f} {wall:7.2f} {wall - sim_time:+7.3f} {vehicle.GetRTF():6.2f}"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      f" {vehicle.GetSpeed():7.2f}  {driver_inputs.m_steering:6.2f}"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      f" {driver_inputs.m_throttle:5.2f} {driver_inputs.m_braking:5.2f}")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2846720"/>
            <a:ext cx="11392000" cy="361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drift = wall time - simulation time: negative means the sim is ahead of the clock</a:t>
            </a:r>
          </a:p>
          <a:p>
            <a:pPr/>
            <a:r>
              <a:rPr sz="1800"/>
              <a:t>vehicle.GetRTF() is the true RTF of the last step, even when real time is enforced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REALTIME = "none": watch the drift column run away</a:t>
            </a:r>
          </a:p>
          <a:p>
            <a:pPr/>
            <a:r>
              <a:rPr sz="2000"/>
              <a:t>Change step_size to 5e-4 - RTF goes above 1 and the sim can never be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3: Enforce real time, three ways (Lines 357 to 362)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0000"/>
            <a:ext cx="12192000" cy="148336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# Real-time setup (PART 1)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# -----------------------------------------------------------------------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if REALTIME == "vehicle":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vehicle.EnableRealtime(True)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rt_timer = chrono.ChRealtimeStepTimer()  # used when REALTIME == "per_step"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cum_timer = CumulativeRealtimeTimer()    # used when REALTIME == "cumulative"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2633360"/>
            <a:ext cx="11392000" cy="382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"vehicle": ChVehicle::EnableRealtime(True) spins inside vehicle.Advance() using a ChRealtimeStepTimer</a:t>
            </a:r>
          </a:p>
          <a:p>
            <a:pPr/>
            <a:r>
              <a:rPr sz="1800"/>
              <a:t>"per_step": the same timer, called explicitly at the end of the loop (next slide)</a:t>
            </a:r>
          </a:p>
          <a:p>
            <a:pPr/>
            <a:r>
              <a:rPr sz="1800"/>
              <a:t>"cumulative": our own timer that compares total simulated time to total wall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4: A drift-free timer in 10 lines (Lines 56 to 74)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0000"/>
            <a:ext cx="12192000" cy="396748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300">
                <a:solidFill>
                  <a:srgbClr val="CCCCCC"/>
                </a:solidFill>
                <a:latin typeface="Consolas"/>
              </a:rPr>
              <a:t>class CumulativeRealtimeTimer: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"""Soft real-time that does not accumulate drift.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ChRealtimeStepTimer measures each step independently: any time lost on a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slow step (or spent in Python between steps) is never recovered.  This timer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instead compares the *total* simulated time with the *total* wall time, so a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slow step is followed by a few fast steps that catch back up.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"""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def __init__(self):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    self.reset()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def reset(self):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    self.t_start = time.perf_counter()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def spin(self, sim_time):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    while time.perf_counter() - self.t_start &lt; sim_time: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        pass  # spin in place until real time catches up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5117480"/>
            <a:ext cx="11392000" cy="134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Compare TOTAL simulated time with TOTAL wall time - lost time is caught up on the next fast steps</a:t>
            </a:r>
          </a:p>
          <a:p>
            <a:pPr/>
            <a:r>
              <a:rPr sz="1800"/>
              <a:t>This is how driving simulators (e.g. Chrono::HIL) keep their clock; the same idea also works across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Measured on a laptop, HMMWV + TMeasy tires, step 3 ms (RTF ~ 0.14):</a:t>
            </a:r>
          </a:p>
          <a:p>
            <a:pPr lvl="1"/>
            <a:r>
              <a:rPr sz="1800"/>
              <a:t>"none": drift -69 s after 17 s of wall time</a:t>
            </a:r>
          </a:p>
          <a:p>
            <a:pPr lvl="1"/>
            <a:r>
              <a:rPr sz="1800"/>
              <a:t>"per_step": drift +0.012 s after 17 s and growing</a:t>
            </a:r>
          </a:p>
          <a:p>
            <a:pPr lvl="1"/>
            <a:r>
              <a:rPr sz="1800"/>
              <a:t>"vehicle": drift +0.021 s after 17 s and growing</a:t>
            </a:r>
          </a:p>
          <a:p>
            <a:pPr lvl="1"/>
            <a:r>
              <a:rPr sz="1800"/>
              <a:t>"cumulative": drift +0.000 s</a:t>
            </a:r>
          </a:p>
          <a:p>
            <a:pPr/>
            <a:r>
              <a:rPr sz="2000"/>
              <a:t>Drift matters more the closer you are to RTF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A human on the keyboard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1: ChInteractiveDriver (Lines 296 to 307)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0000"/>
            <a:ext cx="12192000" cy="258064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300">
                <a:solidFill>
                  <a:srgbClr val="CCCCCC"/>
                </a:solidFill>
                <a:latin typeface="Consolas"/>
              </a:rPr>
              <a:t>elif INPUT_SOURCE == "keyboard":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### PART 2: keyboard through the Irrlicht window ###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# Arrow keys steer/accelerate/brake, 'C' centers steering, 'R' releases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# the pedals, 'L' locks the current inputs.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driver = veh.ChInteractiveDriver(vehicle)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steering_time = 1.0  # time to go from 0 to +1 (or from 0 to -1)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throttle_time = 1.0  # time to go from 0 to +1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braking_time = 0.3   # time to go from 0 to +1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driver.SetSteeringDelta(render_step_size / steering_time)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driver.SetThrottleDelta(render_step_size / throttle_time)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driver.SetBrakingDelta(render_step_size / braking_time)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    driver.SetGains(4.0, 4.0, 4.0)  # first-order lag from key target to applied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3730640"/>
            <a:ext cx="11392000" cy="272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Arrow keys steer/accelerate/brake, C centers steering, R releases the pedals, L locks the inputs</a:t>
            </a:r>
          </a:p>
          <a:p>
            <a:pPr/>
            <a:r>
              <a:rPr sz="1800"/>
              <a:t>Each keypress moves a TARGET by "delta"; the applied input follows the target with a first-order lag (SetGains)</a:t>
            </a:r>
          </a:p>
          <a:p>
            <a:pPr/>
            <a:r>
              <a:rPr sz="1800"/>
              <a:t>delta = render_step / time-to-full-scale: full steering lock takes 1 s, full braking 0.3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2: Route the window events to the driver (Lines 339 to 342)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0000"/>
            <a:ext cx="12192000" cy="127000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vis.AddSkyBox()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vis.AttachVehicle(vehicle)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INPUT_SOURCE in ("keyboard", "gamepad"):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vis.AttachDriver(driver)  # route Irrlicht key/joystick events to the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2420000"/>
            <a:ext cx="11392000" cy="40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The Irrlicht visual system owns the keyboard; AttachDriver forwards key events to the driver</a:t>
            </a:r>
          </a:p>
          <a:p>
            <a:pPr/>
            <a:r>
              <a:rPr sz="1800"/>
              <a:t>Nothing else in the loop changes - the driver still just returns three floats</a:t>
            </a:r>
          </a:p>
          <a:p>
            <a:pPr/>
            <a:r>
              <a:rPr sz="1800"/>
              <a:t>The same driver reads a gamepad or wheel natively - SetInputMode(JOYSTICK), presets ship with Chrono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Driving the HMMWV with the arrow keys - watch the Irrlicht HUD (speed, inputs, RTF)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4: A device Chrono doesn't know about, and closing the 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UDP console, a gamepad, a steering wheel, a phone, another process...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4's architecture: two processes, one UDP contract</a:t>
            </a:r>
          </a:p>
        </p:txBody>
      </p:sp>
      <p:sp>
        <p:nvSpPr>
          <p:cNvPr id="3" name="Box 3"/>
          <p:cNvSpPr/>
          <p:nvPr/>
        </p:nvSpPr>
        <p:spPr>
          <a:xfrm>
            <a:off x="700000" y="2600000"/>
            <a:ext cx="4300000" cy="145000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txBody>
          <a:bodyPr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Operator machine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operator_console.py</a:t>
            </a:r>
          </a:p>
        </p:txBody>
      </p:sp>
      <p:sp>
        <p:nvSpPr>
          <p:cNvPr id="4" name="Box 4"/>
          <p:cNvSpPr/>
          <p:nvPr/>
        </p:nvSpPr>
        <p:spPr>
          <a:xfrm>
            <a:off x="7192000" y="2600000"/>
            <a:ext cx="4300000" cy="145000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txBody>
          <a:bodyPr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Simulation machine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tutorial_HIL_driver.py</a:t>
            </a:r>
          </a:p>
        </p:txBody>
      </p:sp>
      <p:sp>
        <p:nvSpPr>
          <p:cNvPr id="5" name="Label 5"/>
          <p:cNvSpPr txBox="1"/>
          <p:nvPr/>
        </p:nvSpPr>
        <p:spPr>
          <a:xfrm>
            <a:off x="5000000" y="1950000"/>
            <a:ext cx="2192000" cy="5000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sz="1600" b="1">
                <a:solidFill>
                  <a:srgbClr val="1F3864"/>
                </a:solidFill>
              </a:rPr>
              <a:t>→ </a:t>
            </a:r>
            <a:r>
              <a:rPr sz="1600">
                <a:solidFill>
                  <a:srgbClr val="1F3864"/>
                </a:solidFill>
              </a:rPr>
              <a:t>steering, throttle, braking</a:t>
            </a:r>
          </a:p>
        </p:txBody>
      </p:sp>
      <p:sp>
        <p:nvSpPr>
          <p:cNvPr id="6" name="Label 6"/>
          <p:cNvSpPr txBox="1"/>
          <p:nvPr/>
        </p:nvSpPr>
        <p:spPr>
          <a:xfrm>
            <a:off x="5000000" y="4150000"/>
            <a:ext cx="2192000" cy="7000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sz="1600">
                <a:solidFill>
                  <a:srgbClr val="808080"/>
                </a:solidFill>
              </a:rPr>
              <a:t>speed, RTF, lateral accel</a:t>
            </a:r>
            <a:r>
              <a:rPr sz="1600" b="1">
                <a:solidFill>
                  <a:srgbClr val="808080"/>
                </a:solidFill>
              </a:rPr>
              <a:t> ←</a:t>
            </a:r>
          </a:p>
        </p:txBody>
      </p:sp>
      <p:sp>
        <p:nvSpPr>
          <p:cNvPr id="7" name="TextBox note"/>
          <p:cNvSpPr txBox="1"/>
          <p:nvPr/>
        </p:nvSpPr>
        <p:spPr>
          <a:xfrm>
            <a:off x="700000" y="5250000"/>
            <a:ext cx="10792000" cy="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Both directions are plain UDP datagrams - two processes, possibly two machines, no shared memory. The grey arrow only fires when SEND_FEEDBACK = True.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The human-in-the-loop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A driver is just three floats per step: steering [-1, 1], throttle [0, 1], braking [0, 1]</a:t>
            </a:r>
          </a:p>
          <a:p>
            <a:pPr/>
            <a:r>
              <a:rPr sz="1800">
                <a:latin typeface="Consolas"/>
              </a:rPr>
              <a:t>veh.ChDriver</a:t>
            </a:r>
            <a:r>
              <a:rPr sz="2000"/>
              <a:t> is the plain container: </a:t>
            </a:r>
            <a:r>
              <a:rPr sz="1800">
                <a:latin typeface="Consolas"/>
              </a:rPr>
              <a:t>SetSteering()</a:t>
            </a:r>
            <a:r>
              <a:rPr sz="2000"/>
              <a:t>, </a:t>
            </a:r>
            <a:r>
              <a:rPr sz="1800">
                <a:latin typeface="Consolas"/>
              </a:rPr>
              <a:t>SetThrottle()</a:t>
            </a:r>
            <a:r>
              <a:rPr sz="2000"/>
              <a:t>, </a:t>
            </a:r>
            <a:r>
              <a:rPr sz="1800">
                <a:latin typeface="Consolas"/>
              </a:rPr>
              <a:t>SetBraking()</a:t>
            </a:r>
          </a:p>
          <a:p>
            <a:pPr/>
            <a:r>
              <a:rPr sz="2000"/>
              <a:t>So the recipe for ANY device is:</a:t>
            </a:r>
          </a:p>
          <a:p>
            <a:pPr lvl="1"/>
            <a:r>
              <a:rPr sz="1800"/>
              <a:t>1. poll the device (never block the physics loop)</a:t>
            </a:r>
          </a:p>
          <a:p>
            <a:pPr lvl="1"/>
            <a:r>
              <a:rPr sz="1800"/>
              <a:t>2. rate-limit / smooth (a human arm is not a step function)</a:t>
            </a:r>
          </a:p>
          <a:p>
            <a:pPr lvl="1"/>
            <a:r>
              <a:rPr sz="1800"/>
              <a:t>3. write into the ChDriver once per step - zero-order hold until the next step</a:t>
            </a:r>
          </a:p>
          <a:p>
            <a:pPr/>
            <a:r>
              <a:rPr sz="2000"/>
              <a:t>Today: a UDP operator console in a second terminal - the operator side has no Chrono dependency at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1: A UDP input source (Lines 136 to 169)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80000"/>
            <a:ext cx="12192000" cy="484109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class UdpInput: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"""Receive 'steering,throttle,braking' text datagrams from an operator.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Run operator_console.py in another terminal (or on another machine) and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 with the arrow keys there.  The socket is non-blocking: the physics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loop never waits for the operator.  If no packet arrived since the last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step, the previous target is held (zero-order hold).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"""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__init__(self, port=9870):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 = socket.socket(socket.AF_INET, socket.SOCK_DGRAM)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self.sock.bind(("0.0.0.0", port))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self.sock.setblocking(False)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self.operator_addr = None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self.last = (0.0, 0.0, 0.0)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self.packets = 0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print(f"[udp] listening on port {port} - start operator_console.py")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poll(self):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Drain everything that is queued and keep only the newest packet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while True: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data, addr = self.sock.recvfrom(256)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BlockingIOError: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break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s, t, b = (float(x) for x in data.decode().split(","))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self.last = (s, t, b)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self.operator_addr = addr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self.packets += 1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ValueError: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pass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return self.last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5861090"/>
            <a:ext cx="1139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Non-blocking socket, drained every step; the newest packet wins, an empty queue holds the last value</a:t>
            </a:r>
          </a:p>
          <a:p>
            <a:pPr/>
            <a:r>
              <a:rPr sz="1600"/>
              <a:t>The operator can be anywhere on the network - and the console has no Chrono dependency at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2: Sample once per step, then hold (Lines 384 to 393)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0000"/>
            <a:ext cx="12192000" cy="233680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PART 4: sample the device ONCE per step and hold it for the step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device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smoother.set_target(*device.poll())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smoother.advance(step_size)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smoother.apply_to(driver)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Get driver inputs (three floats) - this is the whole human-in-the-loop contract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driver_inputs = driver.GetInputs()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3486800"/>
            <a:ext cx="11392000" cy="297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poll -&gt; smooth -&gt; write, then GetInputs() as before; the physics loop never waits on the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Step 3: Send state back at render rate (Lines 413 to 417)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0000"/>
            <a:ext cx="12192000" cy="1483360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# PART 4: feedback to the operator (speed, RTF, lateral acceleration, applied inputs)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if SEND_FEEDBACK and device is not None and step_number % render_steps == 0: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acc = vehicle.GetPointAcceleration(chrono.ChVector3d(0, 0, 0))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device.send_feedback(f"{sim_time:.3f},{vehicle.GetSpeed():.3f},{vehicle.GetRTF():.3f},{acc.y:.3f},"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                     f"{driver_inputs.m_steering:.3f},{driver_inputs.m_throttle:.3f},{driver_inputs.m_braking:.3f}")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2633360"/>
            <a:ext cx="11392000" cy="382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Speed, RTF and lateral acceleration go back to whoever sent us inputs (UdpInput remembers the address)</a:t>
            </a:r>
          </a:p>
          <a:p>
            <a:pPr/>
            <a:r>
              <a:rPr sz="1800"/>
              <a:t>Send at render rate (50 Hz), not at every physics step - the human cannot use 333 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Two terminals on one laptop over localhost - or two machines over the network, same code either way</a:t>
            </a:r>
          </a:p>
          <a:p>
            <a:pPr/>
            <a:r>
              <a:rPr sz="2000"/>
              <a:t>SEND_FEEDBACK = True: speed, RTF and lateral acceleration come back to the console while you drive</a:t>
            </a:r>
          </a:p>
          <a:p>
            <a:pPr/>
            <a:r>
              <a:rPr sz="2000"/>
              <a:t>Stop the console mid-drive: the last input is held - what should a real simulator do 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228" y="150000"/>
            <a:ext cx="9875520" cy="800000"/>
          </a:xfrm>
        </p:spPr>
        <p:txBody>
          <a:bodyPr wrap="square"/>
          <a:lstStyle/>
          <a:p>
            <a:r>
              <a:rPr sz="2600"/>
              <a:t>Where this goes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Chrono::HIL (github.com/zzhou292/chrono-HIL): the same three-float interface, scaled up</a:t>
            </a:r>
          </a:p>
          <a:p>
            <a:pPr lvl="1"/>
            <a:r>
              <a:rPr sz="1800"/>
              <a:t>SDL steering wheels with force feedback, cumulative real-time timer, multi-vehicle traffic</a:t>
            </a:r>
          </a:p>
          <a:p>
            <a:pPr lvl="1"/>
            <a:r>
              <a:rPr sz="1800"/>
              <a:t>ROS 2 and Unity bridges, teleoperation over the network, deformable (SCM) terrain</a:t>
            </a:r>
          </a:p>
          <a:p>
            <a:pPr/>
            <a:r>
              <a:rPr sz="2000"/>
              <a:t>Chrono::Sensor: cameras/lidar rendered from the vehicle for the operator's screen</a:t>
            </a:r>
          </a:p>
          <a:p>
            <a:pPr/>
            <a:r>
              <a:rPr sz="2000"/>
              <a:t>Chrono::Synchrono: several humans in the same world, each on their own machine</a:t>
            </a:r>
          </a:p>
          <a:p>
            <a:pPr/>
            <a:r>
              <a:rPr sz="2000"/>
              <a:t>Takeaways</a:t>
            </a:r>
          </a:p>
          <a:p>
            <a:pPr lvl="1"/>
            <a:r>
              <a:rPr sz="1800"/>
              <a:t>Real time in Chrono is soft: spin once per step, and measure the drift</a:t>
            </a:r>
          </a:p>
          <a:p>
            <a:pPr lvl="1"/>
            <a:r>
              <a:rPr sz="1800"/>
              <a:t>The human interface is three floats per step, sampled once and smoothed</a:t>
            </a:r>
          </a:p>
          <a:p>
            <a:pPr lvl="1"/>
            <a:r>
              <a:rPr sz="1800"/>
              <a:t>Never let the input device block the physics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Any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0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Thank you.</a:t>
            </a:r>
          </a:p>
          <a:p>
            <a:pPr/>
            <a:r>
              <a:rPr sz="2000"/>
              <a:t>kasha2@wisc.edu</a:t>
            </a:r>
          </a:p>
          <a:p>
            <a:pPr/>
            <a:r>
              <a:rPr sz="2000"/>
              <a:t>Simulation-Based Engineering Lab</a:t>
            </a:r>
          </a:p>
          <a:p>
            <a:pPr/>
            <a:r>
              <a:rPr sz="2000"/>
              <a:t>University of Wisconsin - Madison</a:t>
            </a:r>
          </a:p>
          <a:p>
            <a:pPr/>
          </a:p>
          <a:p>
            <a:pPr/>
            <a:r>
              <a:rPr sz="2000"/>
              <a:t>Lab website: http://sbel.wisc.edu</a:t>
            </a:r>
          </a:p>
          <a:p>
            <a:pPr/>
            <a:r>
              <a:rPr sz="2000"/>
              <a:t>Chrono website: http://www.projectchrono.org</a:t>
            </a:r>
          </a:p>
          <a:p>
            <a:pPr/>
            <a:r>
              <a:rPr sz="2000"/>
              <a:t>Source code: https://github.com/projectchrono</a:t>
            </a:r>
          </a:p>
          <a:p>
            <a:pPr/>
            <a:r>
              <a:rPr sz="2000"/>
              <a:t>Tutorial code + slides: https://github.com/ksha23/chrono-hil-tutorial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27575</TotalTime>
  <Words>5588</Words>
  <Application>Microsoft Office PowerPoint</Application>
  <PresentationFormat>Widescreen</PresentationFormat>
  <Paragraphs>655</Paragraphs>
  <Slides>46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Calibri</vt:lpstr>
      <vt:lpstr>Consolas</vt:lpstr>
      <vt:lpstr>Corbel</vt:lpstr>
      <vt:lpstr>1_Basis</vt:lpstr>
      <vt:lpstr>Chrono SENSOR (CAMERA) </vt:lpstr>
      <vt:lpstr>Overview of the camera tutorial</vt:lpstr>
      <vt:lpstr>Before we start ……</vt:lpstr>
      <vt:lpstr>Part 1: Basic Operations</vt:lpstr>
      <vt:lpstr>Scene configuration </vt:lpstr>
      <vt:lpstr>Step 1: Add a matrix of rocks and a ground in the system</vt:lpstr>
      <vt:lpstr>Create a contact shape for each rock (Lines 53 to 70) </vt:lpstr>
      <vt:lpstr>Create a visual shape for each rock  (Lines 72 to 85)</vt:lpstr>
      <vt:lpstr>Create a visual shape for each rock (Lines 87 to 109) </vt:lpstr>
      <vt:lpstr>Create a rock body and assign visual and contact shapes (Lines 111 to 128)</vt:lpstr>
      <vt:lpstr>Add a cuboid ground in the system (Lines 131 to 157)</vt:lpstr>
      <vt:lpstr>Optional: Add a mirror ball in the system (Lines 159 to 177)</vt:lpstr>
      <vt:lpstr>Step 2: Create a sensor manager, and add background and lights</vt:lpstr>
      <vt:lpstr>Set the background (Lines 184 to 195)</vt:lpstr>
      <vt:lpstr>Add lights (Lines 197 to 217)</vt:lpstr>
      <vt:lpstr>Step 3: Add sensors (Lines 219 to 232)</vt:lpstr>
      <vt:lpstr>Step 3: Add sensors (Lines 234 to 245)</vt:lpstr>
      <vt:lpstr>Show Time</vt:lpstr>
      <vt:lpstr>Step 4: Build Camera Filter Graph as Image Processing Modules</vt:lpstr>
      <vt:lpstr>Step 4: Build Camera Filter Graph as image processing modules</vt:lpstr>
      <vt:lpstr>PowerPoint Presentation</vt:lpstr>
      <vt:lpstr>Before running the code, please</vt:lpstr>
      <vt:lpstr>Show Time</vt:lpstr>
      <vt:lpstr>Add a depth camera (Lines 289 to 310)</vt:lpstr>
      <vt:lpstr>Add a segmentation camera  (Lines 312 to 332)</vt:lpstr>
      <vt:lpstr>Before running the code, please</vt:lpstr>
      <vt:lpstr>Show Time</vt:lpstr>
      <vt:lpstr>Step 5: Simulate the system using a loop (Lines 416 to 443)</vt:lpstr>
      <vt:lpstr>Step 5: Simulate the system using a loop (Lines 445 to 450)</vt:lpstr>
      <vt:lpstr>Step 5: Simulate the system using a loop (Lines 452 to 460)</vt:lpstr>
      <vt:lpstr>Before running the code, please</vt:lpstr>
      <vt:lpstr>Show Time</vt:lpstr>
      <vt:lpstr>Part 2: Integrated application - a front-view camera installed on a running VIPER</vt:lpstr>
      <vt:lpstr>Scene Configuration</vt:lpstr>
      <vt:lpstr>Let’s change the code first ……</vt:lpstr>
      <vt:lpstr>Set up mechanical properties of the simulation system</vt:lpstr>
      <vt:lpstr>Add a VIPER rover into the system (Lines 343 to 352)</vt:lpstr>
      <vt:lpstr>Create a VIPER-observing camera (Lines 354 to 369)</vt:lpstr>
      <vt:lpstr>Create a VIPER-observing camera (Lines 370 to 388)</vt:lpstr>
      <vt:lpstr>Create a front-end camera installed on the VIPER (Lines 390 to 413)</vt:lpstr>
      <vt:lpstr>Simulate VIPER dynamics in the simulation loop (Lines 462 to 471) </vt:lpstr>
      <vt:lpstr>Show Time</vt:lpstr>
      <vt:lpstr>Case Study 1: Physics-based Camera Simulator</vt:lpstr>
      <vt:lpstr>Case Study 2: VIPER Simulations in the POLAR-Sim Virtual-World</vt:lpstr>
      <vt:lpstr>Any 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sensor_camera</dc:title>
  <dc:creator>Bo-Hsun Chen</dc:creator>
  <cp:lastModifiedBy>Bo-Hsun Chen</cp:lastModifiedBy>
  <cp:revision>747</cp:revision>
  <dcterms:created xsi:type="dcterms:W3CDTF">2020-09-17T18:11:00Z</dcterms:created>
  <dcterms:modified xsi:type="dcterms:W3CDTF">2025-09-09T19:11:52Z</dcterms:modified>
</cp:coreProperties>
</file>