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Why put a human in the loop at all?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start with a task that no controller in this tutorial can do for you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load on a cable, and a pad to put it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gantry crane: four rigid bodies, two speed motors, and a payload hanging on a distance constraint</a:t>
            </a:r>
          </a:p>
          <a:p>
            <a:pPr lvl="1"/>
            <a:r>
              <a:rPr sz="1800"/>
              <a:t>no Chrono::Vehicle anywhere in it, and no autopilot either</a:t>
            </a:r>
          </a:p>
          <a:p>
            <a:pPr/>
            <a:r>
              <a:rPr sz="2000"/>
              <a:t>Steering drives the trolley across, throttle and braking drive it along the rail</a:t>
            </a:r>
          </a:p>
          <a:p>
            <a:pPr lvl="1"/>
            <a:r>
              <a:rPr sz="1800"/>
              <a:t>the load then does whatever physics says, and it swings, with nothing to damp it but you</a:t>
            </a:r>
          </a:p>
          <a:p>
            <a:pPr/>
            <a:r>
              <a:rPr sz="2000"/>
              <a:t>The task: set it down on the green pad with the swing under 2 degrees</a:t>
            </a:r>
          </a:p>
          <a:p>
            <a:pPr lvl="1"/>
            <a:r>
              <a:rPr sz="1800"/>
              <a:t>the console prints the swing angle and how far the load is from the pad</a:t>
            </a:r>
          </a:p>
          <a:p>
            <a:pPr/>
            <a:r>
              <a:rPr sz="2000"/>
              <a:t>It is genuinely hard, and that difficulty is the entire argument for putting a human in a simulation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 = "crane"</a:t>
            </a:r>
            <a:r>
              <a:rPr sz="2000"/>
              <a:t>, </a:t>
            </a:r>
            <a:r>
              <a:rPr sz="1800">
                <a:latin typeface="Consolas"/>
              </a:rPr>
              <a:t>INPUT_SOURCE = "udp"</a:t>
            </a:r>
            <a:r>
              <a:rPr sz="2000"/>
              <a:t> - the operator console in a second terminal</a:t>
            </a:r>
          </a:p>
          <a:p>
            <a:pPr/>
            <a:r>
              <a:rPr sz="2000"/>
              <a:t>Watch what the operator is doing: leading the swing, not chasing it. No controller here is doing that</a:t>
            </a:r>
          </a:p>
          <a:p>
            <a:pPr/>
            <a:r>
              <a:rPr sz="2000"/>
              <a:t>Nothing on screen is vehicle-specific. So what does Chrono actually require of a human interface?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Chrono actually requires of a human interface (Lines 151 to 178)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class DriverInputs: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"""The whole ChDriver contract, in Python."""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SetSteering(self,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SetThrottle(self,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SetBraking(self,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GetInputs(self):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return self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Three floats per step: steering [-1, 1], throttle [0, 1], braking [0, 1]</a:t>
            </a:r>
          </a:p>
          <a:p>
            <a:r>
              <a:rPr sz="1600">
                <a:latin typeface="Consolas"/>
              </a:rPr>
              <a:t>veh.ChDriver</a:t>
            </a:r>
            <a:r>
              <a:rPr sz="1800"/>
              <a:t> is the same container in C++; this Python stand-in is what the rover and the crane use</a:t>
            </a:r>
          </a:p>
          <a:p>
            <a:r>
              <a:rPr sz="1800"/>
              <a:t>That is the entire contract. Everything else in this talk is about filling it in, on time, from somewhere real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Two hard parts, and a lot that follows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Filling in three floats is easy. Two things around it are not, and both are the transferable part:</a:t>
            </a:r>
          </a:p>
          <a:p>
            <a:pPr lvl="1"/>
            <a:r>
              <a:rPr sz="1800"/>
              <a:t>PART 1: keeping the simulation running at wall-clock speed, and knowing when it isn't</a:t>
            </a:r>
          </a:p>
          <a:p>
            <a:pPr lvl="1"/>
            <a:r>
              <a:rPr sz="1800"/>
              <a:t>PART 4: taking input from a device Chrono has never heard of, and closing the loop back to it</a:t>
            </a:r>
          </a:p>
          <a:p>
            <a:pPr/>
            <a:r>
              <a:rPr sz="2000"/>
              <a:t>In between, the easy case: PART 2, a human on the keyboard, which Chrono already does for you</a:t>
            </a:r>
          </a:p>
          <a:p>
            <a:pPr/>
            <a:r>
              <a:rPr sz="2000"/>
              <a:t>At the end, how far the same loop stretches: gear (6), the Mcity digital twin (7), rover and crane (8)</a:t>
            </a:r>
          </a:p>
          <a:p>
            <a:pPr lvl="1"/>
            <a:r>
              <a:rPr sz="1800"/>
              <a:t>Parts 3 and 5 - gamepad/wheel, vehicle picker, overlay flags - are in the repo; no time today</a:t>
            </a:r>
          </a:p>
          <a:p>
            <a:pPr/>
            <a:r>
              <a:rPr sz="2000"/>
              <a:t>Everything runs in PyChrono; no special hardware is required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6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6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 - drive it with the arrow keys</a:t>
            </a:r>
          </a:p>
          <a:p>
            <a:pPr/>
            <a:r>
              <a:rPr sz="2000"/>
              <a:t>All switches are in the </a:t>
            </a:r>
            <a:r>
              <a:rPr sz="1800">
                <a:latin typeface="Consolas"/>
              </a:rPr>
              <a:t>CONFIGURATION</a:t>
            </a:r>
            <a:r>
              <a:rPr sz="2000"/>
              <a:t> section at the bottom of </a:t>
            </a:r>
            <a:r>
              <a:rPr sz="1800">
                <a:latin typeface="Consolas"/>
              </a:rPr>
              <a:t>tutorial_HIL_driver.py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Hard 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loop, and where the driver is queried (Lines 674 to 725)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539424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follow_camera()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4 samples the device here; PART 6 applies any gear command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Get driver inputs (three floats) - the whole human-in-the-loop contract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8: hand the three numbers to whatever is being controlled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plant.apply(driver_inputs)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plant.advance(step_size)          # spins here if REALTIME == "vehicle"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system.DoStepDynamics(step_size)  # only for a plant that does not step itself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728144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Synchronize: every module reads what it needs from the others at time t. Advance: every module integrates t to t + step</a:t>
            </a:r>
          </a:p>
          <a:p>
            <a:r>
              <a:rPr sz="1600"/>
              <a:t>The driver is queried BEFORE Synchronize - the human's input is sampled once and held for the whole step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Measure it: sim time vs wall time (Lines 727 to 743)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353562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 ChVehicle measures its own real-time factor per step. The rover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and the crane do not, so it is measured here over the reporting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interval instead: same quantity, coarser sampling.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vehicle.GetRTF()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d_wall = wall - last_wall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d_sim = sim_time - last_sim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(d_wall / d_sim) if d_sim &gt; 0 else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last_wall, last_sim = wall, sim_time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print(f"{sim_time:7.2f} {wall:7.2f} {wall - sim_time:+7.3f} {rtf:6.2f}"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{plant.speed():7.2f}  {driver_inputs.m_steering:6.2f}"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{driver_inputs.m_throttle:5.2f} {driver_inputs.m_braking:5.2f}"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 {plant.status()}")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542282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drift = wall time - simulation time: negative means the sim is ahead of the clock</a:t>
            </a:r>
          </a:p>
          <a:p>
            <a:r>
              <a:rPr sz="1600">
                <a:latin typeface="Consolas"/>
              </a:rPr>
              <a:t>vehicle.GetRTF()</a:t>
            </a:r>
            <a:r>
              <a:rPr sz="1800"/>
              <a:t> is the true RTF of the last step, even when real time is being enforced</a:t>
            </a:r>
          </a:p>
          <a:p>
            <a:r>
              <a:rPr sz="1800"/>
              <a:t>A rover or a crane has no </a:t>
            </a:r>
            <a:r>
              <a:rPr sz="1600">
                <a:latin typeface="Consolas"/>
              </a:rPr>
              <a:t>GetRTF()</a:t>
            </a:r>
            <a:r>
              <a:rPr sz="1800"/>
              <a:t>, so the same number is measured here over the reporting interval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REALTIME = "none"</a:t>
            </a:r>
            <a:r>
              <a:rPr sz="2000"/>
              <a:t>: watch the drift column run away</a:t>
            </a:r>
          </a:p>
          <a:p>
            <a:pPr/>
            <a:r>
              <a:rPr sz="2000"/>
              <a:t>Change </a:t>
            </a:r>
            <a:r>
              <a:rPr sz="1800">
                <a:latin typeface="Consolas"/>
              </a:rPr>
              <a:t>step_size</a:t>
            </a:r>
            <a:r>
              <a:rPr sz="2000"/>
              <a:t> to 5e-4 - RTF goes above 1 and the sim can never be real-time, whatever the timer does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Enforce real time, three ways (Lines 631 to 645, 71 to 88)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71335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PART 8: there is no vehicle to do the spinning, so fall back to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the timer that does the same thing from outside.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the third option, defined at the top of the file: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0207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"vehicle" spins inside </a:t>
            </a:r>
            <a:r>
              <a:rPr sz="1400">
                <a:latin typeface="Consolas"/>
              </a:rPr>
              <a:t>vehicle.Advance()</a:t>
            </a:r>
            <a:r>
              <a:rPr sz="1600"/>
              <a:t>; "per_step" is the same timer called explicitly; "cumulative" is ours</a:t>
            </a:r>
          </a:p>
          <a:p>
            <a:r>
              <a:rPr sz="1600"/>
              <a:t>Per-step timers never recover time lost on a slow step. Comparing TOTAL sim time to TOTAL wall time does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Getting a human's input 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the easy case: a device Chrono already knows about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keyboard, and the free gear keys (Lines 535 to 546, 589 to 592)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... and then, when the Irrlicht window is built: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plant.attach(vis)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Each keypress moves a TARGET by "delta"; the applied input follows it with a first-order lag (</a:t>
            </a:r>
            <a:r>
              <a:rPr sz="1600">
                <a:latin typeface="Consolas"/>
              </a:rPr>
              <a:t>SetGains</a:t>
            </a:r>
            <a:r>
              <a:rPr sz="1800"/>
              <a:t>)</a:t>
            </a:r>
          </a:p>
          <a:p>
            <a:r>
              <a:rPr sz="1600">
                <a:latin typeface="Consolas"/>
              </a:rPr>
              <a:t>AttachDriver</a:t>
            </a:r>
            <a:r>
              <a:rPr sz="1800"/>
              <a:t> forwards the window's key events - and binds Chrono's own gear keys </a:t>
            </a:r>
            <a:r>
              <a:rPr sz="1600">
                <a:latin typeface="Consolas"/>
              </a:rPr>
              <a:t>Z X T [ ]</a:t>
            </a:r>
            <a:r>
              <a:rPr sz="1800"/>
              <a:t> without a line of your code</a:t>
            </a:r>
          </a:p>
          <a:p>
            <a:r>
              <a:rPr sz="1800"/>
              <a:t>The same driver reads a gamepad or wheel natively: </a:t>
            </a:r>
            <a:r>
              <a:rPr sz="1600">
                <a:latin typeface="Consolas"/>
              </a:rPr>
              <a:t>SetInputMode(JOYSTICK)</a:t>
            </a:r>
            <a:r>
              <a:rPr sz="1800"/>
              <a:t>, presets ship with Chrono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Driving the HMMWV with the arrow keys - watch the Irrlicht HUD (speed, inputs, RTF)</a:t>
            </a:r>
          </a:p>
          <a:p>
            <a:pPr/>
            <a:r>
              <a:rPr sz="1800">
                <a:latin typeface="Consolas"/>
              </a:rPr>
              <a:t>T</a:t>
            </a:r>
            <a:r>
              <a:rPr sz="2000"/>
              <a:t> then </a:t>
            </a:r>
            <a:r>
              <a:rPr sz="1800">
                <a:latin typeface="Consolas"/>
              </a:rPr>
              <a:t>[</a:t>
            </a:r>
            <a:r>
              <a:rPr sz="2000"/>
              <a:t>: take an automatic out of auto and hold a gear through a corner. Nothing was written to get that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Hard part 2: a device Chrono doesn't know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a UDP console, a phone, a motion platform, another process, another machine...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Two processes, one UDP contract</a:t>
            </a:r>
          </a:p>
        </p:txBody>
      </p:sp>
      <p:sp>
        <p:nvSpPr>
          <p:cNvPr id="3" name="NoteBox"/>
          <p:cNvSpPr txBox="1"/>
          <p:nvPr/>
        </p:nvSpPr>
        <p:spPr>
          <a:xfrm>
            <a:off x="402336" y="5248656"/>
            <a:ext cx="11393424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Both directions are plain UDP datagrams - two processes, possibly two machines, no shared memory. The return arrow only fires when SEND_FEEDBACK = True.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9632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1768" y="1947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→ steering, throttle, braking, gear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1768" y="4151376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speed, RTF, lateral accel, gear ←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UDP input source (Lines 219 to 269)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978408"/>
            <a:ext cx="12191969" cy="482403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'steering,throttle,braking[,gear]'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Non-blocking: the physics loop never waits.  No packet since the last step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means the previous target is held (zero-order hold)."""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self.gear_commands = []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queued and keep only the newest packet.  Gear commands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are the exception: they accumulate, because dropping one loses a shift.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fields = data.decode().split(",")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&lt; 3: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fields[:3])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&gt; 3 and fields[3] and fields[3] != "-":   # PART 6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self.gear_commands.append(fields[3][0])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39599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Non-blocking socket, drained every step: the newest packet wins, and an empty queue holds the last value</a:t>
            </a:r>
          </a:p>
          <a:p>
            <a:r>
              <a:rPr sz="1600"/>
              <a:t>The operator can be anywhere on the network, and the console has no Chrono dependency at all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Sample once, hold, then send state back (Lines 684 to 696, 745 to 755)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9712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6: gear commands are events, not levels, so they are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once each rather than held like the three numbers above.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gearbox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for command in device.take_gear_commands():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gearbox.command_char(command)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at the end of the same step: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feedback to the operator (speed, RTF, lateral acceleration,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inputs, and since PART 6 the gear)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acc = (vehicle.GetPointAcceleration(chrono.ChVector3d(0, 0, 0)).y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if vehicle else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rtf = vehicle.GetRTF() if vehicle else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gear = gearbox.describe() if gearbox else plant.status() or "--"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device.send_feedback(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f"{sim_time:.3f},{plant.speed():.3f},{rtf:.3f},{acc:.3f},"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f"{driver_inputs.m_steering:.3f},{driver_inputs.m_throttle:.3f},"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f"{driver_inputs.m_braking:.3f},{gear}")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8584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poll -&gt; smooth -&gt; write, then </a:t>
            </a:r>
            <a:r>
              <a:rPr sz="1400">
                <a:latin typeface="Consolas"/>
              </a:rPr>
              <a:t>GetInputs()</a:t>
            </a:r>
            <a:r>
              <a:rPr sz="1600"/>
              <a:t> as before; the physics loop never waits on the device</a:t>
            </a:r>
          </a:p>
          <a:p>
            <a:r>
              <a:rPr sz="1600"/>
              <a:t>Feedback goes back at render rate (50 Hz), not every physics step - the human cannot use 333 Hz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1800">
                <a:latin typeface="Consolas"/>
              </a:rPr>
              <a:t>SEND_FEEDBACK = True</a:t>
            </a:r>
            <a:r>
              <a:rPr sz="2000"/>
              <a:t>: speed, RTF and lateral acceleration come back to the console while you drive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How far this goes: gear, ground, and plant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PART 6 - change gear. A gear is not a fourth float: it belongs to the vehicle, not to the driver</a:t>
            </a:r>
          </a:p>
          <a:p>
            <a:pPr lvl="1"/>
            <a:r>
              <a:rPr sz="1800"/>
              <a:t>the keyboard binds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 once </a:t>
            </a:r>
            <a:r>
              <a:rPr sz="1600">
                <a:latin typeface="Consolas"/>
              </a:rPr>
              <a:t>AttachDriver</a:t>
            </a:r>
            <a:r>
              <a:rPr sz="1800"/>
              <a:t> is called; a socket needs an adapter and a 4th field</a:t>
            </a:r>
          </a:p>
          <a:p>
            <a:pPr lvl="1"/>
            <a:r>
              <a:rPr sz="1800"/>
              <a:t>a level is held, an event is drained - one press of ']' is one upshift, not "keep upshifting"</a:t>
            </a:r>
          </a:p>
          <a:p>
            <a:pPr/>
            <a:r>
              <a:rPr sz="2000"/>
              <a:t>PART 7 - drive somewhere real. </a:t>
            </a:r>
            <a:r>
              <a:rPr sz="1800">
                <a:latin typeface="Consolas"/>
              </a:rPr>
              <a:t>SCENE = "mcity"</a:t>
            </a:r>
            <a:r>
              <a:rPr sz="2000"/>
              <a:t> puts the car in the Mcity digital twin</a:t>
            </a:r>
          </a:p>
          <a:p>
            <a:pPr lvl="1"/>
            <a:r>
              <a:rPr sz="1800"/>
              <a:t>road surface as a collision mesh, 860 scenery placements over 230 meshes, </a:t>
            </a:r>
            <a:r>
              <a:rPr sz="1600">
                <a:latin typeface="Consolas"/>
              </a:rPr>
              <a:t>MCITY_DETAIL</a:t>
            </a:r>
            <a:r>
              <a:rPr sz="1800"/>
              <a:t> trades scenery for frame rate</a:t>
            </a:r>
          </a:p>
          <a:p>
            <a:pPr/>
            <a:r>
              <a:rPr sz="2000"/>
              <a:t>PART 8 - control something that isn't a car. </a:t>
            </a:r>
            <a:r>
              <a:rPr sz="1800">
                <a:latin typeface="Consolas"/>
              </a:rPr>
              <a:t>PLANT = "rover"</a:t>
            </a:r>
            <a:r>
              <a:rPr sz="2000"/>
              <a:t> or </a:t>
            </a:r>
            <a:r>
              <a:rPr sz="1800">
                <a:latin typeface="Consolas"/>
              </a:rPr>
              <a:t>"crane"</a:t>
            </a:r>
          </a:p>
          <a:p>
            <a:pPr lvl="1"/>
            <a:r>
              <a:rPr sz="1800"/>
              <a:t>the crane has no Chrono::Vehicle at all, and the payload swings with nothing to damp it but the operator</a:t>
            </a:r>
          </a:p>
          <a:p>
            <a:pPr/>
            <a:r>
              <a:rPr sz="2000"/>
              <a:t>All three ride the same loop, the same three numbers, and the same operator console, unchanged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  <a:p>
            <a:pPr lvl="1"/>
            <a:r>
              <a:rPr sz="1800"/>
              <a:t>Levels are held, events are drained - a gear is an event</a:t>
            </a:r>
          </a:p>
          <a:p>
            <a:pPr lvl="1"/>
            <a:r>
              <a:rPr sz="1800"/>
              <a:t>Nothing in the pattern needs a vehicle: swap the plant, keep the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Thank you.</a:t>
            </a:r>
          </a:p>
          <a:p>
            <a:r>
              <a:rPr sz="2000"/>
              <a:t>kasha2@wisc.edu</a:t>
            </a:r>
          </a:p>
          <a:p>
            <a:r>
              <a:rPr sz="2000"/>
              <a:t>Simulation-Based Engineering Lab</a:t>
            </a:r>
          </a:p>
          <a:p>
            <a:r>
              <a:rPr sz="2000"/>
              <a:t>University of Wisconsin - Madison</a:t>
            </a:r>
          </a:p>
          <a:p/>
          <a:p>
            <a:r>
              <a:rPr sz="2000"/>
              <a:t>Lab website: http://sbel.wisc.edu</a:t>
            </a:r>
          </a:p>
          <a:p>
            <a:r>
              <a:rPr sz="2000"/>
              <a:t>Chrono website: http://www.projectchrono.org</a:t>
            </a:r>
          </a:p>
          <a:p>
            <a:r>
              <a:rPr sz="2000"/>
              <a:t>Source code: https://github.com/projectchrono</a:t>
            </a:r>
          </a:p>
          <a:p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26</Slides>
  <ScaleCrop>false</ScaleCrop>
  <Company>Simulation-Based Engineering Lab, University of Wisconsin-Madison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 HIL tutorial - recut A: why first</dc:title>
  <dc:creator>Kyle Sha</dc:creator>
  <cp:lastModifiedBy>Kyle Sha</cp:lastModifiedBy>
  <cp:revision>1</cp:revision>
  <dcterms:created xsi:type="dcterms:W3CDTF">2026-09-05T00:00:00Z</dcterms:created>
  <dcterms:modified xsi:type="dcterms:W3CDTF">2026-09-05T00:00:00Z</dcterms:modified>
</cp:coreProperties>
</file>