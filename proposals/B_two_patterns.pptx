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48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ning Fang" initials="LF" lastIdx="1" clrIdx="0">
    <p:extLst>
      <p:ext uri="{19B8F6BF-5375-455C-9EA6-DF929625EA0E}">
        <p15:presenceInfo xmlns:p15="http://schemas.microsoft.com/office/powerpoint/2012/main" userId="S::lfang9@wisc.edu::ad8730f6-191a-4e02-aade-5a65010d37a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5033" autoAdjust="0"/>
  </p:normalViewPr>
  <p:slideViewPr>
    <p:cSldViewPr snapToGrid="0" snapToObjects="1">
      <p:cViewPr varScale="1">
        <p:scale>
          <a:sx n="61" d="100"/>
          <a:sy n="61" d="100"/>
        </p:scale>
        <p:origin x="9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0" d="100"/>
          <a:sy n="80" d="100"/>
        </p:scale>
        <p:origin x="404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48" Type="http://schemas.openxmlformats.org/officeDocument/2006/relationships/notesMaster" Target="notesMasters/notesMaster1.xml"/><Relationship Id="rId49" Type="http://schemas.openxmlformats.org/officeDocument/2006/relationships/commentAuthors" Target="commentAuthors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783B2-C5E5-FB41-ACA0-2F481156207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D381F-568E-9849-8D19-16CED507F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6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849365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3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lnSpc>
                <a:spcPts val="192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1" b="23509"/>
          <a:stretch/>
        </p:blipFill>
        <p:spPr>
          <a:xfrm>
            <a:off x="10402572" y="373009"/>
            <a:ext cx="1425933" cy="31474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AB6B121-EA4A-6511-1136-8B5B796F5E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909" y="816924"/>
            <a:ext cx="887787" cy="4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0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552" y="293245"/>
            <a:ext cx="9875520" cy="9061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552" y="1313782"/>
            <a:ext cx="10939848" cy="5203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0974" y="6645811"/>
            <a:ext cx="11644805" cy="18852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University of Wisconsin - Madison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9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42552" y="1749718"/>
            <a:ext cx="10939848" cy="17057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42552" y="3689425"/>
            <a:ext cx="5498366" cy="23263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232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70994" y="1759343"/>
            <a:ext cx="5469924" cy="17057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42552" y="3689425"/>
            <a:ext cx="5498366" cy="232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6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42552" y="1749718"/>
            <a:ext cx="10939848" cy="1705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642552" y="4284120"/>
            <a:ext cx="10939848" cy="1705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2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614615"/>
            <a:ext cx="9966960" cy="2147287"/>
          </a:xfrm>
        </p:spPr>
        <p:txBody>
          <a:bodyPr anchor="b">
            <a:noAutofit/>
          </a:bodyPr>
          <a:lstStyle>
            <a:lvl1pPr algn="l">
              <a:lnSpc>
                <a:spcPct val="85000"/>
              </a:lnSpc>
              <a:defRPr sz="4400" b="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272744" y="3682656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56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2552" y="2057399"/>
            <a:ext cx="5255328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4254" y="2057400"/>
            <a:ext cx="5107258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67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856" y="1847511"/>
            <a:ext cx="502920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856" y="2721483"/>
            <a:ext cx="502920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6303" y="1845032"/>
            <a:ext cx="5029200" cy="77724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lang="en-US" sz="2400" b="1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Corbel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6303" y="2719322"/>
            <a:ext cx="502920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39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21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5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875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306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946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706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1140" y="243840"/>
            <a:ext cx="9875520" cy="906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552" y="1749717"/>
            <a:ext cx="10939848" cy="4346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0975" y="6645811"/>
            <a:ext cx="2329074" cy="209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47503" y="6645811"/>
            <a:ext cx="2142554" cy="220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49563" y="6646310"/>
            <a:ext cx="1706217" cy="188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1" b="23509"/>
          <a:stretch/>
        </p:blipFill>
        <p:spPr>
          <a:xfrm>
            <a:off x="10402572" y="373009"/>
            <a:ext cx="1425933" cy="3147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A46C1E0-93BA-7130-A5BE-F281C46CA8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909" y="816924"/>
            <a:ext cx="887787" cy="4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8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rgbClr val="003399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Chrono support for Human-in-the-Loop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Speaker: Kyle Sha</a:t>
            </a:r>
          </a:p>
          <a:p>
            <a:r>
              <a:t>(Simulation-Based Engineering Lab)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Two patterns, one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Human-in-the-loop = the simulation runs at wall-clock speed and a person closes the control loop</a:t>
            </a:r>
          </a:p>
          <a:p>
            <a:pPr/>
            <a:r>
              <a:rPr sz="2000"/>
              <a:t>Two things here are worth your time, because they transfer to anything outside Chrono talking to a live sim:</a:t>
            </a:r>
          </a:p>
          <a:p>
            <a:pPr lvl="1"/>
            <a:r>
              <a:rPr sz="1800"/>
              <a:t>PATTERN 1: keeping a simulation real-time, and measuring how well you did</a:t>
            </a:r>
          </a:p>
          <a:p>
            <a:pPr lvl="1"/>
            <a:r>
              <a:rPr sz="1800"/>
              <a:t>PATTERN 2: taking input from a device Chrono has never heard of, and closing the loop back to it</a:t>
            </a:r>
          </a:p>
          <a:p>
            <a:pPr/>
            <a:r>
              <a:rPr sz="2000"/>
              <a:t>Between them, the easy case: a human on the keyboard, which Chrono already does for you</a:t>
            </a:r>
          </a:p>
          <a:p>
            <a:pPr/>
            <a:r>
              <a:rPr sz="2000"/>
              <a:t>The contract joining all of it is three floats per step, in, and some state, out</a:t>
            </a:r>
          </a:p>
          <a:p>
            <a:pPr/>
            <a:r>
              <a:rPr sz="2000"/>
              <a:t>Everything runs in PyChrono; no special hardware is required</a:t>
            </a:r>
          </a:p>
          <a:p>
            <a:pPr lvl="1"/>
            <a:r>
              <a:rPr sz="1800"/>
              <a:t>the rest of the repo - gamepad, gears, Mcity, a rover, a crane - is one slide at the end and a README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Before we start ......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This is a walkthrough - nothing to install right now; everything runs on my machine</a:t>
            </a:r>
          </a:p>
          <a:p>
            <a:pPr/>
            <a:r>
              <a:rPr sz="2000"/>
              <a:t>Code, slides and a written walkthrough: github.com/ksha23/chrono-hil-tutorial</a:t>
            </a:r>
          </a:p>
          <a:p>
            <a:pPr/>
            <a:r>
              <a:rPr sz="2000"/>
              <a:t>To run it yourself afterward:</a:t>
            </a:r>
          </a:p>
          <a:p>
            <a:pPr lvl="1"/>
            <a:r>
              <a:rPr sz="1600">
                <a:latin typeface="Consolas"/>
              </a:rPr>
              <a:t>conda create -n chrono_hil -c projectchrono -c conda-forge pychrono pygame python=3.13</a:t>
            </a:r>
          </a:p>
          <a:p>
            <a:pPr lvl="1"/>
            <a:r>
              <a:rPr sz="1600">
                <a:latin typeface="Consolas"/>
              </a:rPr>
              <a:t>conda activate chrono_hil</a:t>
            </a:r>
          </a:p>
          <a:p>
            <a:pPr/>
            <a:r>
              <a:rPr sz="2000"/>
              <a:t>Do NOT </a:t>
            </a:r>
            <a:r>
              <a:rPr sz="1800">
                <a:latin typeface="Consolas"/>
              </a:rPr>
              <a:t>pip install pychrono</a:t>
            </a:r>
            <a:r>
              <a:rPr sz="2000"/>
              <a:t> - the PyPI package with that name is an unrelated library</a:t>
            </a:r>
          </a:p>
          <a:p>
            <a:pPr/>
            <a:r>
              <a:rPr sz="1800">
                <a:latin typeface="Consolas"/>
              </a:rPr>
              <a:t>python tutorial_HIL_driver.py</a:t>
            </a:r>
            <a:r>
              <a:rPr sz="2000"/>
              <a:t> opens an Irrlicht window with an HMMWV - drive it with W/A/S/D</a:t>
            </a:r>
          </a:p>
          <a:p>
            <a:pPr/>
            <a:r>
              <a:rPr sz="2000"/>
              <a:t>All switches are in the </a:t>
            </a:r>
            <a:r>
              <a:rPr sz="1800">
                <a:latin typeface="Consolas"/>
              </a:rPr>
              <a:t>CONFIGURATION</a:t>
            </a:r>
            <a:r>
              <a:rPr sz="2000"/>
              <a:t> section at the bottom of </a:t>
            </a:r>
            <a:r>
              <a:rPr sz="1800">
                <a:latin typeface="Consolas"/>
              </a:rPr>
              <a:t>tutorial_HIL_driver.py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What Chrono actually requires of a human interface (Lines 151 to 178)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733038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200">
                <a:solidFill>
                  <a:srgbClr val="CCCCCC"/>
                </a:solidFill>
                <a:latin typeface="Consolas"/>
              </a:rPr>
              <a:t>class DriverInputs: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"""The whole ChDriver contract, in Python."""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__init__(self):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self.m_steering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self.m_throttle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self.m_braking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SetSteering(self,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self.m_steering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SetThrottle(self,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self.m_throttle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SetBraking(self,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self.m_braking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GetInputs(self):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return self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921758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Three floats per step: steering [-1, 1], throttle [0, 1], braking [0, 1]</a:t>
            </a:r>
          </a:p>
          <a:p>
            <a:r>
              <a:rPr sz="1600">
                <a:latin typeface="Consolas"/>
              </a:rPr>
              <a:t>veh.ChDriver</a:t>
            </a:r>
            <a:r>
              <a:rPr sz="1800"/>
              <a:t> is the same container in C++; this Python stand-in is what the rover and the crane use</a:t>
            </a:r>
          </a:p>
          <a:p>
            <a:r>
              <a:rPr sz="1800"/>
              <a:t>That is the entire contract. Everything else in this talk is about filling it in, on time, from somewhere real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Pattern 1: keep the simulation real-time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What "real-time" means in Chrono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Chrono integrates as fast as it can; it has no notion of wall-clock time by itself</a:t>
            </a:r>
          </a:p>
          <a:p>
            <a:pPr/>
            <a:r>
              <a:rPr sz="2000"/>
              <a:t>Real Time Factor: RTF = compute time for a step / step size</a:t>
            </a:r>
          </a:p>
          <a:p>
            <a:pPr lvl="1"/>
            <a:r>
              <a:rPr sz="1800"/>
              <a:t>RTF &lt; 1: faster than real time - we must WAIT after each step</a:t>
            </a:r>
          </a:p>
          <a:p>
            <a:pPr lvl="1"/>
            <a:r>
              <a:rPr sz="1800"/>
              <a:t>RTF &gt; 1: slower than real time - nothing can be done except a cheaper model or a bigger step</a:t>
            </a:r>
          </a:p>
          <a:p>
            <a:pPr/>
            <a:r>
              <a:rPr sz="2000"/>
              <a:t>Soft real-time: spin after each step until wall time catches up with simulation time</a:t>
            </a:r>
          </a:p>
          <a:p>
            <a:pPr lvl="1"/>
            <a:r>
              <a:rPr sz="1800"/>
              <a:t>No OS scheduling guarantees; good enough for a driving simulator, not for a control ECU</a:t>
            </a:r>
          </a:p>
          <a:p>
            <a:pPr/>
            <a:r>
              <a:rPr sz="2000"/>
              <a:t>Three equivalent mechanisms in PyChrono: </a:t>
            </a:r>
            <a:r>
              <a:rPr sz="1800">
                <a:latin typeface="Consolas"/>
              </a:rPr>
              <a:t>ChRealtimeStepTimer</a:t>
            </a:r>
            <a:r>
              <a:rPr sz="2000"/>
              <a:t>, </a:t>
            </a:r>
            <a:r>
              <a:rPr sz="1800">
                <a:latin typeface="Consolas"/>
              </a:rPr>
              <a:t>ChVehicle.EnableRealtime</a:t>
            </a:r>
            <a:r>
              <a:rPr sz="2000"/>
              <a:t>, or your own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The loop, and where the driver is queried (Lines 700 to 751)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4539424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900">
                <a:solidFill>
                  <a:srgbClr val="CCCCCC"/>
                </a:solidFill>
                <a:latin typeface="Consolas"/>
              </a:rPr>
              <a:t>while vis.Run():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sim_time = system.GetChTime()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Render scene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if step_number % render_steps == 0: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follow_camera()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vis.BeginScene()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vis.Render()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vis.EndScene()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PART 4 samples the device here; PART 6 applies any gear command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...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Get driver inputs (three floats) - the whole human-in-the-loop contract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driver_inputs = driver.GetInputs()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PART 8: hand the three numbers to whatever is being controlled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plant.apply(driver_inputs)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Update modules (process inputs from other modules)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driver.Synchronize(sim_time)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terrain.Synchronize(sim_time)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plant.synchronize(sim_time, 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vis.Synchronize(sim_time, 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Advance simulation for one timestep for all modules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driver.Advance(step_size)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terrain.Advance(step_size)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plant.advance(step_size)          # spins here if REALTIME == "vehicle"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system.DoStepDynamics(step_size)  # only for a plant that does not step itself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vis.Advance(step_size)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728144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Synchronize: every module reads what it needs from the others at time t. Advance: every module integrates t to t + step</a:t>
            </a:r>
          </a:p>
          <a:p>
            <a:r>
              <a:rPr sz="1600"/>
              <a:t>The driver is queried BEFORE Synchronize - the human's input is sampled once and held for the whole step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Measure it: sim time vs wall time (Lines 753 to 769)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353562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200">
                <a:solidFill>
                  <a:srgbClr val="CCCCCC"/>
                </a:solidFill>
                <a:latin typeface="Consolas"/>
              </a:rPr>
              <a:t># Console report: how far is the sim from wall time?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if step_number % report_steps == 0: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wall = time.perf_counter() - wall_start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A ChVehicle measures its own real-time factor per step. The rover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and the crane do not, so it is measured here over the reporting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interval instead: same quantity, coarser sampling.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if vehicle: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rtf = vehicle.GetRTF()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else: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d_wall = wall - last_wall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d_sim = sim_time - last_sim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rtf = (d_wall / d_sim) if d_sim &gt; 0 else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last_wall, last_sim = wall, sim_time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print(f"{sim_time:7.2f} {wall:7.2f} {wall - sim_time:+7.3f} {rtf:6.2f}"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  f" {plant.speed():7.2f}  {driver_inputs.m_steering:6.2f}"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  f" {driver_inputs.m_throttle:5.2f} {driver_inputs.m_braking:5.2f}"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  f"  {plant.status()}")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542282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drift = wall time - simulation time: negative means the sim is ahead of the clock</a:t>
            </a:r>
          </a:p>
          <a:p>
            <a:r>
              <a:rPr sz="1600">
                <a:latin typeface="Consolas"/>
              </a:rPr>
              <a:t>vehicle.GetRTF()</a:t>
            </a:r>
            <a:r>
              <a:rPr sz="1800"/>
              <a:t> is the true RTF of the last step, even when real time is being enforced</a:t>
            </a:r>
          </a:p>
          <a:p>
            <a:r>
              <a:rPr sz="1800"/>
              <a:t>Measure before you fix. Most of Pattern 1 is knowing the number, not enforcing it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latin typeface="Consolas"/>
              </a:rPr>
              <a:t>REALTIME = "none"</a:t>
            </a:r>
            <a:r>
              <a:rPr sz="2000"/>
              <a:t>: watch the drift column run away</a:t>
            </a:r>
          </a:p>
          <a:p>
            <a:pPr/>
            <a:r>
              <a:rPr sz="2000"/>
              <a:t>Change </a:t>
            </a:r>
            <a:r>
              <a:rPr sz="1800">
                <a:latin typeface="Consolas"/>
              </a:rPr>
              <a:t>step_size</a:t>
            </a:r>
            <a:r>
              <a:rPr sz="2000"/>
              <a:t> to 5e-4 - RTF goes above 1 and the sim can never be real-time, whatever the timer does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Enforce real time, three ways (Lines 657 to 671, 71 to 88)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471335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000">
                <a:solidFill>
                  <a:srgbClr val="CCCCCC"/>
                </a:solidFill>
                <a:latin typeface="Consolas"/>
              </a:rPr>
              <a:t># Real-time setup (PART 1)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realtime_mode = REALTIME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REALTIME == "vehicle":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if vehicle: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vehicle.EnableRealtime(True)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else: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# PART 8: there is no vehicle to do the spinning, so fall back to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# the timer that does the same thing from outside.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realtime_mode = "per_step"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rt_timer = chrono.ChRealtimeStepTimer()  # used when REALTIME == "per_step"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cum_timer = CumulativeRealtimeTimer()    # used when REALTIME == "cumulative"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... and the third option, defined at the top of the file: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class CumulativeRealtimeTimer: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"""Soft real-time that does not accumulate drift.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ChRealtimeStepTimer measures each step independently: any time lost on a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slow step (or spent in Python between steps) is never recovered.  This timer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instead compares the *total* simulated time with the *total* wall time, so a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slow step is followed by a few fast steps that catch back up.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"""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def reset(self):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self.t_start = time.perf_counter()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def spin(self, sim_time):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while time.perf_counter() - self.t_start &lt; sim_time: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    pass  # spin in place until real time catches up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902071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"vehicle" spins inside </a:t>
            </a:r>
            <a:r>
              <a:rPr sz="1400">
                <a:latin typeface="Consolas"/>
              </a:rPr>
              <a:t>vehicle.Advance()</a:t>
            </a:r>
            <a:r>
              <a:rPr sz="1600"/>
              <a:t>; "per_step" is the same timer called explicitly; "cumulative" is ours</a:t>
            </a:r>
          </a:p>
          <a:p>
            <a:r>
              <a:rPr sz="1600"/>
              <a:t>Per-step timers never recover time lost on a slow step. Comparing TOTAL sim time to TOTAL wall time does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Measured on a laptop, HMMWV + TMeasy tires, step 3 ms (RTF ~ 0.14):</a:t>
            </a:r>
          </a:p>
          <a:p>
            <a:pPr lvl="1"/>
            <a:r>
              <a:rPr sz="1800"/>
              <a:t>"none": drift -69 s after 17 s of wall time</a:t>
            </a:r>
          </a:p>
          <a:p>
            <a:pPr lvl="1"/>
            <a:r>
              <a:rPr sz="1800"/>
              <a:t>"per_step": drift +0.012 s after 17 s and growing</a:t>
            </a:r>
          </a:p>
          <a:p>
            <a:pPr lvl="1"/>
            <a:r>
              <a:rPr sz="1800"/>
              <a:t>"vehicle": drift +0.021 s after 17 s and growing</a:t>
            </a:r>
          </a:p>
          <a:p>
            <a:pPr lvl="1"/>
            <a:r>
              <a:rPr sz="1800"/>
              <a:t>"cumulative": drift +0.000 s</a:t>
            </a:r>
          </a:p>
          <a:p>
            <a:pPr/>
            <a:r>
              <a:rPr sz="2000"/>
              <a:t>Drift matters more the closer you are to RTF = 1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easy case: a human on the keyboard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ChInteractiveDriver, and routing events (Lines 535 to 572, 615 to 618)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733038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200">
                <a:solidFill>
                  <a:srgbClr val="CCCCCC"/>
                </a:solidFill>
                <a:latin typeface="Consolas"/>
              </a:rPr>
              <a:t>elif INPUT_SOURCE == "keyboard":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### PART 2: keyboard through the Irrlicht window ###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W/A/S/D drive, 'C' centers steering, 'R' releases the pedals, 'L' locks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the inputs.  ARROW keys are the chase camera, not driving controls.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 = veh.ChInteractiveDriver(vehicle)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steering_time = 1.0  # time to go from 0 to +1 (or from 0 to -1)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throttle_time = 1.0  # time to go from 0 to +1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braking_time = 0.3   # time to go from 0 to +1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driver.SetSteeringDelta(render_step_size / steering_time)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driver.SetThrottleDelta(render_step_size / throttle_time)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driver.SetBrakingDelta(render_step_size / braking_time)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driver.SetGains(4.0, 4.0, 4.0)  # first-order lag from key target to applied input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# ... and then, when the Irrlicht window is built: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vis.AddSkyBox()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plant.attach(vis)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if INPUT_SOURCE in ("keyboard", "gamepad"):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vis.AttachDriver(driver)  # route Irrlicht key/joystick events to the driver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921758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Each keypress moves a TARGET by "delta"; the applied input follows it with a first-order lag (</a:t>
            </a:r>
            <a:r>
              <a:rPr sz="1600">
                <a:latin typeface="Consolas"/>
              </a:rPr>
              <a:t>SetGains</a:t>
            </a:r>
            <a:r>
              <a:rPr sz="1800"/>
              <a:t>)</a:t>
            </a:r>
          </a:p>
          <a:p>
            <a:r>
              <a:rPr sz="1600">
                <a:latin typeface="Consolas"/>
              </a:rPr>
              <a:t>AttachDriver</a:t>
            </a:r>
            <a:r>
              <a:rPr sz="1800"/>
              <a:t> forwards the window's key events - and binds Chrono's gear keys </a:t>
            </a:r>
            <a:r>
              <a:rPr sz="1600">
                <a:latin typeface="Consolas"/>
              </a:rPr>
              <a:t>Z X T [ ]</a:t>
            </a:r>
            <a:r>
              <a:rPr sz="1800"/>
              <a:t> for free</a:t>
            </a:r>
          </a:p>
          <a:p>
            <a:r>
              <a:rPr sz="1800"/>
              <a:t>Nothing else in the loop changes: the driver still just returns three floats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Driving the HMMWV with W/A/S/D - watch the Irrlicht HUD (speed, inputs, RTF)</a:t>
            </a:r>
          </a:p>
          <a:p>
            <a:pPr/>
            <a:r>
              <a:rPr sz="2000"/>
              <a:t>Everything Chrono knows how to read, it reads for you. The rest of the talk is what happens when it doesn't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Pattern 2: a device Chrono doesn't know about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a UDP console, a phone, a motion platform, another process, another machine...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Two processes, one UDP contract</a:t>
            </a:r>
          </a:p>
        </p:txBody>
      </p:sp>
      <p:sp>
        <p:nvSpPr>
          <p:cNvPr id="3" name="NoteBox"/>
          <p:cNvSpPr txBox="1"/>
          <p:nvPr/>
        </p:nvSpPr>
        <p:spPr>
          <a:xfrm>
            <a:off x="402336" y="5248656"/>
            <a:ext cx="11393424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Both directions are plain UDP datagrams - two processes, possibly two machines, no shared memory. The return arrow only fires when SEND_FEEDBACK = True.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2596896"/>
            <a:ext cx="4297680" cy="1453896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0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Operator machine</a:t>
            </a:r>
          </a:p>
          <a:p>
            <a:pPr algn="ctr"/>
            <a:r>
              <a:rPr sz="1800" b="0">
                <a:solidFill>
                  <a:srgbClr val="FFFFFF"/>
                </a:solidFill>
              </a:rPr>
              <a:t>operator_console.py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96328" y="2596896"/>
            <a:ext cx="4297680" cy="1453896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0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Simulation machine</a:t>
            </a:r>
          </a:p>
          <a:p>
            <a:pPr algn="ctr"/>
            <a:r>
              <a:rPr sz="1800" b="0">
                <a:solidFill>
                  <a:srgbClr val="FFFFFF"/>
                </a:solidFill>
              </a:rPr>
              <a:t>tutorial_HIL_driver.py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1768" y="19476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/>
              <a:t>→ steering, throttle, braking, gear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1768" y="4151376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/>
              <a:t>speed, RTF, lateral accel, gear ←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9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A UDP input source (Lines 219 to 269)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978408"/>
            <a:ext cx="12191969" cy="482403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900">
                <a:solidFill>
                  <a:srgbClr val="CCCCCC"/>
                </a:solidFill>
                <a:latin typeface="Consolas"/>
              </a:rPr>
              <a:t>class UdpInput: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"""Receive 'steering,throttle,braking[,gear]' datagrams from an operator.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Non-blocking: the physics loop never waits.  No packet since the last step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means the previous target is held (zero-order hold)."""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def __init__(self, port=9870):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 = socket.socket(socket.AF_INET, socket.SOCK_DGRAM)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self.sock.bind(("0.0.0.0", port))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self.sock.setblocking(False)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self.operator_addr = None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self.last = (0.0, 0.0, 0.0)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self.gear_commands = []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def poll(self):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# Drain everything queued and keep only the newest packet.  Gear commands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# are the exception: they accumulate, because dropping one loses a shift.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while True: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try: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data, addr = self.sock.recvfrom(256)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except BlockingIOError: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break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fields = data.decode().split(",")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if len(fields) &lt; 3: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continue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try: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s, t, b = (float(x) for x in fields[:3])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except ValueError: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continue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self.last = (s, t, b)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self.operator_addr = addr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if len(fields) &gt; 3 and fields[3] and fields[3] != "-":   # PART 6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self.gear_commands.append(fields[3][0])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return self.last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939599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Non-blocking socket, drained every step: the newest packet wins, and an empty queue holds the last value</a:t>
            </a:r>
          </a:p>
          <a:p>
            <a:r>
              <a:rPr sz="1600"/>
              <a:t>The operator can be anywhere on the network, and the console has no Chrono dependency at all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Sample once, hold, then send state back (Lines 710 to 722, 771 to 781)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439712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000">
                <a:solidFill>
                  <a:srgbClr val="CCCCCC"/>
                </a:solidFill>
                <a:latin typeface="Consolas"/>
              </a:rPr>
              <a:t># PART 4: sample the device ONCE per step and hold it for the step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device is not None: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smoother.set_target(*device.poll())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smoother.advance(step_size)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smoother.apply_to(driver)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PART 6: gear commands are events, not levels, so they are applied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once each rather than held like the three numbers above.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if gearbox is not None: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for command in device.take_gear_commands():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    gearbox.command_char(command)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Get driver inputs (three floats) - this is the whole human-in-the-loop contract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driver_inputs = driver.GetInputs()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... and at the end of the same step: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PART 4: feedback to the operator (speed, RTF, lateral acceleration, applied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inputs, and since PART 6 the gear)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SEND_FEEDBACK and device is not None and step_number % render_steps == 0: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acc = (vehicle.GetPointAcceleration(chrono.ChVector3d(0, 0, 0)).y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   if vehicle else 0.0)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rtf = vehicle.GetRTF() if vehicle else 0.0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gear = gearbox.describe() if gearbox else plant.status() or "--"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device.send_feedback(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f"{sim_time:.3f},{plant.speed():.3f},{rtf:.3f},{acc:.3f},"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f"{driver_inputs.m_steering:.3f},{driver_inputs.m_throttle:.3f},"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f"{driver_inputs.m_braking:.3f},{gear}")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585841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poll -&gt; smooth -&gt; write, then </a:t>
            </a:r>
            <a:r>
              <a:rPr sz="1400">
                <a:latin typeface="Consolas"/>
              </a:rPr>
              <a:t>GetInputs()</a:t>
            </a:r>
            <a:r>
              <a:rPr sz="1600"/>
              <a:t> as before; the physics loop never waits on the device</a:t>
            </a:r>
          </a:p>
          <a:p>
            <a:r>
              <a:rPr sz="1600"/>
              <a:t>Feedback goes back at render rate (50 Hz), not every physics step - the human cannot use 333 Hz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Two terminals on one laptop over localhost - or two machines over the network, same code either way</a:t>
            </a:r>
          </a:p>
          <a:p>
            <a:pPr/>
            <a:r>
              <a:rPr sz="1800">
                <a:latin typeface="Consolas"/>
              </a:rPr>
              <a:t>SEND_FEEDBACK = True</a:t>
            </a:r>
            <a:r>
              <a:rPr sz="2000"/>
              <a:t>: speed, RTF and lateral acceleration come back to the console while you drive</a:t>
            </a:r>
          </a:p>
          <a:p>
            <a:pPr/>
            <a:r>
              <a:rPr sz="2000"/>
              <a:t>Stop the console mid-drive: the last input is held - what should a real simulator do here?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How far this goes: gear, ground, and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PART 6 - change gear. A gear is not a fourth float: it belongs to the vehicle, not to the driver</a:t>
            </a:r>
          </a:p>
          <a:p>
            <a:pPr lvl="1"/>
            <a:r>
              <a:rPr sz="1800"/>
              <a:t>the keyboard binds </a:t>
            </a:r>
            <a:r>
              <a:rPr sz="1600">
                <a:latin typeface="Consolas"/>
              </a:rPr>
              <a:t>Z X T [ ]</a:t>
            </a:r>
            <a:r>
              <a:rPr sz="1800"/>
              <a:t> for free once </a:t>
            </a:r>
            <a:r>
              <a:rPr sz="1600">
                <a:latin typeface="Consolas"/>
              </a:rPr>
              <a:t>AttachDriver</a:t>
            </a:r>
            <a:r>
              <a:rPr sz="1800"/>
              <a:t> is called; a socket needs an adapter and a 4th field</a:t>
            </a:r>
          </a:p>
          <a:p>
            <a:pPr lvl="1"/>
            <a:r>
              <a:rPr sz="1800"/>
              <a:t>a level is held, an event is drained - one press of ']' is one upshift, not "keep upshifting"</a:t>
            </a:r>
          </a:p>
          <a:p>
            <a:pPr/>
            <a:r>
              <a:rPr sz="2000"/>
              <a:t>PART 7 - drive somewhere real. </a:t>
            </a:r>
            <a:r>
              <a:rPr sz="1800">
                <a:latin typeface="Consolas"/>
              </a:rPr>
              <a:t>SCENE = "mcity"</a:t>
            </a:r>
            <a:r>
              <a:rPr sz="2000"/>
              <a:t> puts the car in the Mcity digital twin</a:t>
            </a:r>
          </a:p>
          <a:p>
            <a:pPr lvl="1"/>
            <a:r>
              <a:rPr sz="1800"/>
              <a:t>road surface as a collision mesh, 860 scenery placements over 230 meshes, </a:t>
            </a:r>
            <a:r>
              <a:rPr sz="1600">
                <a:latin typeface="Consolas"/>
              </a:rPr>
              <a:t>MCITY_DETAIL</a:t>
            </a:r>
            <a:r>
              <a:rPr sz="1800"/>
              <a:t> trades scenery for frame rate</a:t>
            </a:r>
          </a:p>
          <a:p>
            <a:pPr/>
            <a:r>
              <a:rPr sz="2000"/>
              <a:t>PART 8 - control something that isn't a car. </a:t>
            </a:r>
            <a:r>
              <a:rPr sz="1800">
                <a:latin typeface="Consolas"/>
              </a:rPr>
              <a:t>PLANT = "rover"</a:t>
            </a:r>
            <a:r>
              <a:rPr sz="2000"/>
              <a:t> or </a:t>
            </a:r>
            <a:r>
              <a:rPr sz="1800">
                <a:latin typeface="Consolas"/>
              </a:rPr>
              <a:t>"crane"</a:t>
            </a:r>
          </a:p>
          <a:p>
            <a:pPr lvl="1"/>
            <a:r>
              <a:rPr sz="1800"/>
              <a:t>the crane has no Chrono::Vehicle at all, and the payload swings with nothing to damp it but the operator</a:t>
            </a:r>
          </a:p>
          <a:p>
            <a:pPr/>
            <a:r>
              <a:rPr sz="2000"/>
              <a:t>All three ride the same loop, the same three numbers, and the same operator console, unchanged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Where this goes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Chrono::HIL (github.com/zzhou292/chrono-HIL): the same three-float interface, scaled up</a:t>
            </a:r>
          </a:p>
          <a:p>
            <a:pPr lvl="1"/>
            <a:r>
              <a:rPr sz="1800"/>
              <a:t>SDL steering wheels with force feedback, cumulative real-time timer, multi-vehicle traffic</a:t>
            </a:r>
          </a:p>
          <a:p>
            <a:pPr lvl="1"/>
            <a:r>
              <a:rPr sz="1800"/>
              <a:t>ROS 2 and Unity bridges, teleoperation over the network, deformable (SCM) terrain</a:t>
            </a:r>
          </a:p>
          <a:p>
            <a:pPr/>
            <a:r>
              <a:rPr sz="2000"/>
              <a:t>Chrono::Sensor: cameras/lidar rendered from the vehicle for the operator's screen</a:t>
            </a:r>
          </a:p>
          <a:p>
            <a:pPr/>
            <a:r>
              <a:rPr sz="2000"/>
              <a:t>Chrono::Synchrono: several humans in the same world, each on their own machine</a:t>
            </a:r>
          </a:p>
          <a:p>
            <a:pPr/>
            <a:r>
              <a:rPr sz="2000"/>
              <a:t>Takeaways</a:t>
            </a:r>
          </a:p>
          <a:p>
            <a:pPr lvl="1"/>
            <a:r>
              <a:rPr sz="1800"/>
              <a:t>Real time in Chrono is soft: spin once per step, and measure the drift</a:t>
            </a:r>
          </a:p>
          <a:p>
            <a:pPr lvl="1"/>
            <a:r>
              <a:rPr sz="1800"/>
              <a:t>The human interface is three floats per step, sampled once and smoothed</a:t>
            </a:r>
          </a:p>
          <a:p>
            <a:pPr lvl="1"/>
            <a:r>
              <a:rPr sz="1800"/>
              <a:t>Never let the input device block the physics loop</a:t>
            </a:r>
          </a:p>
          <a:p>
            <a:pPr lvl="1"/>
            <a:r>
              <a:rPr sz="1800"/>
              <a:t>Levels are held, events are drained - a gear is an event</a:t>
            </a:r>
          </a:p>
          <a:p>
            <a:pPr lvl="1"/>
            <a:r>
              <a:rPr sz="1800"/>
              <a:t>Nothing in the pattern needs a vehicle: swap the plant, keep the loop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Any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Thank you.</a:t>
            </a:r>
          </a:p>
          <a:p>
            <a:r>
              <a:rPr sz="2000"/>
              <a:t>kasha2@wisc.edu</a:t>
            </a:r>
          </a:p>
          <a:p>
            <a:r>
              <a:rPr sz="2000"/>
              <a:t>Simulation-Based Engineering Lab</a:t>
            </a:r>
          </a:p>
          <a:p>
            <a:r>
              <a:rPr sz="2000"/>
              <a:t>University of Wisconsin - Madison</a:t>
            </a:r>
          </a:p>
          <a:p/>
          <a:p>
            <a:r>
              <a:rPr sz="2000"/>
              <a:t>Lab website: http://sbel.wisc.edu</a:t>
            </a:r>
          </a:p>
          <a:p>
            <a:r>
              <a:rPr sz="2000"/>
              <a:t>Chrono website: http://www.projectchrono.org</a:t>
            </a:r>
          </a:p>
          <a:p>
            <a:r>
              <a:rPr sz="2000"/>
              <a:t>Source code: https://github.com/projectchrono</a:t>
            </a:r>
          </a:p>
          <a:p>
            <a:r>
              <a:rPr sz="2000"/>
              <a:t>Tutorial code + slides: https://github.com/ksha23/chrono-hil-tutorial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ScaleCrop>false</ScaleCrop>
  <Company>Simulation-Based Engineering Lab, University of Wisconsin-Madison</Company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 HIL tutorial - recut B: the two patterns</dc:title>
  <dc:creator>Kyle Sha</dc:creator>
  <cp:lastModifiedBy>Kyle Sha</cp:lastModifiedBy>
  <cp:revision>1</cp:revision>
  <dcterms:created xsi:type="dcterms:W3CDTF">2026-09-05T00:00:00Z</dcterms:created>
  <dcterms:modified xsi:type="dcterms:W3CDTF">2026-09-05T00:00:00Z</dcterms:modified>
</cp:coreProperties>
</file>