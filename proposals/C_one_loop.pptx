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4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ning Fang" initials="LF" lastIdx="1" clrIdx="0">
    <p:extLst>
      <p:ext uri="{19B8F6BF-5375-455C-9EA6-DF929625EA0E}">
        <p15:presenceInfo xmlns:p15="http://schemas.microsoft.com/office/powerpoint/2012/main" userId="S::lfang9@wisc.edu::ad8730f6-191a-4e02-aade-5a65010d37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5033" autoAdjust="0"/>
  </p:normalViewPr>
  <p:slideViewPr>
    <p:cSldViewPr snapToGrid="0" snapToObjects="1">
      <p:cViewPr varScale="1">
        <p:scale>
          <a:sx n="61" d="100"/>
          <a:sy n="61" d="100"/>
        </p:scale>
        <p:origin x="9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0" d="100"/>
          <a:sy n="80" d="100"/>
        </p:scale>
        <p:origin x="404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48" Type="http://schemas.openxmlformats.org/officeDocument/2006/relationships/notesMaster" Target="notesMasters/notesMaster1.xml"/><Relationship Id="rId49" Type="http://schemas.openxmlformats.org/officeDocument/2006/relationships/commentAuthors" Target="commentAuthors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783B2-C5E5-FB41-ACA0-2F481156207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D381F-568E-9849-8D19-16CED507F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6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849365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3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lnSpc>
                <a:spcPts val="192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AB6B121-EA4A-6511-1136-8B5B796F5E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0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552" y="293245"/>
            <a:ext cx="9875520" cy="9061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552" y="1313782"/>
            <a:ext cx="10939848" cy="5203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0974" y="6645811"/>
            <a:ext cx="11644805" cy="18852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University of Wisconsin - 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232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70994" y="1759343"/>
            <a:ext cx="5469924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6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42552" y="4284120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614615"/>
            <a:ext cx="9966960" cy="2147287"/>
          </a:xfrm>
        </p:spPr>
        <p:txBody>
          <a:bodyPr anchor="b">
            <a:noAutofit/>
          </a:bodyPr>
          <a:lstStyle>
            <a:lvl1pPr algn="l">
              <a:lnSpc>
                <a:spcPct val="85000"/>
              </a:lnSpc>
              <a:defRPr sz="4400" b="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72744" y="3682656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56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552" y="2057399"/>
            <a:ext cx="525532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4254" y="2057400"/>
            <a:ext cx="510725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7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856" y="1847511"/>
            <a:ext cx="502920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856" y="2721483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6303" y="1845032"/>
            <a:ext cx="5029200" cy="77724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lang="en-US" sz="2400" b="1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Corbel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6303" y="2719322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9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1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5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875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306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46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706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1140" y="243840"/>
            <a:ext cx="9875520" cy="906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552" y="1749717"/>
            <a:ext cx="10939848" cy="434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0975" y="6645811"/>
            <a:ext cx="2329074" cy="209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7503" y="6645811"/>
            <a:ext cx="2142554" cy="220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9563" y="6646310"/>
            <a:ext cx="1706217" cy="188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A46C1E0-93BA-7130-A5BE-F281C46CA8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8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rgbClr val="003399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Chrono support for Human-in-the-Loop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Speaker: Kyle Sha</a:t>
            </a:r>
          </a:p>
          <a:p>
            <a:r>
              <a:t>(Simulation-Based Engineering Lab)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One loop, three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Every human-in-the-loop simulation in this tutorial is the same loop:</a:t>
            </a:r>
          </a:p>
          <a:p>
            <a:pPr lvl="1"/>
            <a:r>
              <a:rPr sz="1800"/>
              <a:t>read three numbers from the human -&gt; push them into a model -&gt; step it -&gt; wait for real time -&gt; send some numbers back</a:t>
            </a:r>
          </a:p>
          <a:p>
            <a:pPr/>
            <a:r>
              <a:rPr sz="2000"/>
              <a:t>What changes from part to part is not the loop. It is three variables around it:</a:t>
            </a:r>
          </a:p>
          <a:p>
            <a:pPr lvl="1"/>
            <a:r>
              <a:rPr sz="1800"/>
              <a:t>WHERE THE NUMBERS COME FROM - a keyboard, a wheel, a socket, another machine</a:t>
            </a:r>
          </a:p>
          <a:p>
            <a:pPr lvl="1"/>
            <a:r>
              <a:rPr sz="1800"/>
              <a:t>WHAT THEY DRIVE - a Chrono::Vehicle, a Viper rover, a gantry crane with a swinging load</a:t>
            </a:r>
          </a:p>
          <a:p>
            <a:pPr lvl="1"/>
            <a:r>
              <a:rPr sz="1800"/>
              <a:t>WHERE IT HAPPENS - a 200 x 200 m patch, or the Mcity digital twin</a:t>
            </a:r>
          </a:p>
          <a:p>
            <a:pPr/>
            <a:r>
              <a:rPr sz="2000"/>
              <a:t>The invariant is worth more than any of the variables, so we start there and then change one thing at a time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Before we start ......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This is a walkthrough - nothing to install right now; everything runs on my machine</a:t>
            </a:r>
          </a:p>
          <a:p>
            <a:pPr/>
            <a:r>
              <a:rPr sz="2000"/>
              <a:t>Code, slides and a written walkthrough: github.com/ksha23/chrono-hil-tutorial</a:t>
            </a:r>
          </a:p>
          <a:p>
            <a:pPr/>
            <a:r>
              <a:rPr sz="2000"/>
              <a:t>To run it yourself afterward:</a:t>
            </a:r>
          </a:p>
          <a:p>
            <a:pPr lvl="1"/>
            <a:r>
              <a:rPr sz="1600">
                <a:latin typeface="Consolas"/>
              </a:rPr>
              <a:t>conda create -n chrono_hil -c projectchrono -c conda-forge pychrono pygame python=3.13</a:t>
            </a:r>
          </a:p>
          <a:p>
            <a:pPr lvl="1"/>
            <a:r>
              <a:rPr sz="1600">
                <a:latin typeface="Consolas"/>
              </a:rPr>
              <a:t>conda activate chrono_hil</a:t>
            </a:r>
          </a:p>
          <a:p>
            <a:pPr/>
            <a:r>
              <a:rPr sz="2000"/>
              <a:t>Do NOT </a:t>
            </a:r>
            <a:r>
              <a:rPr sz="1800">
                <a:latin typeface="Consolas"/>
              </a:rPr>
              <a:t>pip install pychrono</a:t>
            </a:r>
            <a:r>
              <a:rPr sz="2000"/>
              <a:t> - the PyPI package with that name is an unrelated library</a:t>
            </a:r>
          </a:p>
          <a:p>
            <a:pPr/>
            <a:r>
              <a:rPr sz="1800">
                <a:latin typeface="Consolas"/>
              </a:rPr>
              <a:t>python tutorial_HIL_driver.py</a:t>
            </a:r>
            <a:r>
              <a:rPr sz="2000"/>
              <a:t> opens an Irrlicht window with an HMMWV - drive it with W/A/S/D</a:t>
            </a:r>
          </a:p>
          <a:p>
            <a:pPr/>
            <a:r>
              <a:rPr sz="2000"/>
              <a:t>All switches are in the </a:t>
            </a:r>
            <a:r>
              <a:rPr sz="1800">
                <a:latin typeface="Consolas"/>
              </a:rPr>
              <a:t>CONFIGURATION</a:t>
            </a:r>
            <a:r>
              <a:rPr sz="2000"/>
              <a:t> section at the bottom of </a:t>
            </a:r>
            <a:r>
              <a:rPr sz="1800">
                <a:latin typeface="Consolas"/>
              </a:rPr>
              <a:t>tutorial_HIL_driver.py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invariant: one 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The loop, and where the driver is queried (Lines 700 to 751)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539424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900">
                <a:solidFill>
                  <a:srgbClr val="CCCCCC"/>
                </a:solidFill>
                <a:latin typeface="Consolas"/>
              </a:rPr>
              <a:t>while vis.Run():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sim_time = system.GetChTime()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Render scene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if step_number % render_steps == 0: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follow_camera()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vis.BeginScene()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vis.Render()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vis.EndScene()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PART 4 samples the device here; PART 6 applies any gear command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...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Get driver inputs (three floats) - the whole human-in-the-loop contract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driver_inputs = driver.GetInputs()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PART 8: hand the three numbers to whatever is being controlled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plant.apply(driver_inputs)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Update modules (process inputs from other modules)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driver.Synchronize(sim_time)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terrain.Synchronize(sim_time)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plant.synchronize(sim_time, 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vis.Synchronize(sim_time, 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Advance simulation for one timestep for all modules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driver.Advance(step_size)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terrain.Advance(step_size)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plant.advance(step_size)          # spins here if REALTIME == "vehicle"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system.DoStepDynamics(step_size)  # only for a plant that does not step itself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vis.Advance(step_size)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728144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Synchronize: every module reads what it needs from the others at time t. Advance: every module integrates t to t + step</a:t>
            </a:r>
          </a:p>
          <a:p>
            <a:r>
              <a:rPr sz="1600"/>
              <a:t>Nothing below </a:t>
            </a:r>
            <a:r>
              <a:rPr sz="1400">
                <a:latin typeface="Consolas"/>
              </a:rPr>
              <a:t>while vis.Run():</a:t>
            </a:r>
            <a:r>
              <a:rPr sz="1600"/>
              <a:t> branches on which part of the tutorial you are on. That is the point of this slide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What Chrono actually requires of a human interface (Lines 151 to 178)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733038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class DriverInputs: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"""The whole ChDriver contract, in Python."""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__init__(self):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self.m_steering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self.m_throttle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self.m_braking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SetSteering(self,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self.m_steering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SetThrottle(self,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self.m_throttle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SetBraking(self,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self.m_braking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GetInputs(self):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return self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921758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Three floats per step: steering [-1, 1], throttle [0, 1], braking [0, 1]</a:t>
            </a:r>
          </a:p>
          <a:p>
            <a:r>
              <a:rPr sz="1600">
                <a:latin typeface="Consolas"/>
              </a:rPr>
              <a:t>veh.ChDriver</a:t>
            </a:r>
            <a:r>
              <a:rPr sz="1800"/>
              <a:t> is the same container in C++; this Python stand-in is what the rover and the crane use</a:t>
            </a:r>
          </a:p>
          <a:p>
            <a:r>
              <a:rPr sz="1800"/>
              <a:t>That is the entire contract. Everything else in this talk is about filling it in, on time, from somewhere real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What "real-time" means in Chrono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 integrates as fast as it can; it has no notion of wall-clock time by itself</a:t>
            </a:r>
          </a:p>
          <a:p>
            <a:pPr/>
            <a:r>
              <a:rPr sz="2000"/>
              <a:t>Real Time Factor: RTF = compute time for a step / step size</a:t>
            </a:r>
          </a:p>
          <a:p>
            <a:pPr lvl="1"/>
            <a:r>
              <a:rPr sz="1800"/>
              <a:t>RTF &lt; 1: faster than real time - we must WAIT after each step</a:t>
            </a:r>
          </a:p>
          <a:p>
            <a:pPr lvl="1"/>
            <a:r>
              <a:rPr sz="1800"/>
              <a:t>RTF &gt; 1: slower than real time - nothing can be done except a cheaper model or a bigger step</a:t>
            </a:r>
          </a:p>
          <a:p>
            <a:pPr/>
            <a:r>
              <a:rPr sz="2000"/>
              <a:t>Soft real-time: spin after each step until wall time catches up with simulation time</a:t>
            </a:r>
          </a:p>
          <a:p>
            <a:pPr lvl="1"/>
            <a:r>
              <a:rPr sz="1800"/>
              <a:t>No OS scheduling guarantees; good enough for a driving simulator, not for a control ECU</a:t>
            </a:r>
          </a:p>
          <a:p>
            <a:pPr/>
            <a:r>
              <a:rPr sz="2000"/>
              <a:t>Three equivalent mechanisms in PyChrono: </a:t>
            </a:r>
            <a:r>
              <a:rPr sz="1800">
                <a:latin typeface="Consolas"/>
              </a:rPr>
              <a:t>ChRealtimeStepTimer</a:t>
            </a:r>
            <a:r>
              <a:rPr sz="2000"/>
              <a:t>, </a:t>
            </a:r>
            <a:r>
              <a:rPr sz="1800">
                <a:latin typeface="Consolas"/>
              </a:rPr>
              <a:t>ChVehicle.EnableRealtime</a:t>
            </a:r>
            <a:r>
              <a:rPr sz="2000"/>
              <a:t>, or your own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Enforce real time, and measure the drift (Lines 657 to 671, 753 to 769)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13220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# Real-time setup (PART 1)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realtime_mode = REALTIME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REALTIME == "vehicle":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vehicle: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vehicle.EnableRealtime(True)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else: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# PART 8: there is no vehicle to do the spinning, so fall back to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# the timer that does the same thing from outside.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realtime_mode = "per_step"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rt_timer = chrono.ChRealtimeStepTimer()  # used when REALTIME == "per_step"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cum_timer = CumulativeRealtimeTimer()    # used when REALTIME == "cumulative"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... and once per simulated second, the report that tells you if it worked: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Console report: how far is the sim from wall time?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step_number % report_steps == 0: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wall = time.perf_counter() - wall_start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...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print(f"{sim_time:7.2f} {wall:7.2f} {wall - sim_time:+7.3f} {rtf:6.2f}"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320921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"vehicle" spins inside </a:t>
            </a:r>
            <a:r>
              <a:rPr sz="1400">
                <a:latin typeface="Consolas"/>
              </a:rPr>
              <a:t>vehicle.Advance()</a:t>
            </a:r>
            <a:r>
              <a:rPr sz="1600"/>
              <a:t>; "per_step" is the same timer called explicitly; "cumulative" compares totals</a:t>
            </a:r>
          </a:p>
          <a:p>
            <a:r>
              <a:rPr sz="1600"/>
              <a:t>A plant with no ChVehicle has nothing to spin for it and no </a:t>
            </a:r>
            <a:r>
              <a:rPr sz="1400">
                <a:latin typeface="Consolas"/>
              </a:rPr>
              <a:t>GetRTF()</a:t>
            </a:r>
            <a:r>
              <a:rPr sz="1600"/>
              <a:t>, so both fall back to doing it from outside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Measured on a laptop, HMMWV + TMeasy tires, step 3 ms (RTF ~ 0.14):</a:t>
            </a:r>
          </a:p>
          <a:p>
            <a:pPr lvl="1"/>
            <a:r>
              <a:rPr sz="1800"/>
              <a:t>"none": drift -69 s after 17 s of wall time</a:t>
            </a:r>
          </a:p>
          <a:p>
            <a:pPr lvl="1"/>
            <a:r>
              <a:rPr sz="1800"/>
              <a:t>"per_step": drift +0.012 s after 17 s and growing</a:t>
            </a:r>
          </a:p>
          <a:p>
            <a:pPr lvl="1"/>
            <a:r>
              <a:rPr sz="1800"/>
              <a:t>"vehicle": drift +0.021 s after 17 s and growing</a:t>
            </a:r>
          </a:p>
          <a:p>
            <a:pPr lvl="1"/>
            <a:r>
              <a:rPr sz="1800"/>
              <a:t>"cumulative": drift +0.000 s</a:t>
            </a:r>
          </a:p>
          <a:p>
            <a:pPr/>
            <a:r>
              <a:rPr sz="2000"/>
              <a:t>Drift matters more the closer you are to RTF = 1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Variable 1: where the numbers come from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The keyboard, which Chrono reads for you (Lines 535 to 572, 615 to 618)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733038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elif INPUT_SOURCE == "keyboard":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### PART 2: keyboard through the Irrlicht window ###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W/A/S/D drive, 'C' centers steering, 'R' releases the pedals, 'L' locks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the inputs.  ARROW keys are the chase camera, not driving controls.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 = veh.ChInteractiveDriver(vehicle)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steering_time = 1.0  # time to go from 0 to +1 (or from 0 to -1)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throttle_time = 1.0  # time to go from 0 to +1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braking_time = 0.3   # time to go from 0 to +1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driver.SetSteeringDelta(render_step_size / steering_time)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driver.SetThrottleDelta(render_step_size / throttle_time)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driver.SetBrakingDelta(render_step_size / braking_time)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driver.SetGains(4.0, 4.0, 4.0)  # first-order lag from key target to applied input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# ... and then, when the Irrlicht window is built: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vis.AddSkyBox()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plant.attach(vis)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if INPUT_SOURCE in ("keyboard", "gamepad"):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vis.AttachDriver(driver)  # route Irrlicht key/joystick events to the driver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921758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Consolas"/>
              </a:rPr>
              <a:t>AttachDriver</a:t>
            </a:r>
            <a:r>
              <a:rPr sz="1800"/>
              <a:t> forwards the window's key events - and binds Chrono's gear keys </a:t>
            </a:r>
            <a:r>
              <a:rPr sz="1600">
                <a:latin typeface="Consolas"/>
              </a:rPr>
              <a:t>Z X T [ ]</a:t>
            </a:r>
            <a:r>
              <a:rPr sz="1800"/>
              <a:t> for free</a:t>
            </a:r>
          </a:p>
          <a:p>
            <a:r>
              <a:rPr sz="1800"/>
              <a:t>A gamepad or wheel is the same class and one more call: </a:t>
            </a:r>
            <a:r>
              <a:rPr sz="1600">
                <a:latin typeface="Consolas"/>
              </a:rPr>
              <a:t>SetInputMode(JOYSTICK)</a:t>
            </a:r>
            <a:r>
              <a:rPr sz="1800"/>
              <a:t>, with presets that ship with Chrono</a:t>
            </a:r>
          </a:p>
          <a:p>
            <a:r>
              <a:rPr sz="1800"/>
              <a:t>For anything else, nothing is wired up for you - which is the next three slides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Two processes, one UDP contract</a:t>
            </a:r>
          </a:p>
        </p:txBody>
      </p:sp>
      <p:sp>
        <p:nvSpPr>
          <p:cNvPr id="3" name="NoteBox"/>
          <p:cNvSpPr txBox="1"/>
          <p:nvPr/>
        </p:nvSpPr>
        <p:spPr>
          <a:xfrm>
            <a:off x="402336" y="5248656"/>
            <a:ext cx="11393424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Both directions are plain UDP datagrams - two processes, possibly two machines, no shared memory. The return arrow only fires when SEND_FEEDBACK = True.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2596896"/>
            <a:ext cx="4297680" cy="145389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Operator machine</a:t>
            </a:r>
          </a:p>
          <a:p>
            <a:pPr algn="ctr"/>
            <a:r>
              <a:rPr sz="1800" b="0">
                <a:solidFill>
                  <a:srgbClr val="FFFFFF"/>
                </a:solidFill>
              </a:rPr>
              <a:t>operator_console.py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96328" y="2596896"/>
            <a:ext cx="4297680" cy="145389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Simulation machine</a:t>
            </a:r>
          </a:p>
          <a:p>
            <a:pPr algn="ctr"/>
            <a:r>
              <a:rPr sz="1800" b="0">
                <a:solidFill>
                  <a:srgbClr val="FFFFFF"/>
                </a:solidFill>
              </a:rPr>
              <a:t>tutorial_HIL_driver.py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1768" y="19476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→ steering, throttle, braking, gear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768" y="415137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speed, RTF, lateral accel, gear ←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A UDP input source (Lines 219 to 269)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978408"/>
            <a:ext cx="12191969" cy="482403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900">
                <a:solidFill>
                  <a:srgbClr val="CCCCCC"/>
                </a:solidFill>
                <a:latin typeface="Consolas"/>
              </a:rPr>
              <a:t>class UdpInput: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"""Receive 'steering,throttle,braking[,gear]' datagrams from an operator.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Non-blocking: the physics loop never waits.  No packet since the last step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means the previous target is held (zero-order hold)."""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__init__(self, port=9870):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 = socket.socket(socket.AF_INET, socket.SOCK_DGRAM)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self.sock.bind(("0.0.0.0", port))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self.sock.setblocking(False)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self.operator_addr = None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self.last = (0.0, 0.0, 0.0)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self.gear_commands = []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poll(self):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# Drain everything queued and keep only the newest packet.  Gear commands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# are the exception: they accumulate, because dropping one loses a shift.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while True: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data, addr = self.sock.recvfrom(256)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BlockingIOError: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break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fields = data.decode().split(",")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if len(fields) &lt; 3: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continue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s, t, b = (float(x) for x in fields[:3])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ValueError: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continue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self.last = (s, t, b)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self.operator_addr = addr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if len(fields) &gt; 3 and fields[3] and fields[3] != "-":   # PART 6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self.gear_commands.append(fields[3][0])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return self.last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939599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Non-blocking socket, drained every step: the newest packet wins, and an empty queue holds the last value</a:t>
            </a:r>
          </a:p>
          <a:p>
            <a:r>
              <a:rPr sz="1600"/>
              <a:t>The operator can be anywhere on the network, and the console has no Chrono dependency at all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Sample once, hold, then send state back (Lines 710 to 722, 771 to 781)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39712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# PART 4: sample the device ONCE per step and hold it for the step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device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smoother.set_target(*device.poll())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smoother.advance(step_size)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smoother.apply_to(driver)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PART 6: gear commands are events, not levels, so they are applied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once each rather than held like the three numbers above.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gearbox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for command in device.take_gear_commands():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 gearbox.command_char(command)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Get driver inputs (three floats) - this is the whole human-in-the-loop contract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driver_inputs = driver.GetInputs()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... and at the end of the same step: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PART 4: feedback to the operator (speed, RTF, lateral acceleration, applied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inputs, and since PART 6 the gear)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SEND_FEEDBACK and device is not None and step_number % render_steps == 0: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acc = (vehicle.GetPointAcceleration(chrono.ChVector3d(0, 0, 0)).y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if vehicle else 0.0)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rtf = vehicle.GetRTF() if vehicle else 0.0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gear = gearbox.describe() if gearbox else plant.status() or "--"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device.send_feedback(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f"{sim_time:.3f},{plant.speed():.3f},{rtf:.3f},{acc:.3f},"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f"{driver_inputs.m_steering:.3f},{driver_inputs.m_throttle:.3f},"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f"{driver_inputs.m_braking:.3f},{gear}")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585841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poll -&gt; smooth -&gt; write, then </a:t>
            </a:r>
            <a:r>
              <a:rPr sz="1400">
                <a:latin typeface="Consolas"/>
              </a:rPr>
              <a:t>GetInputs()</a:t>
            </a:r>
            <a:r>
              <a:rPr sz="1600"/>
              <a:t> as before; the physics loop never waits on the device</a:t>
            </a:r>
          </a:p>
          <a:p>
            <a:r>
              <a:rPr sz="1600"/>
              <a:t>Feedback goes back at render rate (50 Hz), not every physics step - the human cannot use 333 Hz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Two terminals on one laptop over localhost - or two machines over the network, same code either way</a:t>
            </a:r>
          </a:p>
          <a:p>
            <a:pPr/>
            <a:r>
              <a:rPr sz="2000"/>
              <a:t>Stop the console mid-drive: the last input is held - what should a real simulator do here?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Variable 2: what the numbers drive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PLANT: a car, a rover, a crane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latin typeface="Consolas"/>
              </a:rPr>
              <a:t>PLANT</a:t>
            </a:r>
            <a:r>
              <a:rPr sz="2000"/>
              <a:t> switches what the same three numbers, from the same devices, are wired into</a:t>
            </a:r>
          </a:p>
          <a:p>
            <a:pPr lvl="1"/>
            <a:r>
              <a:rPr sz="1600">
                <a:latin typeface="Consolas"/>
              </a:rPr>
              <a:t>"vehicle"</a:t>
            </a:r>
            <a:r>
              <a:rPr sz="1800"/>
              <a:t> a Chrono::Vehicle - steering, throttle, braking, as usual</a:t>
            </a:r>
          </a:p>
          <a:p>
            <a:pPr lvl="1"/>
            <a:r>
              <a:rPr sz="1600">
                <a:latin typeface="Consolas"/>
              </a:rPr>
              <a:t>"rover"</a:t>
            </a:r>
            <a:r>
              <a:rPr sz="1800"/>
              <a:t> a Viper rover - steering becomes a wheel angle in radians, throttle a commanded wheel speed</a:t>
            </a:r>
          </a:p>
          <a:p>
            <a:pPr lvl="1"/>
            <a:r>
              <a:rPr sz="1600">
                <a:latin typeface="Consolas"/>
              </a:rPr>
              <a:t>"crane"</a:t>
            </a:r>
            <a:r>
              <a:rPr sz="1800"/>
              <a:t> a gantry crane - steering becomes cross-travel, throttle and braking forward/reverse travel</a:t>
            </a:r>
          </a:p>
          <a:p>
            <a:pPr/>
            <a:r>
              <a:rPr sz="2000"/>
              <a:t>The rover shows what "the same three numbers" really costs: braking has no meaning there</a:t>
            </a:r>
          </a:p>
          <a:p>
            <a:pPr lvl="1"/>
            <a:r>
              <a:rPr sz="1600">
                <a:latin typeface="Consolas"/>
              </a:rPr>
              <a:t>ViperDriver</a:t>
            </a:r>
            <a:r>
              <a:rPr sz="1800"/>
              <a:t> has no brake input, so holding the brake releases the drive and it coasts. Real limits show up like this</a:t>
            </a:r>
          </a:p>
          <a:p>
            <a:pPr/>
            <a:r>
              <a:rPr sz="2000"/>
              <a:t>Neither has a </a:t>
            </a:r>
            <a:r>
              <a:rPr sz="1800">
                <a:latin typeface="Consolas"/>
              </a:rPr>
              <a:t>ChVehicle</a:t>
            </a:r>
            <a:r>
              <a:rPr sz="2000"/>
              <a:t>, so </a:t>
            </a:r>
            <a:r>
              <a:rPr sz="1800">
                <a:latin typeface="Consolas"/>
              </a:rPr>
              <a:t>ChInteractiveDriver</a:t>
            </a:r>
            <a:r>
              <a:rPr sz="2000"/>
              <a:t> cannot read the keyboard for them - they take UDP, console unchanged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The crane: no Chrono::Vehicle at all (hil_plants.py 319 to 324)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1456182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400">
                <a:solidFill>
                  <a:srgbClr val="CCCCCC"/>
                </a:solidFill>
                <a:latin typeface="Consolas"/>
              </a:rPr>
              <a:t>def apply(self, inputs):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t = self.system.GetChTime()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# Throttle drives forward, braking drives back: two pedals, one axis.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long_cmd = (inputs.m_throttle - inputs.m_braking) * self.MAX_LONG_SPEED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self.long_speed.SetSetpoint(long_cmd, t)</a:t>
            </a:r>
          </a:p>
          <a:p>
            <a:r>
              <a:rPr sz="1400">
                <a:solidFill>
                  <a:srgbClr val="CCCCCC"/>
                </a:solidFill>
                <a:latin typeface="Consolas"/>
              </a:rPr>
              <a:t>    self.cross_speed.SetSetpoint(inputs.m_steering * self.MAX_CROSS_SPEED, t)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2644902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Four rigid bodies, two speed motors and a distance constraint - and that </a:t>
            </a:r>
            <a:r>
              <a:rPr sz="1600">
                <a:latin typeface="Consolas"/>
              </a:rPr>
              <a:t>apply()</a:t>
            </a:r>
            <a:r>
              <a:rPr sz="1800"/>
              <a:t> is the whole interface to it</a:t>
            </a:r>
          </a:p>
          <a:p>
            <a:r>
              <a:rPr sz="1800"/>
              <a:t>The payload swings, with nothing to damp it but the operator, and the console prints the swing angle and the miss distance</a:t>
            </a:r>
          </a:p>
          <a:p>
            <a:r>
              <a:rPr sz="1800"/>
              <a:t>Placing it without a swing is a genuinely hard manual task, which is the clearest answer to why a human goes in the loop at all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latin typeface="Consolas"/>
              </a:rPr>
              <a:t>PLANT = "crane"</a:t>
            </a:r>
            <a:r>
              <a:rPr sz="2000"/>
              <a:t> over </a:t>
            </a:r>
            <a:r>
              <a:rPr sz="1800">
                <a:latin typeface="Consolas"/>
              </a:rPr>
              <a:t>udp</a:t>
            </a:r>
            <a:r>
              <a:rPr sz="2000"/>
              <a:t>: put the load on the green pad with the swing under 2 degrees</a:t>
            </a:r>
          </a:p>
          <a:p>
            <a:pPr/>
            <a:r>
              <a:rPr sz="2000"/>
              <a:t>Then </a:t>
            </a:r>
            <a:r>
              <a:rPr sz="1800">
                <a:latin typeface="Consolas"/>
              </a:rPr>
              <a:t>PLANT = "rover"</a:t>
            </a:r>
            <a:r>
              <a:rPr sz="2000"/>
              <a:t> and hold the brake: it coasts rather than stopping</a:t>
            </a:r>
          </a:p>
          <a:p>
            <a:pPr/>
            <a:r>
              <a:rPr sz="2000"/>
              <a:t>Same loop, same console, same three numbers. Only </a:t>
            </a:r>
            <a:r>
              <a:rPr sz="1800">
                <a:latin typeface="Consolas"/>
              </a:rPr>
              <a:t>PLANT</a:t>
            </a:r>
            <a:r>
              <a:rPr sz="2000"/>
              <a:t> changed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Variable 3: where it happens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Mcity: driving somewhere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latin typeface="Consolas"/>
              </a:rPr>
              <a:t>SCENE = "mcity"</a:t>
            </a:r>
            <a:r>
              <a:rPr sz="2000"/>
              <a:t> swaps the 200 x 200 m patch for a real 32-acre test facility</a:t>
            </a:r>
          </a:p>
          <a:p>
            <a:pPr lvl="1"/>
            <a:r>
              <a:rPr sz="1800"/>
              <a:t>road surface driven as a collision mesh; buildings, poles, signal heads drawn from a placement manifest</a:t>
            </a:r>
          </a:p>
          <a:p>
            <a:pPr lvl="1"/>
            <a:r>
              <a:rPr sz="1600">
                <a:latin typeface="Consolas"/>
              </a:rPr>
              <a:t>MCITY_DETAIL</a:t>
            </a:r>
            <a:r>
              <a:rPr sz="1800"/>
              <a:t> = "ground" | "light" | "full" trades scenery for frame rate - start at "ground" on a laptop</a:t>
            </a:r>
          </a:p>
          <a:p>
            <a:pPr lvl="1"/>
            <a:r>
              <a:rPr sz="1800"/>
              <a:t>860 placements cost 230 meshes: one ChVisualShape, added to a body many times, each time with its own frame</a:t>
            </a:r>
          </a:p>
          <a:p>
            <a:pPr/>
            <a:r>
              <a:rPr sz="2000"/>
              <a:t>Third-party and generated, not shipped: a missing dataset falls back to flat terrain with instructions</a:t>
            </a:r>
          </a:p>
          <a:p>
            <a:pPr/>
            <a:r>
              <a:rPr sz="2000"/>
              <a:t>Two things that cost time to rediscover:</a:t>
            </a:r>
          </a:p>
          <a:p>
            <a:pPr lvl="1"/>
            <a:r>
              <a:rPr sz="1800"/>
              <a:t>Drive the DRAWN geometry: Mcity's OpenDRIVE elevation differs from the road mesh by -0.24 to +0.29 m (5th/95th pct)</a:t>
            </a:r>
          </a:p>
          <a:p>
            <a:pPr lvl="1"/>
            <a:r>
              <a:rPr sz="1800"/>
              <a:t>Read the spawn height from the mesh: </a:t>
            </a:r>
            <a:r>
              <a:rPr sz="1600">
                <a:latin typeface="Consolas"/>
              </a:rPr>
              <a:t>RigidTerrain</a:t>
            </a:r>
            <a:r>
              <a:rPr sz="1800"/>
              <a:t> raycasts a collision system that does not exist yet and answers 0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And the one thing that is not a number at all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005709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300">
                <a:solidFill>
                  <a:srgbClr val="CCCCCC"/>
                </a:solidFill>
                <a:latin typeface="Consolas"/>
              </a:rPr>
              <a:t># A ChDriver carries three numbers, and a gear is not one of them: the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# gearbox belongs to the VEHICLE, so it is reached through the vehicle.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transmission = vehicle.GetTransmission()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transmission.ShiftUp()                        # or ShiftDown(), SetGear(n)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transmission.asAutomatic().SetDriveMode(...)  # D / N / R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transmission.asAutomatic().SetShiftMode(...)  # let it shift, or row it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# On the keyboard you write none of this - vis.AttachDriver(driver) binds: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#     Z  D &lt;-&gt; R     X  neutral     T  AUTO &lt;-&gt; MANUAL     [ ]  down / up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#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# For a device Chrono has never heard of, nothing is wired up. That is the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# point of PART 4: hil_gearbox.Gearbox turns one character off the socket</a:t>
            </a:r>
          </a:p>
          <a:p>
            <a:r>
              <a:rPr sz="1300">
                <a:solidFill>
                  <a:srgbClr val="CCCCCC"/>
                </a:solidFill>
                <a:latin typeface="Consolas"/>
              </a:rPr>
              <a:t># into the calls above, and operator_console.py sends it in a 4th field.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194429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A steering value is a LEVEL: re-sent every frame, and a lost packet costs nothing</a:t>
            </a:r>
          </a:p>
          <a:p>
            <a:r>
              <a:rPr sz="1800"/>
              <a:t>A gear change is an EVENT: a lost one is a shift that never happened - sent once, on the key-down edge, applied exactly once</a:t>
            </a:r>
          </a:p>
          <a:p>
            <a:r>
              <a:rPr sz="1800"/>
              <a:t>That distinction is the last thing this tutorial has to teach, and it is not specific to gears or to Chrono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Where this goes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Chrono::HIL (github.com/zzhou292/chrono-HIL): the same three-float interface, scaled up</a:t>
            </a:r>
          </a:p>
          <a:p>
            <a:pPr lvl="1"/>
            <a:r>
              <a:rPr sz="1800"/>
              <a:t>SDL steering wheels with force feedback, cumulative real-time timer, multi-vehicle traffic</a:t>
            </a:r>
          </a:p>
          <a:p>
            <a:pPr lvl="1"/>
            <a:r>
              <a:rPr sz="1800"/>
              <a:t>ROS 2 and Unity bridges, teleoperation over the network, deformable (SCM) terrain</a:t>
            </a:r>
          </a:p>
          <a:p>
            <a:pPr/>
            <a:r>
              <a:rPr sz="2000"/>
              <a:t>Chrono::Sensor: cameras/lidar rendered from the vehicle for the operator's screen</a:t>
            </a:r>
          </a:p>
          <a:p>
            <a:pPr/>
            <a:r>
              <a:rPr sz="2000"/>
              <a:t>Chrono::Synchrono: several humans in the same world, each on their own machine</a:t>
            </a:r>
          </a:p>
          <a:p>
            <a:pPr/>
            <a:r>
              <a:rPr sz="2000"/>
              <a:t>Takeaways</a:t>
            </a:r>
          </a:p>
          <a:p>
            <a:pPr lvl="1"/>
            <a:r>
              <a:rPr sz="1800"/>
              <a:t>Real time in Chrono is soft: spin once per step, and measure the drift</a:t>
            </a:r>
          </a:p>
          <a:p>
            <a:pPr lvl="1"/>
            <a:r>
              <a:rPr sz="1800"/>
              <a:t>The human interface is three floats per step, sampled once and smoothed</a:t>
            </a:r>
          </a:p>
          <a:p>
            <a:pPr lvl="1"/>
            <a:r>
              <a:rPr sz="1800"/>
              <a:t>Never let the input device block the physics loop</a:t>
            </a:r>
          </a:p>
          <a:p>
            <a:pPr lvl="1"/>
            <a:r>
              <a:rPr sz="1800"/>
              <a:t>Levels are held, events are drained - a gear is an event</a:t>
            </a:r>
          </a:p>
          <a:p>
            <a:pPr lvl="1"/>
            <a:r>
              <a:rPr sz="1800"/>
              <a:t>Nothing in the pattern needs a vehicle: swap the plant, keep the loop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Any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Thank you.</a:t>
            </a:r>
          </a:p>
          <a:p>
            <a:r>
              <a:rPr sz="2000"/>
              <a:t>kasha2@wisc.edu</a:t>
            </a:r>
          </a:p>
          <a:p>
            <a:r>
              <a:rPr sz="2000"/>
              <a:t>Simulation-Based Engineering Lab</a:t>
            </a:r>
          </a:p>
          <a:p>
            <a:r>
              <a:rPr sz="2000"/>
              <a:t>University of Wisconsin - Madison</a:t>
            </a:r>
          </a:p>
          <a:p/>
          <a:p>
            <a:r>
              <a:rPr sz="2000"/>
              <a:t>Lab website: http://sbel.wisc.edu</a:t>
            </a:r>
          </a:p>
          <a:p>
            <a:r>
              <a:rPr sz="2000"/>
              <a:t>Chrono website: http://www.projectchrono.org</a:t>
            </a:r>
          </a:p>
          <a:p>
            <a:r>
              <a:rPr sz="2000"/>
              <a:t>Source code: https://github.com/projectchrono</a:t>
            </a:r>
          </a:p>
          <a:p>
            <a:r>
              <a:rPr sz="2000"/>
              <a:t>Tutorial code + slides: https://github.com/ksha23/chrono-hil-tutorial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ScaleCrop>false</ScaleCrop>
  <Company>Simulation-Based Engineering Lab, University of Wisconsin-Madison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 HIL tutorial - recut C: one loop, three variables</dc:title>
  <dc:creator>Kyle Sha</dc:creator>
  <cp:lastModifiedBy>Kyle Sha</cp:lastModifiedBy>
  <cp:revision>1</cp:revision>
  <dcterms:created xsi:type="dcterms:W3CDTF">2026-09-05T00:00:00Z</dcterms:created>
  <dcterms:modified xsi:type="dcterms:W3CDTF">2026-09-05T00:00:00Z</dcterms:modified>
</cp:coreProperties>
</file>