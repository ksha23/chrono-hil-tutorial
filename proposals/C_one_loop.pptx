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t>Speaker: Kyle Sha</a:t>
            </a:r>
          </a:p>
          <a:p>
            <a:r>
              <a:t>(Simulation-Based Engineering Lab)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One loop, three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 human-in-the-loop simulation in this tutorial is the same loop:</a:t>
            </a:r>
          </a:p>
          <a:p>
            <a:pPr lvl="1"/>
            <a:r>
              <a:rPr sz="1800"/>
              <a:t>read three numbers from the human -&gt; push them into a model -&gt; step it -&gt; wait for real time -&gt; send some numbers back</a:t>
            </a:r>
          </a:p>
          <a:p>
            <a:pPr/>
            <a:r>
              <a:rPr sz="2000"/>
              <a:t>What changes from part to part is not the loop. It is three variables around it:</a:t>
            </a:r>
          </a:p>
          <a:p>
            <a:pPr lvl="1"/>
            <a:r>
              <a:rPr sz="1800"/>
              <a:t>WHERE THE NUMBERS COME FROM - a keyboard, a wheel, a socket, another machine</a:t>
            </a:r>
          </a:p>
          <a:p>
            <a:pPr lvl="1"/>
            <a:r>
              <a:rPr sz="1800"/>
              <a:t>WHAT THEY DRIVE - a Chrono::Vehicle, a Viper rover, a gantry crane with a swinging load</a:t>
            </a:r>
          </a:p>
          <a:p>
            <a:pPr lvl="1"/>
            <a:r>
              <a:rPr sz="1800"/>
              <a:t>WHERE IT HAPPENS - a 200 x 200 m patch, or the Mcity digital twin</a:t>
            </a:r>
          </a:p>
          <a:p>
            <a:pPr/>
            <a:r>
              <a:rPr sz="2000"/>
              <a:t>The invariant is worth more than any of the variables, so we start there and then change one thing at a time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This is a walkthrough - nothing to install right now; everything runs on my machine</a:t>
            </a:r>
          </a:p>
          <a:p>
            <a:pPr/>
            <a:r>
              <a:rPr sz="2000"/>
              <a:t>Code, slides and a written walkthrough: github.com/ksha23/chrono-hil-tutorial</a:t>
            </a:r>
          </a:p>
          <a:p>
            <a:pPr/>
            <a:r>
              <a:rPr sz="2000"/>
              <a:t>To run it yourself afterward:</a:t>
            </a:r>
          </a:p>
          <a:p>
            <a:pPr lvl="1"/>
            <a:r>
              <a:rPr sz="16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6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 - drive it with the arrow keys</a:t>
            </a:r>
          </a:p>
          <a:p>
            <a:pPr/>
            <a:r>
              <a:rPr sz="2000"/>
              <a:t>All switches are in the </a:t>
            </a:r>
            <a:r>
              <a:rPr sz="1800">
                <a:latin typeface="Consolas"/>
              </a:rPr>
              <a:t>CONFIGURATION</a:t>
            </a:r>
            <a:r>
              <a:rPr sz="2000"/>
              <a:t> section at the bottom of </a:t>
            </a:r>
            <a:r>
              <a:rPr sz="1800">
                <a:latin typeface="Consolas"/>
              </a:rPr>
              <a:t>tutorial_HIL_driver.py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invariant: one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The loop, and where the driver is queried (Lines 674 to 725)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539424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follow_camera()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4 samples the device here; PART 6 applies any gear command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...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Get driver inputs (three floats) - the whole human-in-the-loop contract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8: hand the three numbers to whatever is being controlled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plant.apply(driver_inputs)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plant.advance(step_size)          # spins here if REALTIME == "vehicle"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system.DoStepDynamics(step_size)  # only for a plant that does not step itself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728144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Synchronize: every module reads what it needs from the others at time t. Advance: every module integrates t to t + step</a:t>
            </a:r>
          </a:p>
          <a:p>
            <a:r>
              <a:rPr sz="1600"/>
              <a:t>Nothing below </a:t>
            </a:r>
            <a:r>
              <a:rPr sz="1400">
                <a:latin typeface="Consolas"/>
              </a:rPr>
              <a:t>while vis.Run():</a:t>
            </a:r>
            <a:r>
              <a:rPr sz="1600"/>
              <a:t> branches on which part of the tutorial you are on. That is the point of this slide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Chrono actually requires of a human interface (Lines 151 to 178)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7330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class DriverInputs: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"""The whole ChDriver contract, in Python."""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SetSteering(self,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SetThrottle(self,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SetBraking(self,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GetInputs(self):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return self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921758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Three floats per step: steering [-1, 1], throttle [0, 1], braking [0, 1]</a:t>
            </a:r>
          </a:p>
          <a:p>
            <a:r>
              <a:rPr sz="1600">
                <a:latin typeface="Consolas"/>
              </a:rPr>
              <a:t>veh.ChDriver</a:t>
            </a:r>
            <a:r>
              <a:rPr sz="1800"/>
              <a:t> is the same container in C++; this Python stand-in is what the rover and the crane use</a:t>
            </a:r>
          </a:p>
          <a:p>
            <a:r>
              <a:rPr sz="1800"/>
              <a:t>That is the entire contract. Everything else in this talk is about filling it in, on time, from somewhere real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Enforce real time, and measure the drift (Lines 631 to 645, 727 to 743)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13220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realtime_mode = REALTIME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vehicle.EnableRealtime(True)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PART 8: there is no vehicle to do the spinning, so fall back to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the timer that does the same thing from outside.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realtime_mode 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once per simulated second, the report that tells you if it worked: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...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print(f"{sim_time:7.2f} {wall:7.2f} {wall - sim_time:+7.3f} {rtf:6.2f}"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32092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"vehicle" spins inside </a:t>
            </a:r>
            <a:r>
              <a:rPr sz="1400">
                <a:latin typeface="Consolas"/>
              </a:rPr>
              <a:t>vehicle.Advance()</a:t>
            </a:r>
            <a:r>
              <a:rPr sz="1600"/>
              <a:t>; "per_step" is the same timer called explicitly; "cumulative" compares totals</a:t>
            </a:r>
          </a:p>
          <a:p>
            <a:r>
              <a:rPr sz="1600"/>
              <a:t>A plant with no ChVehicle has nothing to spin for it and no </a:t>
            </a:r>
            <a:r>
              <a:rPr sz="1400">
                <a:latin typeface="Consolas"/>
              </a:rPr>
              <a:t>GetRTF()</a:t>
            </a:r>
            <a:r>
              <a:rPr sz="1600"/>
              <a:t>, so both fall back to doing it from outside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Variable 1: where the numbers come from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The keyboard, which Chrono reads for you (Lines 535 to 546, 589 to 592)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7330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... and then, when the Irrlicht window is built: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plant.attach(vis)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921758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latin typeface="Consolas"/>
              </a:rPr>
              <a:t>AttachDriver</a:t>
            </a:r>
            <a:r>
              <a:rPr sz="1800"/>
              <a:t> forwards the window's key events - and binds Chrono's gear keys </a:t>
            </a:r>
            <a:r>
              <a:rPr sz="1600">
                <a:latin typeface="Consolas"/>
              </a:rPr>
              <a:t>Z X T [ ]</a:t>
            </a:r>
            <a:r>
              <a:rPr sz="1800"/>
              <a:t> for free</a:t>
            </a:r>
          </a:p>
          <a:p>
            <a:r>
              <a:rPr sz="1800"/>
              <a:t>A gamepad or wheel is the same class and one more call: </a:t>
            </a:r>
            <a:r>
              <a:rPr sz="1600">
                <a:latin typeface="Consolas"/>
              </a:rPr>
              <a:t>SetInputMode(JOYSTICK)</a:t>
            </a:r>
            <a:r>
              <a:rPr sz="1800"/>
              <a:t>, with presets that ship with Chrono</a:t>
            </a:r>
          </a:p>
          <a:p>
            <a:r>
              <a:rPr sz="1800"/>
              <a:t>For anything else, nothing is wired up for you - which is the next three slides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Two processes, one UDP contract</a:t>
            </a:r>
          </a:p>
        </p:txBody>
      </p:sp>
      <p:sp>
        <p:nvSpPr>
          <p:cNvPr id="3" name="NoteBox"/>
          <p:cNvSpPr txBox="1"/>
          <p:nvPr/>
        </p:nvSpPr>
        <p:spPr>
          <a:xfrm>
            <a:off x="402336" y="5248656"/>
            <a:ext cx="11393424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Both directions are plain UDP datagrams - two processes, possibly two machines, no shared memory. The return arrow only fires when SEND_FEEDBACK = True.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Operator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operator_console.py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9632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Simulation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tutorial_HIL_driver.py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1768" y="19476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→ steering, throttle, braking, gear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1768" y="4151376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speed, RTF, lateral accel, gear ←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UDP input source (Lines 219 to 269)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978408"/>
            <a:ext cx="12191969" cy="482403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'steering,throttle,braking[,gear]'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Non-blocking: the physics loop never waits.  No packet since the last step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means the previous target is held (zero-order hold)."""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self.gear_commands = []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queued and keep only the newest packet.  Gear commands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are the exception: they accumulate, because dropping one loses a shift.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fields = data.decode().split(",")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&lt; 3: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fields[:3])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&gt; 3 and fields[3] and fields[3] != "-":   # PART 6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self.gear_commands.append(fields[3][0])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39599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Non-blocking socket, drained every step: the newest packet wins, and an empty queue holds the last value</a:t>
            </a:r>
          </a:p>
          <a:p>
            <a:r>
              <a:rPr sz="1600"/>
              <a:t>The operator can be anywhere on the network, and the console has no Chrono dependency at all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Sample once, hold, then send state back (Lines 684 to 696, 745 to 755)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39712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6: gear commands are events, not levels, so they are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once each rather than held like the three numbers above.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gearbox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for command in device.take_gear_commands():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gearbox.command_char(command)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human-in-the-loop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at the end of the same step: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feedback to the operator (speed, RTF, lateral acceleration,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inputs, and since PART 6 the gear)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acc = (vehicle.GetPointAcceleration(chrono.ChVector3d(0, 0, 0)).y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if vehicle else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rtf = vehicle.GetRTF() if vehicle else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gear = gearbox.describe() if gearbox else plant.status() or "--"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device.send_feedback(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f"{sim_time:.3f},{plant.speed():.3f},{rtf:.3f},{acc:.3f},"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f"{driver_inputs.m_steering:.3f},{driver_inputs.m_throttle:.3f},"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f"{driver_inputs.m_braking:.3f},{gear}")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8584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poll -&gt; smooth -&gt; write, then </a:t>
            </a:r>
            <a:r>
              <a:rPr sz="1400">
                <a:latin typeface="Consolas"/>
              </a:rPr>
              <a:t>GetInputs()</a:t>
            </a:r>
            <a:r>
              <a:rPr sz="1600"/>
              <a:t> as before; the physics loop never waits on the device</a:t>
            </a:r>
          </a:p>
          <a:p>
            <a:r>
              <a:rPr sz="1600"/>
              <a:t>Feedback goes back at render rate (50 Hz), not every physics step - the human cannot use 333 Hz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Two terminals on one laptop over localhost - or two machines over the network, same code either way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Variable 2: what the numbers drive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PLANT: a car, a rover, a crane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PLANT</a:t>
            </a:r>
            <a:r>
              <a:rPr sz="2000"/>
              <a:t> switches what the same three numbers, from the same devices, are wired into</a:t>
            </a:r>
          </a:p>
          <a:p>
            <a:pPr lvl="1"/>
            <a:r>
              <a:rPr sz="1600">
                <a:latin typeface="Consolas"/>
              </a:rPr>
              <a:t>"vehicle"</a:t>
            </a:r>
            <a:r>
              <a:rPr sz="1800"/>
              <a:t> a Chrono::Vehicle - steering, throttle, braking, as usual</a:t>
            </a:r>
          </a:p>
          <a:p>
            <a:pPr lvl="1"/>
            <a:r>
              <a:rPr sz="1600">
                <a:latin typeface="Consolas"/>
              </a:rPr>
              <a:t>"rover"</a:t>
            </a:r>
            <a:r>
              <a:rPr sz="1800"/>
              <a:t> a Viper rover - steering becomes a wheel angle in radians, throttle a commanded wheel speed</a:t>
            </a:r>
          </a:p>
          <a:p>
            <a:pPr lvl="1"/>
            <a:r>
              <a:rPr sz="1600">
                <a:latin typeface="Consolas"/>
              </a:rPr>
              <a:t>"crane"</a:t>
            </a:r>
            <a:r>
              <a:rPr sz="1800"/>
              <a:t> a gantry crane - steering becomes cross-travel, throttle and braking forward/reverse travel</a:t>
            </a:r>
          </a:p>
          <a:p>
            <a:pPr/>
            <a:r>
              <a:rPr sz="2000"/>
              <a:t>The rover shows what "the same three numbers" really costs: braking has no meaning there</a:t>
            </a:r>
          </a:p>
          <a:p>
            <a:pPr lvl="1"/>
            <a:r>
              <a:rPr sz="1600">
                <a:latin typeface="Consolas"/>
              </a:rPr>
              <a:t>ViperDriver</a:t>
            </a:r>
            <a:r>
              <a:rPr sz="1800"/>
              <a:t> has no brake input, so holding the brake releases the drive and it coasts. Real limits show up like this</a:t>
            </a:r>
          </a:p>
          <a:p>
            <a:pPr/>
            <a:r>
              <a:rPr sz="2000"/>
              <a:t>Neither has a </a:t>
            </a:r>
            <a:r>
              <a:rPr sz="1800">
                <a:latin typeface="Consolas"/>
              </a:rPr>
              <a:t>ChVehicle</a:t>
            </a:r>
            <a:r>
              <a:rPr sz="2000"/>
              <a:t>, so </a:t>
            </a:r>
            <a:r>
              <a:rPr sz="1800">
                <a:latin typeface="Consolas"/>
              </a:rPr>
              <a:t>ChInteractiveDriver</a:t>
            </a:r>
            <a:r>
              <a:rPr sz="2000"/>
              <a:t> cannot read the keyboard for them - they take UDP, console unchanged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The crane: no Chrono::Vehicle at all (hil_plants.py 319 to 324)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1456182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def apply(self, inputs):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t = self.system.GetChTime()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 Throttle drives forward, braking drives back: two pedals, one axis.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long_cmd = (inputs.m_throttle - inputs.m_braking) * self.MAX_LONG_SPEED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self.long_speed.SetSetpoint(long_cmd, t)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self.cross_speed.SetSetpoint(inputs.m_steering * self.MAX_CROSS_SPEED, t)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2644902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Four rigid bodies, two speed motors and a distance constraint - and that </a:t>
            </a:r>
            <a:r>
              <a:rPr sz="1600">
                <a:latin typeface="Consolas"/>
              </a:rPr>
              <a:t>apply()</a:t>
            </a:r>
            <a:r>
              <a:rPr sz="1800"/>
              <a:t> is the whole interface to it</a:t>
            </a:r>
          </a:p>
          <a:p>
            <a:r>
              <a:rPr sz="1800"/>
              <a:t>The payload swings, with nothing to damp it but the operator, and the console prints the swing angle and the miss distance</a:t>
            </a:r>
          </a:p>
          <a:p>
            <a:r>
              <a:rPr sz="1800"/>
              <a:t>Placing it without a swing is a genuinely hard manual task, which is the clearest answer to why a human goes in the loop at all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PLANT = "crane"</a:t>
            </a:r>
            <a:r>
              <a:rPr sz="2000"/>
              <a:t> over </a:t>
            </a:r>
            <a:r>
              <a:rPr sz="1800">
                <a:latin typeface="Consolas"/>
              </a:rPr>
              <a:t>udp</a:t>
            </a:r>
            <a:r>
              <a:rPr sz="2000"/>
              <a:t>: put the load on the green pad with the swing under 2 degrees</a:t>
            </a:r>
          </a:p>
          <a:p>
            <a:pPr/>
            <a:r>
              <a:rPr sz="2000"/>
              <a:t>Then </a:t>
            </a:r>
            <a:r>
              <a:rPr sz="1800">
                <a:latin typeface="Consolas"/>
              </a:rPr>
              <a:t>PLANT = "rover"</a:t>
            </a:r>
            <a:r>
              <a:rPr sz="2000"/>
              <a:t> and hold the brake: it coasts rather than stopping</a:t>
            </a:r>
          </a:p>
          <a:p>
            <a:pPr/>
            <a:r>
              <a:rPr sz="2000"/>
              <a:t>Same loop, same console, same three numbers. Only </a:t>
            </a:r>
            <a:r>
              <a:rPr sz="1800">
                <a:latin typeface="Consolas"/>
              </a:rPr>
              <a:t>PLANT</a:t>
            </a:r>
            <a:r>
              <a:rPr sz="2000"/>
              <a:t> changed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Variable 3: where it happens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Mcity: driving somewhere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SCENE = "mcity"</a:t>
            </a:r>
            <a:r>
              <a:rPr sz="2000"/>
              <a:t> swaps the 200 x 200 m patch for a real 32-acre test facility</a:t>
            </a:r>
          </a:p>
          <a:p>
            <a:pPr lvl="1"/>
            <a:r>
              <a:rPr sz="1800"/>
              <a:t>road surface driven as a collision mesh; buildings, poles, signal heads drawn from a placement manifest</a:t>
            </a:r>
          </a:p>
          <a:p>
            <a:pPr lvl="1"/>
            <a:r>
              <a:rPr sz="1600">
                <a:latin typeface="Consolas"/>
              </a:rPr>
              <a:t>MCITY_DETAIL</a:t>
            </a:r>
            <a:r>
              <a:rPr sz="1800"/>
              <a:t> = "ground" | "light" | "full" trades scenery for frame rate - start at "ground" on a laptop</a:t>
            </a:r>
          </a:p>
          <a:p>
            <a:pPr lvl="1"/>
            <a:r>
              <a:rPr sz="1800"/>
              <a:t>860 placements cost 230 meshes: one ChVisualShape, added to a body many times, each time with its own frame</a:t>
            </a:r>
          </a:p>
          <a:p>
            <a:pPr/>
            <a:r>
              <a:rPr sz="2000"/>
              <a:t>Third-party and generated, not shipped: a missing dataset falls back to flat terrain with instructions</a:t>
            </a:r>
          </a:p>
          <a:p>
            <a:pPr/>
            <a:r>
              <a:rPr sz="2000"/>
              <a:t>Two things that cost time to rediscover:</a:t>
            </a:r>
          </a:p>
          <a:p>
            <a:pPr lvl="1"/>
            <a:r>
              <a:rPr sz="1800"/>
              <a:t>Drive the DRAWN geometry: Mcity's OpenDRIVE elevation differs from the road mesh by -0.24 to +0.29 m (5th/95th pct)</a:t>
            </a:r>
          </a:p>
          <a:p>
            <a:pPr lvl="1"/>
            <a:r>
              <a:rPr sz="1800"/>
              <a:t>Read the spawn height from the mesh: </a:t>
            </a:r>
            <a:r>
              <a:rPr sz="1600">
                <a:latin typeface="Consolas"/>
              </a:rPr>
              <a:t>RigidTerrain</a:t>
            </a:r>
            <a:r>
              <a:rPr sz="1800"/>
              <a:t> raycasts a collision system that does not exist yet and answers 0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And the one thing that is not a number at all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005709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# A ChDriver carries three numbers, and a gear is not one of them: the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gearbox belongs to the VEHICLE, so it is reached through the vehicle.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 = vehicle.GetTransmission()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transmission.ShiftUp()                        # or ShiftDown(), SetGear(n)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transmission.asAutomatic().SetDriveMode(...)  # D / N / 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transmission.asAutomatic().SetShiftMode(...)  # let it shift, or row it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On the keyboard you write none of this - vis.AttachDriver(driver) binds: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    Z  D &lt;-&gt; R     X  neutral     T  AUTO &lt;-&gt; MANUAL     [ ]  down /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For a device Chrono has never heard of, nothing is wired up. That is the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point of PART 4: hil_gearbox.Gearbox turns one character off the socket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into the calls above, and operator_console.py sends it in a 4th field.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194429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A steering value is a LEVEL: re-sent every frame, and a lost packet costs nothing</a:t>
            </a:r>
          </a:p>
          <a:p>
            <a:r>
              <a:rPr sz="1800"/>
              <a:t>A gear change is an EVENT: a lost one is a shift that never happened - sent once, on the key-down edge, applied exactly once</a:t>
            </a:r>
          </a:p>
          <a:p>
            <a:r>
              <a:rPr sz="1800"/>
              <a:t>That distinction is the last thing this tutorial has to teach, and it is not specific to gears or to Chrono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  <a:p>
            <a:pPr lvl="1"/>
            <a:r>
              <a:rPr sz="1800"/>
              <a:t>Levels are held, events are drained - a gear is an event</a:t>
            </a:r>
          </a:p>
          <a:p>
            <a:pPr lvl="1"/>
            <a:r>
              <a:rPr sz="1800"/>
              <a:t>Nothing in the pattern needs a vehicle: swap the plant, keep the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Thank you.</a:t>
            </a:r>
          </a:p>
          <a:p>
            <a:r>
              <a:rPr sz="2000"/>
              <a:t>kasha2@wisc.edu</a:t>
            </a:r>
          </a:p>
          <a:p>
            <a:r>
              <a:rPr sz="2000"/>
              <a:t>Simulation-Based Engineering Lab</a:t>
            </a:r>
          </a:p>
          <a:p>
            <a:r>
              <a:rPr sz="2000"/>
              <a:t>University of Wisconsin - Madison</a:t>
            </a:r>
          </a:p>
          <a:p/>
          <a:p>
            <a:r>
              <a:rPr sz="2000"/>
              <a:t>Lab website: http://sbel.wisc.edu</a:t>
            </a:r>
          </a:p>
          <a:p>
            <a:r>
              <a:rPr sz="2000"/>
              <a:t>Chrono website: http://www.projectchrono.org</a:t>
            </a:r>
          </a:p>
          <a:p>
            <a:r>
              <a:rPr sz="2000"/>
              <a:t>Source code: https://github.com/projectchrono</a:t>
            </a:r>
          </a:p>
          <a:p>
            <a:r>
              <a:rPr sz="2000"/>
              <a:t>Tutorial code + slides: https://github.com/ksha23/chrono-hil-tutorial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25</Slides>
  <ScaleCrop>false</ScaleCrop>
  <Company>Simulation-Based Engineering Lab, University of Wisconsin-Madison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 HIL tutorial - recut C: one loop, three variables</dc:title>
  <dc:creator>Kyle Sha</dc:creator>
  <cp:lastModifiedBy>Kyle Sha</cp:lastModifiedBy>
  <cp:revision>1</cp:revision>
  <dcterms:created xsi:type="dcterms:W3CDTF">2026-09-05T00:00:00Z</dcterms:created>
  <dcterms:modified xsi:type="dcterms:W3CDTF">2026-09-05T00:00:00Z</dcterms:modified>
</cp:coreProperties>
</file>